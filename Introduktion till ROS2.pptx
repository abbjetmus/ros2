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6256000" cy="9144000"/>
  <p:notesSz cx="9144000" cy="16256000"/>
  <p:embeddedFontLst>
    <p:embeddedFont>
      <p:font typeface="Liter" panose="020B0604020202020204" charset="0"/>
      <p:regular r:id="rId25"/>
    </p:embeddedFont>
    <p:embeddedFont>
      <p:font typeface="Quattrocento Sans" panose="020B0502050000020003"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8143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814388"/>
          </a:xfrm>
          <a:prstGeom prst="rect">
            <a:avLst/>
          </a:prstGeom>
        </p:spPr>
        <p:txBody>
          <a:bodyPr vert="horz" lIns="91440" tIns="45720" rIns="91440" bIns="45720" rtlCol="0"/>
          <a:lstStyle>
            <a:lvl1pPr algn="r">
              <a:defRPr sz="1200"/>
            </a:lvl1pPr>
          </a:lstStyle>
          <a:p>
            <a:fld id="{FE1DF830-96B3-4DE2-93EF-F7EC277EEDEC}" type="datetimeFigureOut">
              <a:t>2026-05-07</a:t>
            </a:fld>
            <a:endParaRPr lang="en-US"/>
          </a:p>
        </p:txBody>
      </p:sp>
      <p:sp>
        <p:nvSpPr>
          <p:cNvPr id="4" name="Slide Image Placeholder 3"/>
          <p:cNvSpPr>
            <a:spLocks noGrp="1" noRot="1" noChangeAspect="1"/>
          </p:cNvSpPr>
          <p:nvPr>
            <p:ph type="sldImg" idx="2"/>
          </p:nvPr>
        </p:nvSpPr>
        <p:spPr>
          <a:xfrm>
            <a:off x="-304800" y="2032000"/>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7823200"/>
            <a:ext cx="7315200" cy="6400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5441613"/>
            <a:ext cx="3962400" cy="8143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15441613"/>
            <a:ext cx="3962400" cy="814387"/>
          </a:xfrm>
          <a:prstGeom prst="rect">
            <a:avLst/>
          </a:prstGeom>
        </p:spPr>
        <p:txBody>
          <a:bodyPr vert="horz" lIns="91440" tIns="45720" rIns="91440" bIns="45720" rtlCol="0" anchor="b"/>
          <a:lstStyle>
            <a:lvl1pPr algn="r">
              <a:defRPr sz="1200"/>
            </a:lvl1pPr>
          </a:lstStyle>
          <a:p>
            <a:fld id="{22D4C435-E900-4C8C-BFF5-27CE706487E8}" type="slidenum">
              <a:t>‹#›</a:t>
            </a:fld>
            <a:endParaRPr lang="en-US"/>
          </a:p>
        </p:txBody>
      </p:sp>
    </p:spTree>
    <p:extLst>
      <p:ext uri="{BB962C8B-B14F-4D97-AF65-F5344CB8AC3E}">
        <p14:creationId xmlns:p14="http://schemas.microsoft.com/office/powerpoint/2010/main" val="269091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till denna introduktion till ROS2! Idag ska vi lära oss grunden till moderna robotsystem. ROS2 är ett ramverk som används över hela världen inom robotik — från forskningslabb till industriella tillämpningar. Innan vi börjar, tänk på att robotik handlar om att få maskiner att samarbeta med sin omgivning. ROS2 är verktyget som gör det möjligt.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Idag ska vi börja en spännande resa in i robotikens värld. ROS2 är ett av de viktigaste verktygen inom modern robotik. Tänk er en självkörande bil — den har kameror, sensorer, AI som fattar beslut, och motorer som styr bilen. Alla dessa delar måste prata med varandra hela tiden. ROS2 är som en "översättare" och "trafikpolis" som ser till att alla delar förstår varandra och samarbetar smidigt.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Innan vi dyker in i ROS2, låt oss tänka på vad en robot egentligen är. En robot är inte bara en maskin som rör sig — det är ett system som kan uppfatta sin omgivning, bearbeta information och agera utifrån det. Precis som människor! Vi har sinnen (sensorer), vi tänker (bearbetning), och vi gör saker (handlingar). Detta enkla flöde — Sensorer → Beslut → Rörelse — är grunden för all robotik.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kommer en viktig insikt: en riktig robot är INTE ett enda stort program. Tänk på en självkörande bil — den har ett program för kameran, ett annat för motorstyrning, ett tredje för sensorer, och så vidare. Om allt var ett enda program skulle det bli enormt, svårt att underhålla, och om en del kraschade kraschar hela systemet. Därför delar vi upp roboten i många mindre, specialiserade program.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kommer kärnfrågan: hur får vi alla delar i roboten att kommunicera på ett strukturerat sätt? Utan ett ramverk skulle varje programmerare behöva uppfinna sitt eget sätt att skicka data mellan program. Det skulle bli kaos — olika format, svårt att felsöka, och om någon byter ut en del kanske inget fungerar längre. ROS2 löser detta genom att erbjuda ett standardiserat sätt för program att hitta varandra och prata med varandra.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ska vi definiera vad ROS2 faktiskt är. ROS2 står för Robot Operating System 2. Men det är viktigt att förstå — ROS2 är INTE ett operativsystem som Windows eller Ubuntu. Det är ett ramverk, en samling verktyg och bibliotek som hjälper program i ett robotsystem att kommunicera med varandra. Man kan säga att ROS2 är som ett "socialt nätverk" för robotens program — det hjälper dem att hitta varandra, skicka meddelanden och samarbeta.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 att förstå ROS2 bättre, låt oss använda en analogi med människokroppen. Hjärnan fattar beslut — den är som robotens AI eller navigering. Nerverna skickar signaler — de är som ROS2 som transporterar data. Muskler utför rörelser — de är som robotens motorer eller simulator. Denna analogi hjälper eleverna att förstå varför vi behöver ett kommunikationssystem mellan robotens olika delar. Utan nerver skulle hjärnans beslut aldrig nå musklerna!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kommer vi till ett av de viktigaste begreppen i ROS2: noden (node). En node är helt enkelt ett program i ROS2. Tänk på det som en enskild arbetare i en fabrik — varje arbetare har en specifik uppgift. På samma sätt har varje node en specifik funktion i robotsystemet. camera_node hanterar kameran, lidar_node hanterar lasersensorer, navigation_node tar hand om navigering, och så vidare. Varje node är ett separat program som kan startas, stoppas och utvecklas oberoende av de andra.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ser vi ett konkret exempel på hur ett ROS2-system kan se ut. Kameran (camera_node) skickar bilder till object_detection_node som identifierar objekt. Den informationen går vidare till navigation_node som planerar vägen. Samtidigt skickar lidar_node (lasersensor) avståndsinformation direkt till navigation_node. Till sist skickar navigation_node styrkommandon till motor_control_node som driver roboten framåt. Notera hur data flödar från vänster till höger — från sensorer till handling.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ska vi lära oss om topics — en av de viktigaste byggstenarna i ROS2. Ett topic är en kanal där noder skickar data. Analogin med en radiokanal är väldigt träffande: tänk er att ni har en radiodiskussion om vädret. Den som pratar är en "publisher" — de skickar ut information på kanalen. De som lyssnar är "subscribers" — de tar emot informationen. I ROS2 kan många noder publicera på samma topic, och många noder kan prenumerera på samma topic. Det är ett till-många-till-många-system.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ska vi förstå de två rollerna i ROS2-kommunikation: publisher och subscriber. En publisher skickar data till ett topic — det är som en radiostation som sänder. En subscriber tar emot data från ett topic — det är som en radio som är inställd på en viss kanal. I vårt turtlesim-exempel: tangentbordsstyrningen (teleop_turtle) är en publisher som skickar hastighetskommandon på topic /turtle1/cmd_vel. Turtlesim är en subscriber som lyssnar på detta topic och flyttar sköldpaddan därefter.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När noder skickar data via topics, måste datan ha ett specifikt format — det kallas ett message. Ett message är som ett formulär med fördefinierade fält. På topic /turtle1/cmd_vel skickas ett message av typen Twist som innehåller hastighet framåt (linear.x) och rotationshastighet (angular.z). Detta säkerställer att alla noder förstår datan på samma sätt. Om en node skickar data i fel format kommer mottagaren inte att förstå den.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ska vi förstå skillnaden mellan topics och services. Topics används för kontinuerlig data — som en radio som sänder hela tiden. Services används för fråga-svar-kommunikation — som att beställa mat på en restaurang. Du frågar ("Kan jag få en pizza?") och får ett svar ("Ja, här är den!"). I ROS2 används services för engångshändelser som att skapa en ny sköldpadda, rensa skärmen eller ändra bakgrundsfärg. Tänk på det så här: topics = ström av data, services = enskilda förfrågningar.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Launch-filer är ett kraftfullt verktyg i ROS2. Istället för att starta varje node manuellt i ett separat terminalfönster — vilket snabbt blir opraktiskt när man har många noder — kan vi skriva en launch-fil som startar alla noder på en gång. Det är som ett skript som säger "starta turtlesim, starta tangentbordsstyrning, starta kameran" allt på en gång. I början av kursen startar vi noder manuellt för att förstå vad som händer. Senare kommer vi att använda launch-filer för att starta hela robotsystem.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Turtlesim är en simulator som följer med ROS2. Den visar en enkel sköldpadda på skärmen som ni kan styra med tangentbordet. Det är vårt "laboratorium" där vi kan experimentera med ROS2-koncept utan att behöva en fysisk robot. Sköldpaddan kan röra sig framåt, bakåt, och rotera. Allt detta görs genom ROS2-kommandon. Turtlesim är perfekt för att lära sig eftersom resultatet syns direkt på skärmen.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Varför börjar vi med turtlesim och inte en riktig robot? Därför att turtlesim ger oss alla fördelar utan komplexiteten. Det är enkelt att starta — bara ett kommando. Det är visuellt — vi ser direkt vad som händer. Det kräver ingen hårdvara — ingen risk att något går sönder. Och viktigast av allt: samma principer vi lär oss med turtlesim gäller för alla ROS2-robotar, oavsett om det är en liten robotvaccuum eller en industriell robotarm.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ska vi titta på hur turtlesim fungerar som ett ROS2-system. Det finns två viktiga topics: /turtle1/cmd_vel är där tangentbordsstyrningen skickar hastighetskommandon till sköldpaddan. /turtle1/pose är där turtlesim skickar sköldpaddans aktuella position. Så data flödar i båda riktningarna — kommandon går in till sköldpaddan, och positionsinformation kommer ut. Detta är exakt samma mönster som i riktiga robotar: kommandon till motorer, sensorinformation tillbaka.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är en viktig översikt över vår utvecklingsmiljö. Ni sitter på Windows-datorer, men ROS2 körs i Ubuntu Linux via något som heter WSL — Windows Subsystem for Linux. Det är som att ha en Linux-dator inuti er Windows-dator. VS Code är vår kodeditor. Den viktigaste regeln: all ROS2-kod ska ligga i WSL/Linux-filsystemet, INTE i Windows Dokument-mapp. Om ni lägger koden i Windows-mappen kommer det att skapa problem med filsökvägar och rättigheter.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kommer vi till er första labb! Detta är vad ni ska göra: Först öppnar ni Ubuntu/WSL. Sedan kontrollerar ni att ROS2 är installerat. Därefter startar ni turtlesim i ett terminalfönster. I ett annat terminalfönster startar ni tangentbordsstyrningen. Nu kan ni styra sköldpaddan med piltangenterna! Efter det ska ni lista alla noder med kommandot ros2 node list och undersöka information om varje node. Målet är att ni ska se att systemet består av flera noder som samarbetar.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Här är de viktigaste kommandona ni behöver kunna till labben. Skriv upp dem eller ha denna slide tillgänglig under labbet. ros2 --version visar vilken ROS2-version ni har. ros2 run turtlesim turtlesim_node startar simulatorn. ros2 run turtlesim turtle_teleop_key startar tangentbordsstyrningen. ros2 node list listar alla aktiva noder. ros2 node info /turtlesim visar detaljerad information om en specifik node, inklusive vilka topics den prenumererar på och publicerar till.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Låt oss sammanfatta det viktigaste från denna lektion. ROS2 är ett ramverk för kommunikation i robotsystem. En node är ett program som gör en specifik sak. Ett topic är en kanal där noder skickar data till varandra. Ett message är det format data har när den skickas. Publisher skickar data, subscriber tar emot data. Turtlesim är vårt första enkla robotsystem där vi kan se alla dessa koncept i praktiken. Om ni kommer ihåg dessa sju punkter har ni en solid grund att bygga vidare på!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Tack för att ni lyssnade! Nu vill jag att ni funderar över dessa frågor. Diskutera med den som sitter bredvid er. Varför delas robotar upp i flera program? Vad skulle kunna vara en node i en självkörande bil? Vad händer om kommunikationen mellan noder slutar fungera — som om nerverna i kroppen slutade fungera? Och hur liknar turtlesim egentligen en riktig robot? Dessa frågor hjälper er att koppla teori till praktik.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rgbClr val="0F2B46"/>
            </a:gs>
            <a:gs pos="100000">
              <a:srgbClr val="0A1E32"/>
            </a:gs>
          </a:gsLst>
          <a:lin ang="8100000" scaled="1"/>
        </a:gradFill>
        <a:effectLst/>
      </p:bgPr>
    </p:bg>
    <p:spTree>
      <p:nvGrpSpPr>
        <p:cNvPr id="1" name=""/>
        <p:cNvGrpSpPr/>
        <p:nvPr/>
      </p:nvGrpSpPr>
      <p:grpSpPr>
        <a:xfrm>
          <a:off x="0" y="0"/>
          <a:ext cx="0" cy="0"/>
          <a:chOff x="0" y="0"/>
          <a:chExt cx="0" cy="0"/>
        </a:xfrm>
      </p:grpSpPr>
      <p:sp>
        <p:nvSpPr>
          <p:cNvPr id="3" name="Shape 0"/>
          <p:cNvSpPr/>
          <p:nvPr/>
        </p:nvSpPr>
        <p:spPr>
          <a:xfrm>
            <a:off x="762000" y="762000"/>
            <a:ext cx="762000" cy="50800"/>
          </a:xfrm>
          <a:prstGeom prst="rect">
            <a:avLst/>
          </a:prstGeom>
          <a:solidFill>
            <a:srgbClr val="D81B2E"/>
          </a:solidFill>
          <a:ln/>
        </p:spPr>
      </p:sp>
      <p:pic>
        <p:nvPicPr>
          <p:cNvPr id="4" name="Image 0" descr="https://kimi-img.moonshot.cn/pub/slides/okc/5jmymwkzqpipe/mnt/agents/output/ros2-intro/images/logo.png"/>
          <p:cNvPicPr>
            <a:picLocks noChangeAspect="1"/>
          </p:cNvPicPr>
          <p:nvPr/>
        </p:nvPicPr>
        <p:blipFill>
          <a:blip r:embed="rId3"/>
          <a:srcRect l="-9818" r="-9818"/>
          <a:stretch/>
        </p:blipFill>
        <p:spPr>
          <a:xfrm>
            <a:off x="762000" y="1016000"/>
            <a:ext cx="2540000" cy="762000"/>
          </a:xfrm>
          <a:prstGeom prst="rect">
            <a:avLst/>
          </a:prstGeom>
        </p:spPr>
      </p:pic>
      <p:sp>
        <p:nvSpPr>
          <p:cNvPr id="5" name="Text 1"/>
          <p:cNvSpPr/>
          <p:nvPr/>
        </p:nvSpPr>
        <p:spPr>
          <a:xfrm>
            <a:off x="1778000" y="3048000"/>
            <a:ext cx="12700000" cy="762000"/>
          </a:xfrm>
          <a:prstGeom prst="rect">
            <a:avLst/>
          </a:prstGeom>
          <a:noFill/>
          <a:ln/>
        </p:spPr>
        <p:txBody>
          <a:bodyPr wrap="none" lIns="0" tIns="0" rIns="0" bIns="0" rtlCol="0" anchor="ctr"/>
          <a:lstStyle/>
          <a:p>
            <a:pPr algn="ctr">
              <a:lnSpc>
                <a:spcPct val="120000"/>
              </a:lnSpc>
            </a:pPr>
            <a:r>
              <a:rPr lang="en-US" sz="4200" kern="0" spc="200" dirty="0">
                <a:solidFill>
                  <a:srgbClr val="FFFFFF"/>
                </a:solidFill>
                <a:latin typeface="Liter" pitchFamily="34" charset="0"/>
                <a:ea typeface="Liter" pitchFamily="34" charset="-122"/>
                <a:cs typeface="Liter" pitchFamily="34" charset="-120"/>
              </a:rPr>
              <a:t>Introduktion till ROS2</a:t>
            </a:r>
            <a:endParaRPr lang="en-US" sz="4200" dirty="0"/>
          </a:p>
        </p:txBody>
      </p:sp>
      <p:sp>
        <p:nvSpPr>
          <p:cNvPr id="6" name="Shape 2"/>
          <p:cNvSpPr/>
          <p:nvPr/>
        </p:nvSpPr>
        <p:spPr>
          <a:xfrm>
            <a:off x="7112000" y="4000500"/>
            <a:ext cx="2032000" cy="38100"/>
          </a:xfrm>
          <a:prstGeom prst="rect">
            <a:avLst/>
          </a:prstGeom>
          <a:solidFill>
            <a:srgbClr val="D81B2E"/>
          </a:solidFill>
          <a:ln/>
        </p:spPr>
      </p:sp>
      <p:sp>
        <p:nvSpPr>
          <p:cNvPr id="7" name="Text 3"/>
          <p:cNvSpPr/>
          <p:nvPr/>
        </p:nvSpPr>
        <p:spPr>
          <a:xfrm>
            <a:off x="2413000" y="4254500"/>
            <a:ext cx="11430000" cy="508000"/>
          </a:xfrm>
          <a:prstGeom prst="rect">
            <a:avLst/>
          </a:prstGeom>
          <a:noFill/>
          <a:ln/>
        </p:spPr>
        <p:txBody>
          <a:bodyPr wrap="none" lIns="0" tIns="0" rIns="0" bIns="0" rtlCol="0" anchor="ctr"/>
          <a:lstStyle/>
          <a:p>
            <a:pPr algn="ctr">
              <a:lnSpc>
                <a:spcPct val="140000"/>
              </a:lnSpc>
            </a:pPr>
            <a:r>
              <a:rPr lang="en-US" sz="2200" dirty="0">
                <a:solidFill>
                  <a:srgbClr val="B0BEC5"/>
                </a:solidFill>
                <a:latin typeface="QuattrocentoSans" pitchFamily="34" charset="0"/>
                <a:ea typeface="QuattrocentoSans" pitchFamily="34" charset="-122"/>
                <a:cs typeface="QuattrocentoSans" pitchFamily="34" charset="-120"/>
              </a:rPr>
              <a:t>Robot Operating System 2 — grunden till moderna robotsystem</a:t>
            </a:r>
            <a:endParaRPr lang="en-US" sz="2200" dirty="0"/>
          </a:p>
        </p:txBody>
      </p:sp>
      <p:sp>
        <p:nvSpPr>
          <p:cNvPr id="8" name="Text 4"/>
          <p:cNvSpPr/>
          <p:nvPr/>
        </p:nvSpPr>
        <p:spPr>
          <a:xfrm>
            <a:off x="4318000" y="6350000"/>
            <a:ext cx="7620000" cy="444500"/>
          </a:xfrm>
          <a:prstGeom prst="rect">
            <a:avLst/>
          </a:prstGeom>
          <a:noFill/>
          <a:ln/>
        </p:spPr>
        <p:txBody>
          <a:bodyPr wrap="none" lIns="0" tIns="0" rIns="0" bIns="0" rtlCol="0" anchor="ctr"/>
          <a:lstStyle/>
          <a:p>
            <a:pPr algn="ctr">
              <a:lnSpc>
                <a:spcPct val="100000"/>
              </a:lnSpc>
            </a:pPr>
            <a:r>
              <a:rPr lang="en-US" sz="2200" kern="0" spc="300" dirty="0">
                <a:solidFill>
                  <a:srgbClr val="FFFFFF"/>
                </a:solidFill>
                <a:latin typeface="Liter" pitchFamily="34" charset="0"/>
                <a:ea typeface="Liter" pitchFamily="34" charset="-122"/>
                <a:cs typeface="Liter" pitchFamily="34" charset="-120"/>
              </a:rPr>
              <a:t>HITACHIGYMNASIET</a:t>
            </a:r>
            <a:endParaRPr lang="en-US" sz="1600" dirty="0"/>
          </a:p>
        </p:txBody>
      </p:sp>
      <p:sp>
        <p:nvSpPr>
          <p:cNvPr id="9" name="Text 5"/>
          <p:cNvSpPr/>
          <p:nvPr/>
        </p:nvSpPr>
        <p:spPr>
          <a:xfrm>
            <a:off x="3683000" y="6921500"/>
            <a:ext cx="8890000" cy="381000"/>
          </a:xfrm>
          <a:prstGeom prst="rect">
            <a:avLst/>
          </a:prstGeom>
          <a:noFill/>
          <a:ln/>
        </p:spPr>
        <p:txBody>
          <a:bodyPr wrap="none" lIns="0" tIns="0" rIns="0" bIns="0" rtlCol="0" anchor="ctr"/>
          <a:lstStyle/>
          <a:p>
            <a:pPr algn="ctr">
              <a:lnSpc>
                <a:spcPct val="100000"/>
              </a:lnSpc>
            </a:pPr>
            <a:r>
              <a:rPr lang="en-US" sz="1600" dirty="0">
                <a:solidFill>
                  <a:srgbClr val="B0BEC5"/>
                </a:solidFill>
                <a:latin typeface="Quattrocento Sans" pitchFamily="34" charset="0"/>
                <a:ea typeface="Quattrocento Sans" pitchFamily="34" charset="-122"/>
                <a:cs typeface="Quattrocento Sans" pitchFamily="34" charset="-120"/>
              </a:rPr>
              <a:t>Ahmad Alali · Jeton Mustini · Sofie Ahlberg</a:t>
            </a:r>
            <a:endParaRPr lang="en-US" sz="1600" dirty="0"/>
          </a:p>
        </p:txBody>
      </p:sp>
      <p:sp>
        <p:nvSpPr>
          <p:cNvPr id="10" name="Shape 6"/>
          <p:cNvSpPr/>
          <p:nvPr/>
        </p:nvSpPr>
        <p:spPr>
          <a:xfrm>
            <a:off x="0" y="8890000"/>
            <a:ext cx="16256000" cy="254000"/>
          </a:xfrm>
          <a:prstGeom prst="rect">
            <a:avLst/>
          </a:prstGeom>
          <a:solidFill>
            <a:srgbClr val="D81B2E"/>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Varför lär vi oss ROS2?</a:t>
            </a:r>
            <a:endParaRPr lang="en-US" sz="2800" dirty="0"/>
          </a:p>
        </p:txBody>
      </p:sp>
      <p:sp>
        <p:nvSpPr>
          <p:cNvPr id="5" name="Text 2"/>
          <p:cNvSpPr/>
          <p:nvPr/>
        </p:nvSpPr>
        <p:spPr>
          <a:xfrm>
            <a:off x="762000" y="1524000"/>
            <a:ext cx="14732000" cy="1016000"/>
          </a:xfrm>
          <a:prstGeom prst="rect">
            <a:avLst/>
          </a:prstGeom>
          <a:noFill/>
          <a:ln/>
        </p:spPr>
        <p:txBody>
          <a:bodyPr wrap="square" lIns="0" tIns="0" rIns="0" bIns="0" rtlCol="0" anchor="t"/>
          <a:lstStyle/>
          <a:p>
            <a:pPr>
              <a:lnSpc>
                <a:spcPct val="150000"/>
              </a:lnSpc>
            </a:pPr>
            <a:r>
              <a:rPr lang="en-US" sz="2000" dirty="0">
                <a:solidFill>
                  <a:srgbClr val="1A2332"/>
                </a:solidFill>
                <a:latin typeface="QuattrocentoSans" pitchFamily="34" charset="0"/>
                <a:ea typeface="QuattrocentoSans" pitchFamily="34" charset="-122"/>
                <a:cs typeface="QuattrocentoSans" pitchFamily="34" charset="-120"/>
              </a:rPr>
              <a:t>ROS2 används för att bygga robotar där </a:t>
            </a:r>
            <a:r>
              <a:rPr lang="en-US" sz="2000" b="1" dirty="0">
                <a:solidFill>
                  <a:srgbClr val="1A2332"/>
                </a:solidFill>
                <a:latin typeface="QuattrocentoSans" pitchFamily="34" charset="0"/>
                <a:ea typeface="QuattrocentoSans" pitchFamily="34" charset="-122"/>
                <a:cs typeface="QuattrocentoSans" pitchFamily="34" charset="-120"/>
              </a:rPr>
              <a:t>flera delar behöver samarbeta</a:t>
            </a:r>
            <a:r>
              <a:rPr lang="en-US" sz="2000" dirty="0">
                <a:solidFill>
                  <a:srgbClr val="1A2332"/>
                </a:solidFill>
                <a:latin typeface="QuattrocentoSans" pitchFamily="34" charset="0"/>
                <a:ea typeface="QuattrocentoSans" pitchFamily="34" charset="-122"/>
                <a:cs typeface="QuattrocentoSans" pitchFamily="34" charset="-120"/>
              </a:rPr>
              <a:t> samtidigt:</a:t>
            </a:r>
            <a:endParaRPr lang="en-US" sz="2000" dirty="0"/>
          </a:p>
        </p:txBody>
      </p:sp>
      <p:sp>
        <p:nvSpPr>
          <p:cNvPr id="6" name="Shape 3"/>
          <p:cNvSpPr/>
          <p:nvPr/>
        </p:nvSpPr>
        <p:spPr>
          <a:xfrm>
            <a:off x="1238250" y="2921000"/>
            <a:ext cx="571500" cy="508000"/>
          </a:xfrm>
          <a:custGeom>
            <a:avLst/>
            <a:gdLst/>
            <a:ahLst/>
            <a:cxnLst/>
            <a:rect l="l" t="t" r="r" b="b"/>
            <a:pathLst>
              <a:path w="571500" h="508000">
                <a:moveTo>
                  <a:pt x="285750" y="31750"/>
                </a:moveTo>
                <a:cubicBezTo>
                  <a:pt x="205581" y="31750"/>
                  <a:pt x="141387" y="68263"/>
                  <a:pt x="94655" y="111720"/>
                </a:cubicBezTo>
                <a:cubicBezTo>
                  <a:pt x="48220" y="154880"/>
                  <a:pt x="17165" y="206375"/>
                  <a:pt x="2381" y="241796"/>
                </a:cubicBezTo>
                <a:cubicBezTo>
                  <a:pt x="-893" y="249634"/>
                  <a:pt x="-893" y="258366"/>
                  <a:pt x="2381" y="266204"/>
                </a:cubicBezTo>
                <a:cubicBezTo>
                  <a:pt x="17165" y="301625"/>
                  <a:pt x="48220" y="353219"/>
                  <a:pt x="94655" y="396280"/>
                </a:cubicBezTo>
                <a:cubicBezTo>
                  <a:pt x="141387" y="439638"/>
                  <a:pt x="205581" y="476250"/>
                  <a:pt x="285750" y="476250"/>
                </a:cubicBezTo>
                <a:cubicBezTo>
                  <a:pt x="365919" y="476250"/>
                  <a:pt x="430113" y="439737"/>
                  <a:pt x="476845" y="396280"/>
                </a:cubicBezTo>
                <a:cubicBezTo>
                  <a:pt x="523280" y="353120"/>
                  <a:pt x="554335" y="301625"/>
                  <a:pt x="569119" y="266204"/>
                </a:cubicBezTo>
                <a:cubicBezTo>
                  <a:pt x="572393" y="258366"/>
                  <a:pt x="572393" y="249634"/>
                  <a:pt x="569119" y="241796"/>
                </a:cubicBezTo>
                <a:cubicBezTo>
                  <a:pt x="554335" y="206375"/>
                  <a:pt x="523280" y="154781"/>
                  <a:pt x="476845" y="111720"/>
                </a:cubicBezTo>
                <a:cubicBezTo>
                  <a:pt x="430113" y="68362"/>
                  <a:pt x="365919" y="31750"/>
                  <a:pt x="285750" y="31750"/>
                </a:cubicBezTo>
                <a:close/>
                <a:moveTo>
                  <a:pt x="142875" y="254000"/>
                </a:moveTo>
                <a:cubicBezTo>
                  <a:pt x="142875" y="175145"/>
                  <a:pt x="206895" y="111125"/>
                  <a:pt x="285750" y="111125"/>
                </a:cubicBezTo>
                <a:cubicBezTo>
                  <a:pt x="364605" y="111125"/>
                  <a:pt x="428625" y="175145"/>
                  <a:pt x="428625" y="254000"/>
                </a:cubicBezTo>
                <a:cubicBezTo>
                  <a:pt x="428625" y="332855"/>
                  <a:pt x="364605" y="396875"/>
                  <a:pt x="285750" y="396875"/>
                </a:cubicBezTo>
                <a:cubicBezTo>
                  <a:pt x="206895" y="396875"/>
                  <a:pt x="142875" y="332855"/>
                  <a:pt x="142875" y="254000"/>
                </a:cubicBezTo>
                <a:close/>
                <a:moveTo>
                  <a:pt x="285750" y="190500"/>
                </a:moveTo>
                <a:cubicBezTo>
                  <a:pt x="285750" y="225524"/>
                  <a:pt x="257274" y="254000"/>
                  <a:pt x="222250" y="254000"/>
                </a:cubicBezTo>
                <a:cubicBezTo>
                  <a:pt x="210840" y="254000"/>
                  <a:pt x="200124" y="251023"/>
                  <a:pt x="190798" y="245666"/>
                </a:cubicBezTo>
                <a:cubicBezTo>
                  <a:pt x="189805" y="256480"/>
                  <a:pt x="190698" y="267593"/>
                  <a:pt x="193675" y="278606"/>
                </a:cubicBezTo>
                <a:cubicBezTo>
                  <a:pt x="207268" y="329406"/>
                  <a:pt x="259556" y="359569"/>
                  <a:pt x="310356" y="345976"/>
                </a:cubicBezTo>
                <a:cubicBezTo>
                  <a:pt x="361156" y="332383"/>
                  <a:pt x="391319" y="280095"/>
                  <a:pt x="377726" y="229295"/>
                </a:cubicBezTo>
                <a:cubicBezTo>
                  <a:pt x="365621" y="183952"/>
                  <a:pt x="322659" y="155079"/>
                  <a:pt x="277416" y="159048"/>
                </a:cubicBezTo>
                <a:cubicBezTo>
                  <a:pt x="282674" y="168275"/>
                  <a:pt x="285750" y="178991"/>
                  <a:pt x="285750" y="190500"/>
                </a:cubicBezTo>
                <a:close/>
              </a:path>
            </a:pathLst>
          </a:custGeom>
          <a:solidFill>
            <a:srgbClr val="0F2B46"/>
          </a:solidFill>
          <a:ln/>
        </p:spPr>
      </p:sp>
      <p:sp>
        <p:nvSpPr>
          <p:cNvPr id="7" name="Text 4"/>
          <p:cNvSpPr/>
          <p:nvPr/>
        </p:nvSpPr>
        <p:spPr>
          <a:xfrm>
            <a:off x="762000" y="3556000"/>
            <a:ext cx="1524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Sensorer</a:t>
            </a:r>
            <a:endParaRPr lang="en-US" sz="1600" dirty="0"/>
          </a:p>
        </p:txBody>
      </p:sp>
      <p:sp>
        <p:nvSpPr>
          <p:cNvPr id="8" name="Shape 5"/>
          <p:cNvSpPr/>
          <p:nvPr/>
        </p:nvSpPr>
        <p:spPr>
          <a:xfrm>
            <a:off x="3492500" y="2921000"/>
            <a:ext cx="635000" cy="508000"/>
          </a:xfrm>
          <a:custGeom>
            <a:avLst/>
            <a:gdLst/>
            <a:ahLst/>
            <a:cxnLst/>
            <a:rect l="l" t="t" r="r" b="b"/>
            <a:pathLst>
              <a:path w="635000" h="508000">
                <a:moveTo>
                  <a:pt x="412651" y="208855"/>
                </a:moveTo>
                <a:cubicBezTo>
                  <a:pt x="424755" y="205581"/>
                  <a:pt x="437455" y="211336"/>
                  <a:pt x="442912" y="222548"/>
                </a:cubicBezTo>
                <a:lnTo>
                  <a:pt x="461367" y="259854"/>
                </a:lnTo>
                <a:cubicBezTo>
                  <a:pt x="471587" y="261243"/>
                  <a:pt x="481608" y="264021"/>
                  <a:pt x="491034" y="267891"/>
                </a:cubicBezTo>
                <a:lnTo>
                  <a:pt x="525760" y="244773"/>
                </a:lnTo>
                <a:cubicBezTo>
                  <a:pt x="536178" y="237827"/>
                  <a:pt x="549970" y="239216"/>
                  <a:pt x="558800" y="248047"/>
                </a:cubicBezTo>
                <a:lnTo>
                  <a:pt x="577850" y="267097"/>
                </a:lnTo>
                <a:cubicBezTo>
                  <a:pt x="586680" y="275927"/>
                  <a:pt x="588070" y="289818"/>
                  <a:pt x="581124" y="300137"/>
                </a:cubicBezTo>
                <a:lnTo>
                  <a:pt x="558006" y="334764"/>
                </a:lnTo>
                <a:cubicBezTo>
                  <a:pt x="559891" y="339427"/>
                  <a:pt x="561578" y="344289"/>
                  <a:pt x="562967" y="349349"/>
                </a:cubicBezTo>
                <a:cubicBezTo>
                  <a:pt x="564356" y="354409"/>
                  <a:pt x="565249" y="359370"/>
                  <a:pt x="565944" y="364430"/>
                </a:cubicBezTo>
                <a:lnTo>
                  <a:pt x="603349" y="382885"/>
                </a:lnTo>
                <a:cubicBezTo>
                  <a:pt x="614561" y="388441"/>
                  <a:pt x="620316" y="401141"/>
                  <a:pt x="617041" y="413147"/>
                </a:cubicBezTo>
                <a:lnTo>
                  <a:pt x="610096" y="439142"/>
                </a:lnTo>
                <a:cubicBezTo>
                  <a:pt x="606822" y="451148"/>
                  <a:pt x="595610" y="459284"/>
                  <a:pt x="583109" y="458490"/>
                </a:cubicBezTo>
                <a:lnTo>
                  <a:pt x="541437" y="455811"/>
                </a:lnTo>
                <a:cubicBezTo>
                  <a:pt x="535186" y="463848"/>
                  <a:pt x="527943" y="471289"/>
                  <a:pt x="519708" y="477639"/>
                </a:cubicBezTo>
                <a:lnTo>
                  <a:pt x="522387" y="519212"/>
                </a:lnTo>
                <a:cubicBezTo>
                  <a:pt x="523180" y="531713"/>
                  <a:pt x="515045" y="543024"/>
                  <a:pt x="503039" y="546199"/>
                </a:cubicBezTo>
                <a:lnTo>
                  <a:pt x="477044" y="553145"/>
                </a:lnTo>
                <a:cubicBezTo>
                  <a:pt x="464939" y="556419"/>
                  <a:pt x="452338" y="550664"/>
                  <a:pt x="446782" y="539452"/>
                </a:cubicBezTo>
                <a:lnTo>
                  <a:pt x="428327" y="502146"/>
                </a:lnTo>
                <a:cubicBezTo>
                  <a:pt x="418108" y="500757"/>
                  <a:pt x="408087" y="497979"/>
                  <a:pt x="398661" y="494109"/>
                </a:cubicBezTo>
                <a:lnTo>
                  <a:pt x="363934" y="517227"/>
                </a:lnTo>
                <a:cubicBezTo>
                  <a:pt x="353516" y="524173"/>
                  <a:pt x="339725" y="522784"/>
                  <a:pt x="330895" y="513953"/>
                </a:cubicBezTo>
                <a:lnTo>
                  <a:pt x="311845" y="494903"/>
                </a:lnTo>
                <a:cubicBezTo>
                  <a:pt x="303014" y="486073"/>
                  <a:pt x="301625" y="472281"/>
                  <a:pt x="308570" y="461863"/>
                </a:cubicBezTo>
                <a:lnTo>
                  <a:pt x="331688" y="427137"/>
                </a:lnTo>
                <a:cubicBezTo>
                  <a:pt x="329803" y="422473"/>
                  <a:pt x="328116" y="417612"/>
                  <a:pt x="326727" y="412552"/>
                </a:cubicBezTo>
                <a:cubicBezTo>
                  <a:pt x="325338" y="407491"/>
                  <a:pt x="324445" y="402431"/>
                  <a:pt x="323751" y="397470"/>
                </a:cubicBezTo>
                <a:lnTo>
                  <a:pt x="286345" y="379016"/>
                </a:lnTo>
                <a:cubicBezTo>
                  <a:pt x="275134" y="373459"/>
                  <a:pt x="269478" y="360759"/>
                  <a:pt x="272653" y="348754"/>
                </a:cubicBezTo>
                <a:lnTo>
                  <a:pt x="279598" y="322759"/>
                </a:lnTo>
                <a:cubicBezTo>
                  <a:pt x="282873" y="310753"/>
                  <a:pt x="294084" y="302617"/>
                  <a:pt x="306586" y="303411"/>
                </a:cubicBezTo>
                <a:lnTo>
                  <a:pt x="348159" y="306090"/>
                </a:lnTo>
                <a:cubicBezTo>
                  <a:pt x="354409" y="298053"/>
                  <a:pt x="361652" y="290612"/>
                  <a:pt x="369887" y="284262"/>
                </a:cubicBezTo>
                <a:lnTo>
                  <a:pt x="367209" y="242788"/>
                </a:lnTo>
                <a:cubicBezTo>
                  <a:pt x="366415" y="230287"/>
                  <a:pt x="374551" y="218976"/>
                  <a:pt x="386556" y="215801"/>
                </a:cubicBezTo>
                <a:lnTo>
                  <a:pt x="412552" y="208855"/>
                </a:lnTo>
                <a:close/>
                <a:moveTo>
                  <a:pt x="444897" y="337344"/>
                </a:moveTo>
                <a:cubicBezTo>
                  <a:pt x="420802" y="337371"/>
                  <a:pt x="401263" y="356955"/>
                  <a:pt x="401290" y="381050"/>
                </a:cubicBezTo>
                <a:cubicBezTo>
                  <a:pt x="401318" y="405144"/>
                  <a:pt x="420902" y="424684"/>
                  <a:pt x="444996" y="424656"/>
                </a:cubicBezTo>
                <a:cubicBezTo>
                  <a:pt x="469091" y="424629"/>
                  <a:pt x="488630" y="405045"/>
                  <a:pt x="488603" y="380950"/>
                </a:cubicBezTo>
                <a:cubicBezTo>
                  <a:pt x="488575" y="356856"/>
                  <a:pt x="468991" y="337316"/>
                  <a:pt x="444897" y="337344"/>
                </a:cubicBezTo>
                <a:close/>
                <a:moveTo>
                  <a:pt x="223143" y="-45145"/>
                </a:moveTo>
                <a:lnTo>
                  <a:pt x="249138" y="-38199"/>
                </a:lnTo>
                <a:cubicBezTo>
                  <a:pt x="261144" y="-34925"/>
                  <a:pt x="269280" y="-23614"/>
                  <a:pt x="268486" y="-11212"/>
                </a:cubicBezTo>
                <a:lnTo>
                  <a:pt x="265807" y="30262"/>
                </a:lnTo>
                <a:cubicBezTo>
                  <a:pt x="274042" y="36612"/>
                  <a:pt x="281285" y="43954"/>
                  <a:pt x="287536" y="52090"/>
                </a:cubicBezTo>
                <a:lnTo>
                  <a:pt x="329208" y="49411"/>
                </a:lnTo>
                <a:cubicBezTo>
                  <a:pt x="341610" y="48617"/>
                  <a:pt x="352921" y="56753"/>
                  <a:pt x="356195" y="68759"/>
                </a:cubicBezTo>
                <a:lnTo>
                  <a:pt x="363141" y="94754"/>
                </a:lnTo>
                <a:cubicBezTo>
                  <a:pt x="366316" y="106759"/>
                  <a:pt x="360660" y="119459"/>
                  <a:pt x="349448" y="125016"/>
                </a:cubicBezTo>
                <a:lnTo>
                  <a:pt x="312043" y="143470"/>
                </a:lnTo>
                <a:cubicBezTo>
                  <a:pt x="311348" y="148530"/>
                  <a:pt x="310356" y="153591"/>
                  <a:pt x="309066" y="158552"/>
                </a:cubicBezTo>
                <a:cubicBezTo>
                  <a:pt x="307777" y="163512"/>
                  <a:pt x="305991" y="168473"/>
                  <a:pt x="304105" y="173137"/>
                </a:cubicBezTo>
                <a:lnTo>
                  <a:pt x="327223" y="207863"/>
                </a:lnTo>
                <a:cubicBezTo>
                  <a:pt x="334169" y="218281"/>
                  <a:pt x="332780" y="232073"/>
                  <a:pt x="323949" y="240903"/>
                </a:cubicBezTo>
                <a:lnTo>
                  <a:pt x="304899" y="259953"/>
                </a:lnTo>
                <a:cubicBezTo>
                  <a:pt x="296069" y="268784"/>
                  <a:pt x="282277" y="270173"/>
                  <a:pt x="271859" y="263227"/>
                </a:cubicBezTo>
                <a:lnTo>
                  <a:pt x="237133" y="240109"/>
                </a:lnTo>
                <a:cubicBezTo>
                  <a:pt x="227707" y="243979"/>
                  <a:pt x="217686" y="246757"/>
                  <a:pt x="207466" y="248146"/>
                </a:cubicBezTo>
                <a:lnTo>
                  <a:pt x="189012" y="285452"/>
                </a:lnTo>
                <a:cubicBezTo>
                  <a:pt x="183455" y="296664"/>
                  <a:pt x="170755" y="302320"/>
                  <a:pt x="158750" y="299145"/>
                </a:cubicBezTo>
                <a:lnTo>
                  <a:pt x="132755" y="292199"/>
                </a:lnTo>
                <a:cubicBezTo>
                  <a:pt x="120650" y="288925"/>
                  <a:pt x="112613" y="277614"/>
                  <a:pt x="113407" y="265212"/>
                </a:cubicBezTo>
                <a:lnTo>
                  <a:pt x="116086" y="223639"/>
                </a:lnTo>
                <a:cubicBezTo>
                  <a:pt x="107851" y="217289"/>
                  <a:pt x="100608" y="209947"/>
                  <a:pt x="94357" y="201811"/>
                </a:cubicBezTo>
                <a:lnTo>
                  <a:pt x="52685" y="204490"/>
                </a:lnTo>
                <a:cubicBezTo>
                  <a:pt x="40283" y="205284"/>
                  <a:pt x="28972" y="197148"/>
                  <a:pt x="25698" y="185142"/>
                </a:cubicBezTo>
                <a:lnTo>
                  <a:pt x="18752" y="159147"/>
                </a:lnTo>
                <a:cubicBezTo>
                  <a:pt x="15577" y="147141"/>
                  <a:pt x="21233" y="134441"/>
                  <a:pt x="32445" y="128885"/>
                </a:cubicBezTo>
                <a:lnTo>
                  <a:pt x="69850" y="110430"/>
                </a:lnTo>
                <a:cubicBezTo>
                  <a:pt x="70545" y="105370"/>
                  <a:pt x="71537" y="100409"/>
                  <a:pt x="72827" y="95349"/>
                </a:cubicBezTo>
                <a:cubicBezTo>
                  <a:pt x="74216" y="90289"/>
                  <a:pt x="75803" y="85427"/>
                  <a:pt x="77788" y="80764"/>
                </a:cubicBezTo>
                <a:lnTo>
                  <a:pt x="54670" y="46137"/>
                </a:lnTo>
                <a:cubicBezTo>
                  <a:pt x="47724" y="35719"/>
                  <a:pt x="49113" y="21927"/>
                  <a:pt x="57944" y="13097"/>
                </a:cubicBezTo>
                <a:lnTo>
                  <a:pt x="76994" y="-5953"/>
                </a:lnTo>
                <a:cubicBezTo>
                  <a:pt x="85824" y="-14784"/>
                  <a:pt x="99616" y="-16173"/>
                  <a:pt x="110034" y="-9227"/>
                </a:cubicBezTo>
                <a:lnTo>
                  <a:pt x="144760" y="13891"/>
                </a:lnTo>
                <a:cubicBezTo>
                  <a:pt x="154186" y="10021"/>
                  <a:pt x="164207" y="7243"/>
                  <a:pt x="174427" y="5854"/>
                </a:cubicBezTo>
                <a:lnTo>
                  <a:pt x="192881" y="-31452"/>
                </a:lnTo>
                <a:cubicBezTo>
                  <a:pt x="198437" y="-42664"/>
                  <a:pt x="211038" y="-48320"/>
                  <a:pt x="223143" y="-45145"/>
                </a:cubicBezTo>
                <a:close/>
                <a:moveTo>
                  <a:pt x="190897" y="83344"/>
                </a:moveTo>
                <a:cubicBezTo>
                  <a:pt x="166802" y="83344"/>
                  <a:pt x="147241" y="102905"/>
                  <a:pt x="147241" y="127000"/>
                </a:cubicBezTo>
                <a:cubicBezTo>
                  <a:pt x="147241" y="151095"/>
                  <a:pt x="166802" y="170656"/>
                  <a:pt x="190897" y="170656"/>
                </a:cubicBezTo>
                <a:cubicBezTo>
                  <a:pt x="214991" y="170656"/>
                  <a:pt x="234553" y="151095"/>
                  <a:pt x="234553" y="127000"/>
                </a:cubicBezTo>
                <a:cubicBezTo>
                  <a:pt x="234553" y="102905"/>
                  <a:pt x="214991" y="83344"/>
                  <a:pt x="190897" y="83344"/>
                </a:cubicBezTo>
                <a:close/>
              </a:path>
            </a:pathLst>
          </a:custGeom>
          <a:solidFill>
            <a:srgbClr val="0F2B46"/>
          </a:solidFill>
          <a:ln/>
        </p:spPr>
      </p:sp>
      <p:sp>
        <p:nvSpPr>
          <p:cNvPr id="9" name="Text 6"/>
          <p:cNvSpPr/>
          <p:nvPr/>
        </p:nvSpPr>
        <p:spPr>
          <a:xfrm>
            <a:off x="3048000" y="3556000"/>
            <a:ext cx="1524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Motorer</a:t>
            </a:r>
            <a:endParaRPr lang="en-US" sz="1600" dirty="0"/>
          </a:p>
        </p:txBody>
      </p:sp>
      <p:sp>
        <p:nvSpPr>
          <p:cNvPr id="10" name="Shape 7"/>
          <p:cNvSpPr/>
          <p:nvPr/>
        </p:nvSpPr>
        <p:spPr>
          <a:xfrm>
            <a:off x="5842000" y="2921000"/>
            <a:ext cx="508000" cy="508000"/>
          </a:xfrm>
          <a:custGeom>
            <a:avLst/>
            <a:gdLst/>
            <a:ahLst/>
            <a:cxnLst/>
            <a:rect l="l" t="t" r="r" b="b"/>
            <a:pathLst>
              <a:path w="508000" h="508000">
                <a:moveTo>
                  <a:pt x="147935" y="64294"/>
                </a:moveTo>
                <a:lnTo>
                  <a:pt x="137616" y="95250"/>
                </a:lnTo>
                <a:lnTo>
                  <a:pt x="63500" y="95250"/>
                </a:lnTo>
                <a:cubicBezTo>
                  <a:pt x="28476" y="95250"/>
                  <a:pt x="0" y="123726"/>
                  <a:pt x="0" y="158750"/>
                </a:cubicBezTo>
                <a:lnTo>
                  <a:pt x="0" y="412750"/>
                </a:lnTo>
                <a:cubicBezTo>
                  <a:pt x="0" y="447774"/>
                  <a:pt x="28476" y="476250"/>
                  <a:pt x="63500" y="476250"/>
                </a:cubicBezTo>
                <a:lnTo>
                  <a:pt x="444500" y="476250"/>
                </a:lnTo>
                <a:cubicBezTo>
                  <a:pt x="479524" y="476250"/>
                  <a:pt x="508000" y="447774"/>
                  <a:pt x="508000" y="412750"/>
                </a:cubicBezTo>
                <a:lnTo>
                  <a:pt x="508000" y="158750"/>
                </a:lnTo>
                <a:cubicBezTo>
                  <a:pt x="508000" y="123726"/>
                  <a:pt x="479524" y="95250"/>
                  <a:pt x="444500" y="95250"/>
                </a:cubicBezTo>
                <a:lnTo>
                  <a:pt x="370384" y="95250"/>
                </a:lnTo>
                <a:lnTo>
                  <a:pt x="360065" y="64294"/>
                </a:lnTo>
                <a:cubicBezTo>
                  <a:pt x="353616" y="44847"/>
                  <a:pt x="335459" y="31750"/>
                  <a:pt x="314920" y="31750"/>
                </a:cubicBezTo>
                <a:lnTo>
                  <a:pt x="193080" y="31750"/>
                </a:lnTo>
                <a:cubicBezTo>
                  <a:pt x="172541" y="31750"/>
                  <a:pt x="154384" y="44847"/>
                  <a:pt x="147935" y="64294"/>
                </a:cubicBezTo>
                <a:close/>
                <a:moveTo>
                  <a:pt x="254000" y="190500"/>
                </a:moveTo>
                <a:cubicBezTo>
                  <a:pt x="306570" y="190500"/>
                  <a:pt x="349250" y="233180"/>
                  <a:pt x="349250" y="285750"/>
                </a:cubicBezTo>
                <a:cubicBezTo>
                  <a:pt x="349250" y="338320"/>
                  <a:pt x="306570" y="381000"/>
                  <a:pt x="254000" y="381000"/>
                </a:cubicBezTo>
                <a:cubicBezTo>
                  <a:pt x="201430" y="381000"/>
                  <a:pt x="158750" y="338320"/>
                  <a:pt x="158750" y="285750"/>
                </a:cubicBezTo>
                <a:cubicBezTo>
                  <a:pt x="158750" y="233180"/>
                  <a:pt x="201430" y="190500"/>
                  <a:pt x="254000" y="190500"/>
                </a:cubicBezTo>
                <a:close/>
              </a:path>
            </a:pathLst>
          </a:custGeom>
          <a:solidFill>
            <a:srgbClr val="0F2B46"/>
          </a:solidFill>
          <a:ln/>
        </p:spPr>
      </p:sp>
      <p:sp>
        <p:nvSpPr>
          <p:cNvPr id="11" name="Text 8"/>
          <p:cNvSpPr/>
          <p:nvPr/>
        </p:nvSpPr>
        <p:spPr>
          <a:xfrm>
            <a:off x="5334000" y="3556000"/>
            <a:ext cx="1524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Kameror</a:t>
            </a:r>
            <a:endParaRPr lang="en-US" sz="1600" dirty="0"/>
          </a:p>
        </p:txBody>
      </p:sp>
      <p:sp>
        <p:nvSpPr>
          <p:cNvPr id="12" name="Shape 9"/>
          <p:cNvSpPr/>
          <p:nvPr/>
        </p:nvSpPr>
        <p:spPr>
          <a:xfrm>
            <a:off x="8128000" y="2921000"/>
            <a:ext cx="508000" cy="508000"/>
          </a:xfrm>
          <a:custGeom>
            <a:avLst/>
            <a:gdLst/>
            <a:ahLst/>
            <a:cxnLst/>
            <a:rect l="l" t="t" r="r" b="b"/>
            <a:pathLst>
              <a:path w="508000" h="508000">
                <a:moveTo>
                  <a:pt x="119063" y="55563"/>
                </a:moveTo>
                <a:cubicBezTo>
                  <a:pt x="119063" y="24904"/>
                  <a:pt x="143966" y="0"/>
                  <a:pt x="174625" y="0"/>
                </a:cubicBezTo>
                <a:lnTo>
                  <a:pt x="198438" y="0"/>
                </a:lnTo>
                <a:cubicBezTo>
                  <a:pt x="215999" y="0"/>
                  <a:pt x="230188" y="14188"/>
                  <a:pt x="230188" y="31750"/>
                </a:cubicBezTo>
                <a:lnTo>
                  <a:pt x="230188" y="476250"/>
                </a:lnTo>
                <a:cubicBezTo>
                  <a:pt x="230188" y="493812"/>
                  <a:pt x="215999" y="508000"/>
                  <a:pt x="198438" y="508000"/>
                </a:cubicBezTo>
                <a:lnTo>
                  <a:pt x="166688" y="508000"/>
                </a:lnTo>
                <a:cubicBezTo>
                  <a:pt x="137120" y="508000"/>
                  <a:pt x="112216" y="487759"/>
                  <a:pt x="105172" y="460375"/>
                </a:cubicBezTo>
                <a:cubicBezTo>
                  <a:pt x="104477" y="460375"/>
                  <a:pt x="103882" y="460375"/>
                  <a:pt x="103188" y="460375"/>
                </a:cubicBezTo>
                <a:cubicBezTo>
                  <a:pt x="59333" y="460375"/>
                  <a:pt x="23812" y="424855"/>
                  <a:pt x="23812" y="381000"/>
                </a:cubicBezTo>
                <a:cubicBezTo>
                  <a:pt x="23812" y="363141"/>
                  <a:pt x="29766" y="346670"/>
                  <a:pt x="39688" y="333375"/>
                </a:cubicBezTo>
                <a:cubicBezTo>
                  <a:pt x="20439" y="318889"/>
                  <a:pt x="7938" y="295870"/>
                  <a:pt x="7938" y="269875"/>
                </a:cubicBezTo>
                <a:cubicBezTo>
                  <a:pt x="7938" y="239216"/>
                  <a:pt x="25400" y="212527"/>
                  <a:pt x="50800" y="199330"/>
                </a:cubicBezTo>
                <a:cubicBezTo>
                  <a:pt x="43755" y="187424"/>
                  <a:pt x="39688" y="173534"/>
                  <a:pt x="39688" y="158750"/>
                </a:cubicBezTo>
                <a:cubicBezTo>
                  <a:pt x="39688" y="114895"/>
                  <a:pt x="75208" y="79375"/>
                  <a:pt x="119063" y="79375"/>
                </a:cubicBezTo>
                <a:lnTo>
                  <a:pt x="119063" y="55563"/>
                </a:lnTo>
                <a:close/>
                <a:moveTo>
                  <a:pt x="388938" y="55563"/>
                </a:moveTo>
                <a:lnTo>
                  <a:pt x="388938" y="79375"/>
                </a:lnTo>
                <a:cubicBezTo>
                  <a:pt x="432792" y="79375"/>
                  <a:pt x="468313" y="114895"/>
                  <a:pt x="468313" y="158750"/>
                </a:cubicBezTo>
                <a:cubicBezTo>
                  <a:pt x="468313" y="173633"/>
                  <a:pt x="464245" y="187523"/>
                  <a:pt x="457200" y="199330"/>
                </a:cubicBezTo>
                <a:cubicBezTo>
                  <a:pt x="482699" y="212527"/>
                  <a:pt x="500063" y="239117"/>
                  <a:pt x="500063" y="269875"/>
                </a:cubicBezTo>
                <a:cubicBezTo>
                  <a:pt x="500063" y="295870"/>
                  <a:pt x="487561" y="318889"/>
                  <a:pt x="468313" y="333375"/>
                </a:cubicBezTo>
                <a:cubicBezTo>
                  <a:pt x="478234" y="346670"/>
                  <a:pt x="484187" y="363141"/>
                  <a:pt x="484187" y="381000"/>
                </a:cubicBezTo>
                <a:cubicBezTo>
                  <a:pt x="484187" y="424855"/>
                  <a:pt x="448667" y="460375"/>
                  <a:pt x="404813" y="460375"/>
                </a:cubicBezTo>
                <a:cubicBezTo>
                  <a:pt x="404118" y="460375"/>
                  <a:pt x="403523" y="460375"/>
                  <a:pt x="402828" y="460375"/>
                </a:cubicBezTo>
                <a:cubicBezTo>
                  <a:pt x="395784" y="487759"/>
                  <a:pt x="370880" y="508000"/>
                  <a:pt x="341313" y="508000"/>
                </a:cubicBezTo>
                <a:lnTo>
                  <a:pt x="309562" y="508000"/>
                </a:lnTo>
                <a:cubicBezTo>
                  <a:pt x="292001" y="508000"/>
                  <a:pt x="277813" y="493812"/>
                  <a:pt x="277813" y="476250"/>
                </a:cubicBezTo>
                <a:lnTo>
                  <a:pt x="277813" y="31750"/>
                </a:lnTo>
                <a:cubicBezTo>
                  <a:pt x="277813" y="14188"/>
                  <a:pt x="292001" y="0"/>
                  <a:pt x="309562" y="0"/>
                </a:cubicBezTo>
                <a:lnTo>
                  <a:pt x="333375" y="0"/>
                </a:lnTo>
                <a:cubicBezTo>
                  <a:pt x="364034" y="0"/>
                  <a:pt x="388938" y="24904"/>
                  <a:pt x="388938" y="55563"/>
                </a:cubicBezTo>
                <a:close/>
              </a:path>
            </a:pathLst>
          </a:custGeom>
          <a:solidFill>
            <a:srgbClr val="0F2B46"/>
          </a:solidFill>
          <a:ln/>
        </p:spPr>
      </p:sp>
      <p:sp>
        <p:nvSpPr>
          <p:cNvPr id="13" name="Text 10"/>
          <p:cNvSpPr/>
          <p:nvPr/>
        </p:nvSpPr>
        <p:spPr>
          <a:xfrm>
            <a:off x="7747000" y="3556000"/>
            <a:ext cx="1270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AI</a:t>
            </a:r>
            <a:endParaRPr lang="en-US" sz="1600" dirty="0"/>
          </a:p>
        </p:txBody>
      </p:sp>
      <p:sp>
        <p:nvSpPr>
          <p:cNvPr id="14" name="Shape 11"/>
          <p:cNvSpPr/>
          <p:nvPr/>
        </p:nvSpPr>
        <p:spPr>
          <a:xfrm>
            <a:off x="10160000" y="2921000"/>
            <a:ext cx="508000" cy="508000"/>
          </a:xfrm>
          <a:custGeom>
            <a:avLst/>
            <a:gdLst/>
            <a:ahLst/>
            <a:cxnLst/>
            <a:rect l="l" t="t" r="r" b="b"/>
            <a:pathLst>
              <a:path w="508000" h="508000">
                <a:moveTo>
                  <a:pt x="254000" y="0"/>
                </a:moveTo>
                <a:cubicBezTo>
                  <a:pt x="258564" y="0"/>
                  <a:pt x="263128" y="992"/>
                  <a:pt x="267295" y="2877"/>
                </a:cubicBezTo>
                <a:lnTo>
                  <a:pt x="454223" y="82153"/>
                </a:lnTo>
                <a:cubicBezTo>
                  <a:pt x="476052" y="91380"/>
                  <a:pt x="492323" y="112911"/>
                  <a:pt x="492224" y="138906"/>
                </a:cubicBezTo>
                <a:cubicBezTo>
                  <a:pt x="491728" y="237331"/>
                  <a:pt x="451247" y="417413"/>
                  <a:pt x="280293" y="499269"/>
                </a:cubicBezTo>
                <a:cubicBezTo>
                  <a:pt x="263723" y="507206"/>
                  <a:pt x="244475" y="507206"/>
                  <a:pt x="227905" y="499269"/>
                </a:cubicBezTo>
                <a:cubicBezTo>
                  <a:pt x="56852" y="417413"/>
                  <a:pt x="16470" y="237331"/>
                  <a:pt x="15974" y="138906"/>
                </a:cubicBezTo>
                <a:cubicBezTo>
                  <a:pt x="15875" y="112911"/>
                  <a:pt x="32147" y="91380"/>
                  <a:pt x="53975" y="82153"/>
                </a:cubicBezTo>
                <a:lnTo>
                  <a:pt x="240804" y="2877"/>
                </a:lnTo>
                <a:cubicBezTo>
                  <a:pt x="244971" y="992"/>
                  <a:pt x="249436" y="0"/>
                  <a:pt x="254000" y="0"/>
                </a:cubicBezTo>
                <a:close/>
                <a:moveTo>
                  <a:pt x="254000" y="66278"/>
                </a:moveTo>
                <a:lnTo>
                  <a:pt x="254000" y="441424"/>
                </a:lnTo>
                <a:cubicBezTo>
                  <a:pt x="390922" y="375146"/>
                  <a:pt x="427732" y="228302"/>
                  <a:pt x="428625" y="140395"/>
                </a:cubicBezTo>
                <a:lnTo>
                  <a:pt x="254000" y="66377"/>
                </a:lnTo>
                <a:lnTo>
                  <a:pt x="254000" y="66377"/>
                </a:lnTo>
                <a:close/>
              </a:path>
            </a:pathLst>
          </a:custGeom>
          <a:solidFill>
            <a:srgbClr val="0F2B46"/>
          </a:solidFill>
          <a:ln/>
        </p:spPr>
      </p:sp>
      <p:sp>
        <p:nvSpPr>
          <p:cNvPr id="15" name="Text 12"/>
          <p:cNvSpPr/>
          <p:nvPr/>
        </p:nvSpPr>
        <p:spPr>
          <a:xfrm>
            <a:off x="9525000" y="3556000"/>
            <a:ext cx="1778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Säkerhet</a:t>
            </a:r>
            <a:endParaRPr lang="en-US" sz="1600" dirty="0"/>
          </a:p>
        </p:txBody>
      </p:sp>
      <p:sp>
        <p:nvSpPr>
          <p:cNvPr id="16" name="Shape 13"/>
          <p:cNvSpPr/>
          <p:nvPr/>
        </p:nvSpPr>
        <p:spPr>
          <a:xfrm>
            <a:off x="12700000" y="2921000"/>
            <a:ext cx="508000" cy="508000"/>
          </a:xfrm>
          <a:custGeom>
            <a:avLst/>
            <a:gdLst/>
            <a:ahLst/>
            <a:cxnLst/>
            <a:rect l="l" t="t" r="r" b="b"/>
            <a:pathLst>
              <a:path w="508000" h="508000">
                <a:moveTo>
                  <a:pt x="63500" y="31750"/>
                </a:moveTo>
                <a:cubicBezTo>
                  <a:pt x="28476" y="31750"/>
                  <a:pt x="0" y="60226"/>
                  <a:pt x="0" y="95250"/>
                </a:cubicBezTo>
                <a:lnTo>
                  <a:pt x="0" y="349250"/>
                </a:lnTo>
                <a:cubicBezTo>
                  <a:pt x="0" y="384274"/>
                  <a:pt x="28476" y="412750"/>
                  <a:pt x="63500" y="412750"/>
                </a:cubicBezTo>
                <a:lnTo>
                  <a:pt x="206375" y="412750"/>
                </a:lnTo>
                <a:lnTo>
                  <a:pt x="190500" y="460375"/>
                </a:lnTo>
                <a:lnTo>
                  <a:pt x="119063" y="460375"/>
                </a:lnTo>
                <a:cubicBezTo>
                  <a:pt x="105866" y="460375"/>
                  <a:pt x="95250" y="470991"/>
                  <a:pt x="95250" y="484187"/>
                </a:cubicBezTo>
                <a:cubicBezTo>
                  <a:pt x="95250" y="497384"/>
                  <a:pt x="105866" y="508000"/>
                  <a:pt x="119063" y="508000"/>
                </a:cubicBezTo>
                <a:lnTo>
                  <a:pt x="388938" y="508000"/>
                </a:lnTo>
                <a:cubicBezTo>
                  <a:pt x="402134" y="508000"/>
                  <a:pt x="412750" y="497384"/>
                  <a:pt x="412750" y="484187"/>
                </a:cubicBezTo>
                <a:cubicBezTo>
                  <a:pt x="412750" y="470991"/>
                  <a:pt x="402134" y="460375"/>
                  <a:pt x="388938" y="460375"/>
                </a:cubicBezTo>
                <a:lnTo>
                  <a:pt x="317500" y="460375"/>
                </a:lnTo>
                <a:lnTo>
                  <a:pt x="301625" y="412750"/>
                </a:lnTo>
                <a:lnTo>
                  <a:pt x="444500" y="412750"/>
                </a:lnTo>
                <a:cubicBezTo>
                  <a:pt x="479524" y="412750"/>
                  <a:pt x="508000" y="384274"/>
                  <a:pt x="508000" y="349250"/>
                </a:cubicBezTo>
                <a:lnTo>
                  <a:pt x="508000" y="95250"/>
                </a:lnTo>
                <a:cubicBezTo>
                  <a:pt x="508000" y="60226"/>
                  <a:pt x="479524" y="31750"/>
                  <a:pt x="444500" y="31750"/>
                </a:cubicBezTo>
                <a:lnTo>
                  <a:pt x="63500" y="31750"/>
                </a:lnTo>
                <a:close/>
                <a:moveTo>
                  <a:pt x="95250" y="95250"/>
                </a:moveTo>
                <a:lnTo>
                  <a:pt x="412750" y="95250"/>
                </a:lnTo>
                <a:cubicBezTo>
                  <a:pt x="430312" y="95250"/>
                  <a:pt x="444500" y="109438"/>
                  <a:pt x="444500" y="127000"/>
                </a:cubicBezTo>
                <a:lnTo>
                  <a:pt x="444500" y="285750"/>
                </a:lnTo>
                <a:cubicBezTo>
                  <a:pt x="444500" y="303312"/>
                  <a:pt x="430312" y="317500"/>
                  <a:pt x="412750" y="317500"/>
                </a:cubicBezTo>
                <a:lnTo>
                  <a:pt x="95250" y="317500"/>
                </a:lnTo>
                <a:cubicBezTo>
                  <a:pt x="77688" y="317500"/>
                  <a:pt x="63500" y="303312"/>
                  <a:pt x="63500" y="285750"/>
                </a:cubicBezTo>
                <a:lnTo>
                  <a:pt x="63500" y="127000"/>
                </a:lnTo>
                <a:cubicBezTo>
                  <a:pt x="63500" y="109438"/>
                  <a:pt x="77688" y="95250"/>
                  <a:pt x="95250" y="95250"/>
                </a:cubicBezTo>
                <a:close/>
              </a:path>
            </a:pathLst>
          </a:custGeom>
          <a:solidFill>
            <a:srgbClr val="0F2B46"/>
          </a:solidFill>
          <a:ln/>
        </p:spPr>
      </p:sp>
      <p:sp>
        <p:nvSpPr>
          <p:cNvPr id="17" name="Text 14"/>
          <p:cNvSpPr/>
          <p:nvPr/>
        </p:nvSpPr>
        <p:spPr>
          <a:xfrm>
            <a:off x="11938000" y="3556000"/>
            <a:ext cx="2032000" cy="381000"/>
          </a:xfrm>
          <a:prstGeom prst="rect">
            <a:avLst/>
          </a:prstGeom>
          <a:noFill/>
          <a:ln/>
        </p:spPr>
        <p:txBody>
          <a:bodyPr wrap="none" lIns="0" tIns="0" rIns="0" bIns="0" rtlCol="0" anchor="t"/>
          <a:lstStyle/>
          <a:p>
            <a:pPr algn="ctr">
              <a:lnSpc>
                <a:spcPct val="100000"/>
              </a:lnSpc>
            </a:pPr>
            <a:r>
              <a:rPr lang="en-US" sz="1600" dirty="0">
                <a:solidFill>
                  <a:srgbClr val="1A2332"/>
                </a:solidFill>
                <a:latin typeface="Quattrocento Sans" pitchFamily="34" charset="0"/>
                <a:ea typeface="Quattrocento Sans" pitchFamily="34" charset="-122"/>
                <a:cs typeface="Quattrocento Sans" pitchFamily="34" charset="-120"/>
              </a:rPr>
              <a:t>Användargränssnitt</a:t>
            </a:r>
            <a:endParaRPr lang="en-US" sz="1600" dirty="0"/>
          </a:p>
        </p:txBody>
      </p:sp>
      <p:sp>
        <p:nvSpPr>
          <p:cNvPr id="18" name="Shape 15"/>
          <p:cNvSpPr/>
          <p:nvPr/>
        </p:nvSpPr>
        <p:spPr>
          <a:xfrm>
            <a:off x="762000" y="4445000"/>
            <a:ext cx="14732000" cy="1524000"/>
          </a:xfrm>
          <a:prstGeom prst="roundRect">
            <a:avLst>
              <a:gd name="adj" fmla="val 8000"/>
            </a:avLst>
          </a:prstGeom>
          <a:solidFill>
            <a:srgbClr val="0F2B46"/>
          </a:solidFill>
          <a:ln/>
        </p:spPr>
      </p:sp>
      <p:sp>
        <p:nvSpPr>
          <p:cNvPr id="19" name="Shape 16"/>
          <p:cNvSpPr/>
          <p:nvPr/>
        </p:nvSpPr>
        <p:spPr>
          <a:xfrm>
            <a:off x="1238250" y="4889500"/>
            <a:ext cx="571500" cy="508000"/>
          </a:xfrm>
          <a:custGeom>
            <a:avLst/>
            <a:gdLst/>
            <a:ahLst/>
            <a:cxnLst/>
            <a:rect l="l" t="t" r="r" b="b"/>
            <a:pathLst>
              <a:path w="571500" h="508000">
                <a:moveTo>
                  <a:pt x="381000" y="142875"/>
                </a:moveTo>
                <a:cubicBezTo>
                  <a:pt x="381000" y="239316"/>
                  <a:pt x="295672" y="317500"/>
                  <a:pt x="190500" y="317500"/>
                </a:cubicBezTo>
                <a:cubicBezTo>
                  <a:pt x="164009" y="317500"/>
                  <a:pt x="138807" y="312539"/>
                  <a:pt x="115888" y="303609"/>
                </a:cubicBezTo>
                <a:lnTo>
                  <a:pt x="34925" y="346472"/>
                </a:lnTo>
                <a:cubicBezTo>
                  <a:pt x="25698" y="351334"/>
                  <a:pt x="14387" y="349647"/>
                  <a:pt x="6945" y="342305"/>
                </a:cubicBezTo>
                <a:cubicBezTo>
                  <a:pt x="-496" y="334963"/>
                  <a:pt x="-2183" y="323552"/>
                  <a:pt x="2778" y="314325"/>
                </a:cubicBezTo>
                <a:lnTo>
                  <a:pt x="38100" y="247650"/>
                </a:lnTo>
                <a:cubicBezTo>
                  <a:pt x="14188" y="218480"/>
                  <a:pt x="0" y="182166"/>
                  <a:pt x="0" y="142875"/>
                </a:cubicBezTo>
                <a:cubicBezTo>
                  <a:pt x="0" y="46434"/>
                  <a:pt x="85328" y="-31750"/>
                  <a:pt x="190500" y="-31750"/>
                </a:cubicBezTo>
                <a:cubicBezTo>
                  <a:pt x="295672" y="-31750"/>
                  <a:pt x="381000" y="46434"/>
                  <a:pt x="381000" y="142875"/>
                </a:cubicBezTo>
                <a:close/>
                <a:moveTo>
                  <a:pt x="381000" y="508000"/>
                </a:moveTo>
                <a:cubicBezTo>
                  <a:pt x="287635" y="508000"/>
                  <a:pt x="209947" y="446385"/>
                  <a:pt x="193675" y="365125"/>
                </a:cubicBezTo>
                <a:cubicBezTo>
                  <a:pt x="312737" y="363637"/>
                  <a:pt x="416223" y="278904"/>
                  <a:pt x="427633" y="164009"/>
                </a:cubicBezTo>
                <a:cubicBezTo>
                  <a:pt x="510282" y="183059"/>
                  <a:pt x="571500" y="251619"/>
                  <a:pt x="571500" y="333375"/>
                </a:cubicBezTo>
                <a:cubicBezTo>
                  <a:pt x="571500" y="372666"/>
                  <a:pt x="557312" y="408980"/>
                  <a:pt x="533400" y="438150"/>
                </a:cubicBezTo>
                <a:lnTo>
                  <a:pt x="568722" y="504825"/>
                </a:lnTo>
                <a:cubicBezTo>
                  <a:pt x="573584" y="514052"/>
                  <a:pt x="571897" y="525363"/>
                  <a:pt x="564555" y="532805"/>
                </a:cubicBezTo>
                <a:cubicBezTo>
                  <a:pt x="557212" y="540246"/>
                  <a:pt x="545802" y="541933"/>
                  <a:pt x="536575" y="536972"/>
                </a:cubicBezTo>
                <a:lnTo>
                  <a:pt x="455612" y="494109"/>
                </a:lnTo>
                <a:cubicBezTo>
                  <a:pt x="432693" y="503039"/>
                  <a:pt x="407491" y="508000"/>
                  <a:pt x="381000" y="508000"/>
                </a:cubicBezTo>
                <a:close/>
              </a:path>
            </a:pathLst>
          </a:custGeom>
          <a:solidFill>
            <a:srgbClr val="D81B2E"/>
          </a:solidFill>
          <a:ln/>
        </p:spPr>
      </p:sp>
      <p:sp>
        <p:nvSpPr>
          <p:cNvPr id="20" name="Text 17"/>
          <p:cNvSpPr/>
          <p:nvPr/>
        </p:nvSpPr>
        <p:spPr>
          <a:xfrm>
            <a:off x="2032000" y="4635500"/>
            <a:ext cx="12954000" cy="1143000"/>
          </a:xfrm>
          <a:prstGeom prst="rect">
            <a:avLst/>
          </a:prstGeom>
          <a:noFill/>
          <a:ln/>
        </p:spPr>
        <p:txBody>
          <a:bodyPr wrap="square" lIns="0" tIns="0" rIns="0" bIns="0" rtlCol="0" anchor="ctr"/>
          <a:lstStyle/>
          <a:p>
            <a:pPr>
              <a:lnSpc>
                <a:spcPct val="150000"/>
              </a:lnSpc>
            </a:pPr>
            <a:r>
              <a:rPr lang="en-US" sz="2200" b="1" dirty="0">
                <a:solidFill>
                  <a:srgbClr val="FFFFFF"/>
                </a:solidFill>
                <a:latin typeface="Quattrocento Sans" pitchFamily="34" charset="0"/>
                <a:ea typeface="Quattrocento Sans" pitchFamily="34" charset="-122"/>
                <a:cs typeface="Quattrocento Sans" pitchFamily="34" charset="-120"/>
              </a:rPr>
              <a:t>ROS2 är ett sätt att få robotens delar att prata med varandra.</a:t>
            </a:r>
            <a:endParaRPr lang="en-US" sz="1600" dirty="0"/>
          </a:p>
          <a:p>
            <a:pPr>
              <a:lnSpc>
                <a:spcPct val="150000"/>
              </a:lnSpc>
              <a:spcBef>
                <a:spcPts val="400"/>
              </a:spcBef>
            </a:pPr>
            <a:r>
              <a:rPr lang="en-US" sz="1800" dirty="0">
                <a:solidFill>
                  <a:srgbClr val="B0BEC5"/>
                </a:solidFill>
                <a:latin typeface="Quattrocento Sans" pitchFamily="34" charset="0"/>
                <a:ea typeface="Quattrocento Sans" pitchFamily="34" charset="-122"/>
                <a:cs typeface="Quattrocento Sans" pitchFamily="34" charset="-120"/>
              </a:rPr>
              <a:t>Det är som en gemensam kommunikationsplattform för alla program i roboten.</a:t>
            </a:r>
            <a:endParaRPr lang="en-US" sz="1600" dirty="0"/>
          </a:p>
        </p:txBody>
      </p:sp>
      <p:pic>
        <p:nvPicPr>
          <p:cNvPr id="21"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2" name="Text 18"/>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en robot?</a:t>
            </a:r>
            <a:endParaRPr lang="en-US" sz="2800" dirty="0"/>
          </a:p>
        </p:txBody>
      </p:sp>
      <p:sp>
        <p:nvSpPr>
          <p:cNvPr id="5" name="Text 2"/>
          <p:cNvSpPr/>
          <p:nvPr/>
        </p:nvSpPr>
        <p:spPr>
          <a:xfrm>
            <a:off x="762000" y="1524000"/>
            <a:ext cx="14732000" cy="889000"/>
          </a:xfrm>
          <a:prstGeom prst="rect">
            <a:avLst/>
          </a:prstGeom>
          <a:noFill/>
          <a:ln/>
        </p:spPr>
        <p:txBody>
          <a:bodyPr wrap="square" lIns="0" tIns="0" rIns="0" bIns="0" rtlCol="0" anchor="t"/>
          <a:lstStyle/>
          <a:p>
            <a:pPr>
              <a:lnSpc>
                <a:spcPct val="150000"/>
              </a:lnSpc>
            </a:pPr>
            <a:r>
              <a:rPr lang="en-US" sz="2000" dirty="0">
                <a:solidFill>
                  <a:srgbClr val="1A2332"/>
                </a:solidFill>
                <a:latin typeface="QuattrocentoSans" pitchFamily="34" charset="0"/>
                <a:ea typeface="QuattrocentoSans" pitchFamily="34" charset="-122"/>
                <a:cs typeface="QuattrocentoSans" pitchFamily="34" charset="-120"/>
              </a:rPr>
              <a:t>En robot är ett tekniskt system som kan </a:t>
            </a:r>
            <a:r>
              <a:rPr lang="en-US" sz="2000" b="1" dirty="0">
                <a:solidFill>
                  <a:srgbClr val="1A2332"/>
                </a:solidFill>
                <a:latin typeface="QuattrocentoSans" pitchFamily="34" charset="0"/>
                <a:ea typeface="QuattrocentoSans" pitchFamily="34" charset="-122"/>
                <a:cs typeface="QuattrocentoSans" pitchFamily="34" charset="-120"/>
              </a:rPr>
              <a:t>känna av</a:t>
            </a:r>
            <a:r>
              <a:rPr lang="en-US" sz="2000" dirty="0">
                <a:solidFill>
                  <a:srgbClr val="1A2332"/>
                </a:solidFill>
                <a:latin typeface="QuattrocentoSans" pitchFamily="34" charset="0"/>
                <a:ea typeface="QuattrocentoSans" pitchFamily="34" charset="-122"/>
                <a:cs typeface="QuattrocentoSans" pitchFamily="34" charset="-120"/>
              </a:rPr>
              <a:t>, </a:t>
            </a:r>
            <a:r>
              <a:rPr lang="en-US" sz="2000" b="1" dirty="0">
                <a:solidFill>
                  <a:srgbClr val="1A2332"/>
                </a:solidFill>
                <a:latin typeface="QuattrocentoSans" pitchFamily="34" charset="0"/>
                <a:ea typeface="QuattrocentoSans" pitchFamily="34" charset="-122"/>
                <a:cs typeface="QuattrocentoSans" pitchFamily="34" charset="-120"/>
              </a:rPr>
              <a:t>tänka/bearbeta</a:t>
            </a:r>
            <a:r>
              <a:rPr lang="en-US" sz="2000" dirty="0">
                <a:solidFill>
                  <a:srgbClr val="1A2332"/>
                </a:solidFill>
                <a:latin typeface="QuattrocentoSans" pitchFamily="34" charset="0"/>
                <a:ea typeface="QuattrocentoSans" pitchFamily="34" charset="-122"/>
                <a:cs typeface="QuattrocentoSans" pitchFamily="34" charset="-120"/>
              </a:rPr>
              <a:t> och </a:t>
            </a:r>
            <a:r>
              <a:rPr lang="en-US" sz="2000" b="1" dirty="0">
                <a:solidFill>
                  <a:srgbClr val="1A2332"/>
                </a:solidFill>
                <a:latin typeface="QuattrocentoSans" pitchFamily="34" charset="0"/>
                <a:ea typeface="QuattrocentoSans" pitchFamily="34" charset="-122"/>
                <a:cs typeface="QuattrocentoSans" pitchFamily="34" charset="-120"/>
              </a:rPr>
              <a:t>agera</a:t>
            </a:r>
            <a:r>
              <a:rPr lang="en-US" sz="2000" dirty="0">
                <a:solidFill>
                  <a:srgbClr val="1A2332"/>
                </a:solidFill>
                <a:latin typeface="QuattrocentoSans" pitchFamily="34" charset="0"/>
                <a:ea typeface="QuattrocentoSans" pitchFamily="34" charset="-122"/>
                <a:cs typeface="QuattrocentoSans" pitchFamily="34" charset="-120"/>
              </a:rPr>
              <a:t>.</a:t>
            </a:r>
            <a:endParaRPr lang="en-US" sz="2000" dirty="0"/>
          </a:p>
        </p:txBody>
      </p:sp>
      <p:sp>
        <p:nvSpPr>
          <p:cNvPr id="6" name="Shape 3"/>
          <p:cNvSpPr/>
          <p:nvPr/>
        </p:nvSpPr>
        <p:spPr>
          <a:xfrm>
            <a:off x="762000" y="2794000"/>
            <a:ext cx="14732000" cy="3556000"/>
          </a:xfrm>
          <a:prstGeom prst="roundRect">
            <a:avLst>
              <a:gd name="adj" fmla="val 8000"/>
            </a:avLst>
          </a:prstGeom>
          <a:solidFill>
            <a:srgbClr val="FFFFFF"/>
          </a:solidFill>
          <a:ln w="12700">
            <a:solidFill>
              <a:srgbClr val="D0D5DD"/>
            </a:solidFill>
            <a:prstDash val="solid"/>
          </a:ln>
        </p:spPr>
      </p:sp>
      <p:sp>
        <p:nvSpPr>
          <p:cNvPr id="7" name="Shape 4"/>
          <p:cNvSpPr/>
          <p:nvPr/>
        </p:nvSpPr>
        <p:spPr>
          <a:xfrm>
            <a:off x="1524000" y="3429000"/>
            <a:ext cx="3556000" cy="2032000"/>
          </a:xfrm>
          <a:prstGeom prst="roundRect">
            <a:avLst>
              <a:gd name="adj" fmla="val 8000"/>
            </a:avLst>
          </a:prstGeom>
          <a:solidFill>
            <a:srgbClr val="0F2B46"/>
          </a:solidFill>
          <a:ln/>
        </p:spPr>
      </p:sp>
      <p:sp>
        <p:nvSpPr>
          <p:cNvPr id="8" name="Shape 5"/>
          <p:cNvSpPr/>
          <p:nvPr/>
        </p:nvSpPr>
        <p:spPr>
          <a:xfrm>
            <a:off x="2921000" y="3683000"/>
            <a:ext cx="762000" cy="762000"/>
          </a:xfrm>
          <a:custGeom>
            <a:avLst/>
            <a:gdLst/>
            <a:ahLst/>
            <a:cxnLst/>
            <a:rect l="l" t="t" r="r" b="b"/>
            <a:pathLst>
              <a:path w="762000" h="762000">
                <a:moveTo>
                  <a:pt x="345281" y="0"/>
                </a:moveTo>
                <a:cubicBezTo>
                  <a:pt x="575370" y="0"/>
                  <a:pt x="762000" y="186630"/>
                  <a:pt x="762000" y="416719"/>
                </a:cubicBezTo>
                <a:cubicBezTo>
                  <a:pt x="762000" y="436513"/>
                  <a:pt x="746075" y="452438"/>
                  <a:pt x="726281" y="452438"/>
                </a:cubicBezTo>
                <a:cubicBezTo>
                  <a:pt x="706487" y="452438"/>
                  <a:pt x="690563" y="436513"/>
                  <a:pt x="690563" y="416719"/>
                </a:cubicBezTo>
                <a:cubicBezTo>
                  <a:pt x="690563" y="226070"/>
                  <a:pt x="535930" y="71438"/>
                  <a:pt x="345281" y="71438"/>
                </a:cubicBezTo>
                <a:cubicBezTo>
                  <a:pt x="325487" y="71438"/>
                  <a:pt x="309563" y="55513"/>
                  <a:pt x="309563" y="35719"/>
                </a:cubicBezTo>
                <a:cubicBezTo>
                  <a:pt x="309563" y="15925"/>
                  <a:pt x="325487" y="0"/>
                  <a:pt x="345281" y="0"/>
                </a:cubicBezTo>
                <a:close/>
                <a:moveTo>
                  <a:pt x="309563" y="178594"/>
                </a:moveTo>
                <a:cubicBezTo>
                  <a:pt x="309563" y="158800"/>
                  <a:pt x="325487" y="142875"/>
                  <a:pt x="345281" y="142875"/>
                </a:cubicBezTo>
                <a:cubicBezTo>
                  <a:pt x="496491" y="142875"/>
                  <a:pt x="619125" y="265509"/>
                  <a:pt x="619125" y="416719"/>
                </a:cubicBezTo>
                <a:cubicBezTo>
                  <a:pt x="619125" y="436513"/>
                  <a:pt x="603200" y="452438"/>
                  <a:pt x="583406" y="452438"/>
                </a:cubicBezTo>
                <a:cubicBezTo>
                  <a:pt x="563612" y="452438"/>
                  <a:pt x="547687" y="436513"/>
                  <a:pt x="547687" y="416719"/>
                </a:cubicBezTo>
                <a:cubicBezTo>
                  <a:pt x="547687" y="304949"/>
                  <a:pt x="457051" y="214313"/>
                  <a:pt x="345281" y="214313"/>
                </a:cubicBezTo>
                <a:cubicBezTo>
                  <a:pt x="325487" y="214313"/>
                  <a:pt x="309563" y="198388"/>
                  <a:pt x="309563" y="178594"/>
                </a:cubicBezTo>
                <a:close/>
                <a:moveTo>
                  <a:pt x="39291" y="212378"/>
                </a:moveTo>
                <a:cubicBezTo>
                  <a:pt x="52388" y="185737"/>
                  <a:pt x="87511" y="182761"/>
                  <a:pt x="108496" y="203746"/>
                </a:cubicBezTo>
                <a:lnTo>
                  <a:pt x="299740" y="394990"/>
                </a:lnTo>
                <a:lnTo>
                  <a:pt x="347365" y="347365"/>
                </a:lnTo>
                <a:cubicBezTo>
                  <a:pt x="365968" y="328761"/>
                  <a:pt x="396180" y="328761"/>
                  <a:pt x="414784" y="347365"/>
                </a:cubicBezTo>
                <a:cubicBezTo>
                  <a:pt x="433388" y="365968"/>
                  <a:pt x="433388" y="396180"/>
                  <a:pt x="414784" y="414784"/>
                </a:cubicBezTo>
                <a:lnTo>
                  <a:pt x="367159" y="462409"/>
                </a:lnTo>
                <a:lnTo>
                  <a:pt x="558403" y="653653"/>
                </a:lnTo>
                <a:cubicBezTo>
                  <a:pt x="579388" y="674638"/>
                  <a:pt x="576262" y="709613"/>
                  <a:pt x="549771" y="722858"/>
                </a:cubicBezTo>
                <a:cubicBezTo>
                  <a:pt x="498872" y="748010"/>
                  <a:pt x="441722" y="762149"/>
                  <a:pt x="381149" y="762149"/>
                </a:cubicBezTo>
                <a:cubicBezTo>
                  <a:pt x="170706" y="762149"/>
                  <a:pt x="149" y="591592"/>
                  <a:pt x="149" y="381149"/>
                </a:cubicBezTo>
                <a:cubicBezTo>
                  <a:pt x="149" y="320576"/>
                  <a:pt x="14287" y="263277"/>
                  <a:pt x="39439" y="212527"/>
                </a:cubicBezTo>
                <a:close/>
              </a:path>
            </a:pathLst>
          </a:custGeom>
          <a:solidFill>
            <a:srgbClr val="FFFFFF"/>
          </a:solidFill>
          <a:ln/>
        </p:spPr>
      </p:sp>
      <p:sp>
        <p:nvSpPr>
          <p:cNvPr id="9" name="Text 6"/>
          <p:cNvSpPr/>
          <p:nvPr/>
        </p:nvSpPr>
        <p:spPr>
          <a:xfrm>
            <a:off x="1651000" y="4572000"/>
            <a:ext cx="3302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Sensorer</a:t>
            </a:r>
            <a:endParaRPr lang="en-US" sz="1600" dirty="0"/>
          </a:p>
        </p:txBody>
      </p:sp>
      <p:sp>
        <p:nvSpPr>
          <p:cNvPr id="10" name="Text 7"/>
          <p:cNvSpPr/>
          <p:nvPr/>
        </p:nvSpPr>
        <p:spPr>
          <a:xfrm>
            <a:off x="1651000" y="5080000"/>
            <a:ext cx="3302000" cy="317500"/>
          </a:xfrm>
          <a:prstGeom prst="rect">
            <a:avLst/>
          </a:prstGeom>
          <a:noFill/>
          <a:ln/>
        </p:spPr>
        <p:txBody>
          <a:bodyPr wrap="none" lIns="0" tIns="0" rIns="0" bIns="0" rtlCol="0" anchor="ctr"/>
          <a:lstStyle/>
          <a:p>
            <a:pPr algn="ctr">
              <a:lnSpc>
                <a:spcPct val="100000"/>
              </a:lnSpc>
            </a:pPr>
            <a:r>
              <a:rPr lang="en-US" sz="1400" dirty="0">
                <a:solidFill>
                  <a:srgbClr val="B0BEC5"/>
                </a:solidFill>
                <a:latin typeface="Quattrocento Sans" pitchFamily="34" charset="0"/>
                <a:ea typeface="Quattrocento Sans" pitchFamily="34" charset="-122"/>
                <a:cs typeface="Quattrocento Sans" pitchFamily="34" charset="-120"/>
              </a:rPr>
              <a:t>Känna av</a:t>
            </a:r>
            <a:endParaRPr lang="en-US" sz="1600" dirty="0"/>
          </a:p>
        </p:txBody>
      </p:sp>
      <p:sp>
        <p:nvSpPr>
          <p:cNvPr id="11" name="Shape 8"/>
          <p:cNvSpPr/>
          <p:nvPr/>
        </p:nvSpPr>
        <p:spPr>
          <a:xfrm>
            <a:off x="5334000" y="4318000"/>
            <a:ext cx="1270000" cy="0"/>
          </a:xfrm>
          <a:prstGeom prst="straightConnector1">
            <a:avLst/>
          </a:prstGeom>
          <a:noFill/>
          <a:ln w="38100">
            <a:solidFill>
              <a:srgbClr val="D81B2E"/>
            </a:solidFill>
            <a:prstDash val="solid"/>
            <a:headEnd type="none"/>
            <a:tailEnd type="arrow"/>
          </a:ln>
        </p:spPr>
      </p:sp>
      <p:sp>
        <p:nvSpPr>
          <p:cNvPr id="12" name="Shape 9"/>
          <p:cNvSpPr/>
          <p:nvPr/>
        </p:nvSpPr>
        <p:spPr>
          <a:xfrm>
            <a:off x="6858000" y="3429000"/>
            <a:ext cx="3556000" cy="2032000"/>
          </a:xfrm>
          <a:prstGeom prst="roundRect">
            <a:avLst>
              <a:gd name="adj" fmla="val 8000"/>
            </a:avLst>
          </a:prstGeom>
          <a:solidFill>
            <a:srgbClr val="0F2B46"/>
          </a:solidFill>
          <a:ln/>
        </p:spPr>
      </p:sp>
      <p:sp>
        <p:nvSpPr>
          <p:cNvPr id="13" name="Shape 10"/>
          <p:cNvSpPr/>
          <p:nvPr/>
        </p:nvSpPr>
        <p:spPr>
          <a:xfrm>
            <a:off x="8255000" y="3683000"/>
            <a:ext cx="762000" cy="762000"/>
          </a:xfrm>
          <a:custGeom>
            <a:avLst/>
            <a:gdLst/>
            <a:ahLst/>
            <a:cxnLst/>
            <a:rect l="l" t="t" r="r" b="b"/>
            <a:pathLst>
              <a:path w="762000" h="762000">
                <a:moveTo>
                  <a:pt x="178594" y="83344"/>
                </a:moveTo>
                <a:cubicBezTo>
                  <a:pt x="178594" y="37356"/>
                  <a:pt x="215950" y="0"/>
                  <a:pt x="261938" y="0"/>
                </a:cubicBezTo>
                <a:lnTo>
                  <a:pt x="297656" y="0"/>
                </a:lnTo>
                <a:cubicBezTo>
                  <a:pt x="323999" y="0"/>
                  <a:pt x="345281" y="21282"/>
                  <a:pt x="345281" y="47625"/>
                </a:cubicBezTo>
                <a:lnTo>
                  <a:pt x="345281" y="714375"/>
                </a:lnTo>
                <a:cubicBezTo>
                  <a:pt x="345281" y="740718"/>
                  <a:pt x="323999" y="762000"/>
                  <a:pt x="297656" y="762000"/>
                </a:cubicBezTo>
                <a:lnTo>
                  <a:pt x="250031" y="762000"/>
                </a:lnTo>
                <a:cubicBezTo>
                  <a:pt x="205680" y="762000"/>
                  <a:pt x="168325" y="731639"/>
                  <a:pt x="157758" y="690563"/>
                </a:cubicBezTo>
                <a:cubicBezTo>
                  <a:pt x="156716" y="690563"/>
                  <a:pt x="155823" y="690563"/>
                  <a:pt x="154781" y="690563"/>
                </a:cubicBezTo>
                <a:cubicBezTo>
                  <a:pt x="88999" y="690563"/>
                  <a:pt x="35719" y="637282"/>
                  <a:pt x="35719" y="571500"/>
                </a:cubicBezTo>
                <a:cubicBezTo>
                  <a:pt x="35719" y="544711"/>
                  <a:pt x="44648" y="520005"/>
                  <a:pt x="59531" y="500063"/>
                </a:cubicBezTo>
                <a:cubicBezTo>
                  <a:pt x="30659" y="478334"/>
                  <a:pt x="11906" y="443805"/>
                  <a:pt x="11906" y="404813"/>
                </a:cubicBezTo>
                <a:cubicBezTo>
                  <a:pt x="11906" y="358825"/>
                  <a:pt x="38100" y="318790"/>
                  <a:pt x="76200" y="298996"/>
                </a:cubicBezTo>
                <a:cubicBezTo>
                  <a:pt x="65633" y="281136"/>
                  <a:pt x="59531" y="260300"/>
                  <a:pt x="59531" y="238125"/>
                </a:cubicBezTo>
                <a:cubicBezTo>
                  <a:pt x="59531" y="172343"/>
                  <a:pt x="112812" y="119063"/>
                  <a:pt x="178594" y="119063"/>
                </a:cubicBezTo>
                <a:lnTo>
                  <a:pt x="178594" y="83344"/>
                </a:lnTo>
                <a:close/>
                <a:moveTo>
                  <a:pt x="583406" y="83344"/>
                </a:moveTo>
                <a:lnTo>
                  <a:pt x="583406" y="119063"/>
                </a:lnTo>
                <a:cubicBezTo>
                  <a:pt x="649188" y="119063"/>
                  <a:pt x="702469" y="172343"/>
                  <a:pt x="702469" y="238125"/>
                </a:cubicBezTo>
                <a:cubicBezTo>
                  <a:pt x="702469" y="260449"/>
                  <a:pt x="696367" y="281285"/>
                  <a:pt x="685800" y="298996"/>
                </a:cubicBezTo>
                <a:cubicBezTo>
                  <a:pt x="724049" y="318790"/>
                  <a:pt x="750094" y="358676"/>
                  <a:pt x="750094" y="404813"/>
                </a:cubicBezTo>
                <a:cubicBezTo>
                  <a:pt x="750094" y="443805"/>
                  <a:pt x="731341" y="478334"/>
                  <a:pt x="702469" y="500063"/>
                </a:cubicBezTo>
                <a:cubicBezTo>
                  <a:pt x="717352" y="520005"/>
                  <a:pt x="726281" y="544711"/>
                  <a:pt x="726281" y="571500"/>
                </a:cubicBezTo>
                <a:cubicBezTo>
                  <a:pt x="726281" y="637282"/>
                  <a:pt x="673001" y="690563"/>
                  <a:pt x="607219" y="690563"/>
                </a:cubicBezTo>
                <a:cubicBezTo>
                  <a:pt x="606177" y="690563"/>
                  <a:pt x="605284" y="690563"/>
                  <a:pt x="604242" y="690563"/>
                </a:cubicBezTo>
                <a:cubicBezTo>
                  <a:pt x="593675" y="731639"/>
                  <a:pt x="556320" y="762000"/>
                  <a:pt x="511969" y="762000"/>
                </a:cubicBezTo>
                <a:lnTo>
                  <a:pt x="464344" y="762000"/>
                </a:lnTo>
                <a:cubicBezTo>
                  <a:pt x="438001" y="762000"/>
                  <a:pt x="416719" y="740718"/>
                  <a:pt x="416719" y="714375"/>
                </a:cubicBezTo>
                <a:lnTo>
                  <a:pt x="416719" y="47625"/>
                </a:lnTo>
                <a:cubicBezTo>
                  <a:pt x="416719" y="21282"/>
                  <a:pt x="438001" y="0"/>
                  <a:pt x="464344" y="0"/>
                </a:cubicBezTo>
                <a:lnTo>
                  <a:pt x="500063" y="0"/>
                </a:lnTo>
                <a:cubicBezTo>
                  <a:pt x="546050" y="0"/>
                  <a:pt x="583406" y="37356"/>
                  <a:pt x="583406" y="83344"/>
                </a:cubicBezTo>
                <a:close/>
              </a:path>
            </a:pathLst>
          </a:custGeom>
          <a:solidFill>
            <a:srgbClr val="FFFFFF"/>
          </a:solidFill>
          <a:ln/>
        </p:spPr>
      </p:sp>
      <p:sp>
        <p:nvSpPr>
          <p:cNvPr id="14" name="Text 11"/>
          <p:cNvSpPr/>
          <p:nvPr/>
        </p:nvSpPr>
        <p:spPr>
          <a:xfrm>
            <a:off x="6985000" y="4572000"/>
            <a:ext cx="3302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Beslut</a:t>
            </a:r>
            <a:endParaRPr lang="en-US" sz="1600" dirty="0"/>
          </a:p>
        </p:txBody>
      </p:sp>
      <p:sp>
        <p:nvSpPr>
          <p:cNvPr id="15" name="Text 12"/>
          <p:cNvSpPr/>
          <p:nvPr/>
        </p:nvSpPr>
        <p:spPr>
          <a:xfrm>
            <a:off x="6985000" y="5080000"/>
            <a:ext cx="3302000" cy="317500"/>
          </a:xfrm>
          <a:prstGeom prst="rect">
            <a:avLst/>
          </a:prstGeom>
          <a:noFill/>
          <a:ln/>
        </p:spPr>
        <p:txBody>
          <a:bodyPr wrap="none" lIns="0" tIns="0" rIns="0" bIns="0" rtlCol="0" anchor="ctr"/>
          <a:lstStyle/>
          <a:p>
            <a:pPr algn="ctr">
              <a:lnSpc>
                <a:spcPct val="100000"/>
              </a:lnSpc>
            </a:pPr>
            <a:r>
              <a:rPr lang="en-US" sz="1400" dirty="0">
                <a:solidFill>
                  <a:srgbClr val="B0BEC5"/>
                </a:solidFill>
                <a:latin typeface="Quattrocento Sans" pitchFamily="34" charset="0"/>
                <a:ea typeface="Quattrocento Sans" pitchFamily="34" charset="-122"/>
                <a:cs typeface="Quattrocento Sans" pitchFamily="34" charset="-120"/>
              </a:rPr>
              <a:t>Tänka / Bearbeta</a:t>
            </a:r>
            <a:endParaRPr lang="en-US" sz="1600" dirty="0"/>
          </a:p>
        </p:txBody>
      </p:sp>
      <p:sp>
        <p:nvSpPr>
          <p:cNvPr id="16" name="Shape 13"/>
          <p:cNvSpPr/>
          <p:nvPr/>
        </p:nvSpPr>
        <p:spPr>
          <a:xfrm>
            <a:off x="10668000" y="4318000"/>
            <a:ext cx="1270000" cy="0"/>
          </a:xfrm>
          <a:prstGeom prst="straightConnector1">
            <a:avLst/>
          </a:prstGeom>
          <a:noFill/>
          <a:ln w="38100">
            <a:solidFill>
              <a:srgbClr val="D81B2E"/>
            </a:solidFill>
            <a:prstDash val="solid"/>
            <a:headEnd type="none"/>
            <a:tailEnd type="arrow"/>
          </a:ln>
        </p:spPr>
      </p:sp>
      <p:sp>
        <p:nvSpPr>
          <p:cNvPr id="17" name="Shape 14"/>
          <p:cNvSpPr/>
          <p:nvPr/>
        </p:nvSpPr>
        <p:spPr>
          <a:xfrm>
            <a:off x="12192000" y="3429000"/>
            <a:ext cx="2794000" cy="2032000"/>
          </a:xfrm>
          <a:prstGeom prst="roundRect">
            <a:avLst>
              <a:gd name="adj" fmla="val 8000"/>
            </a:avLst>
          </a:prstGeom>
          <a:solidFill>
            <a:srgbClr val="0F2B46"/>
          </a:solidFill>
          <a:ln/>
        </p:spPr>
      </p:sp>
      <p:sp>
        <p:nvSpPr>
          <p:cNvPr id="18" name="Shape 15"/>
          <p:cNvSpPr/>
          <p:nvPr/>
        </p:nvSpPr>
        <p:spPr>
          <a:xfrm>
            <a:off x="13303250" y="3683000"/>
            <a:ext cx="571500" cy="762000"/>
          </a:xfrm>
          <a:custGeom>
            <a:avLst/>
            <a:gdLst/>
            <a:ahLst/>
            <a:cxnLst/>
            <a:rect l="l" t="t" r="r" b="b"/>
            <a:pathLst>
              <a:path w="571500" h="762000">
                <a:moveTo>
                  <a:pt x="238125" y="0"/>
                </a:moveTo>
                <a:cubicBezTo>
                  <a:pt x="264468" y="0"/>
                  <a:pt x="285750" y="21282"/>
                  <a:pt x="285750" y="47625"/>
                </a:cubicBezTo>
                <a:lnTo>
                  <a:pt x="285750" y="214313"/>
                </a:lnTo>
                <a:lnTo>
                  <a:pt x="190500" y="214313"/>
                </a:lnTo>
                <a:lnTo>
                  <a:pt x="190500" y="47625"/>
                </a:lnTo>
                <a:cubicBezTo>
                  <a:pt x="190500" y="21282"/>
                  <a:pt x="211782" y="0"/>
                  <a:pt x="238125" y="0"/>
                </a:cubicBezTo>
                <a:close/>
                <a:moveTo>
                  <a:pt x="47625" y="95250"/>
                </a:moveTo>
                <a:cubicBezTo>
                  <a:pt x="47625" y="68907"/>
                  <a:pt x="68907" y="47625"/>
                  <a:pt x="95250" y="47625"/>
                </a:cubicBezTo>
                <a:cubicBezTo>
                  <a:pt x="121593" y="47625"/>
                  <a:pt x="142875" y="68907"/>
                  <a:pt x="142875" y="95250"/>
                </a:cubicBezTo>
                <a:lnTo>
                  <a:pt x="142875" y="214313"/>
                </a:lnTo>
                <a:lnTo>
                  <a:pt x="47625" y="214313"/>
                </a:lnTo>
                <a:lnTo>
                  <a:pt x="47625" y="95250"/>
                </a:lnTo>
                <a:close/>
                <a:moveTo>
                  <a:pt x="333375" y="95250"/>
                </a:moveTo>
                <a:cubicBezTo>
                  <a:pt x="333375" y="68907"/>
                  <a:pt x="354657" y="47625"/>
                  <a:pt x="381000" y="47625"/>
                </a:cubicBezTo>
                <a:cubicBezTo>
                  <a:pt x="407343" y="47625"/>
                  <a:pt x="428625" y="68907"/>
                  <a:pt x="428625" y="95250"/>
                </a:cubicBezTo>
                <a:lnTo>
                  <a:pt x="428625" y="238125"/>
                </a:lnTo>
                <a:cubicBezTo>
                  <a:pt x="428625" y="264468"/>
                  <a:pt x="407343" y="285750"/>
                  <a:pt x="381000" y="285750"/>
                </a:cubicBezTo>
                <a:cubicBezTo>
                  <a:pt x="354657" y="285750"/>
                  <a:pt x="333375" y="264468"/>
                  <a:pt x="333375" y="238125"/>
                </a:cubicBezTo>
                <a:lnTo>
                  <a:pt x="333375" y="95250"/>
                </a:lnTo>
                <a:close/>
                <a:moveTo>
                  <a:pt x="476250" y="190500"/>
                </a:moveTo>
                <a:cubicBezTo>
                  <a:pt x="476250" y="164157"/>
                  <a:pt x="497532" y="142875"/>
                  <a:pt x="523875" y="142875"/>
                </a:cubicBezTo>
                <a:cubicBezTo>
                  <a:pt x="550218" y="142875"/>
                  <a:pt x="571500" y="164157"/>
                  <a:pt x="571500" y="190500"/>
                </a:cubicBezTo>
                <a:lnTo>
                  <a:pt x="571500" y="285750"/>
                </a:lnTo>
                <a:cubicBezTo>
                  <a:pt x="571500" y="312093"/>
                  <a:pt x="550218" y="333375"/>
                  <a:pt x="523875" y="333375"/>
                </a:cubicBezTo>
                <a:cubicBezTo>
                  <a:pt x="497532" y="333375"/>
                  <a:pt x="476250" y="312093"/>
                  <a:pt x="476250" y="285750"/>
                </a:cubicBezTo>
                <a:lnTo>
                  <a:pt x="476250" y="190500"/>
                </a:lnTo>
                <a:close/>
                <a:moveTo>
                  <a:pt x="333375" y="321469"/>
                </a:moveTo>
                <a:lnTo>
                  <a:pt x="333375" y="320576"/>
                </a:lnTo>
                <a:cubicBezTo>
                  <a:pt x="347365" y="328613"/>
                  <a:pt x="363587" y="333375"/>
                  <a:pt x="381000" y="333375"/>
                </a:cubicBezTo>
                <a:cubicBezTo>
                  <a:pt x="400645" y="333375"/>
                  <a:pt x="418802" y="327422"/>
                  <a:pt x="433983" y="317302"/>
                </a:cubicBezTo>
                <a:cubicBezTo>
                  <a:pt x="446931" y="354360"/>
                  <a:pt x="482352" y="381000"/>
                  <a:pt x="523875" y="381000"/>
                </a:cubicBezTo>
                <a:cubicBezTo>
                  <a:pt x="541288" y="381000"/>
                  <a:pt x="557510" y="376386"/>
                  <a:pt x="571500" y="368201"/>
                </a:cubicBezTo>
                <a:lnTo>
                  <a:pt x="571500" y="381000"/>
                </a:lnTo>
                <a:cubicBezTo>
                  <a:pt x="571500" y="458837"/>
                  <a:pt x="534144" y="528042"/>
                  <a:pt x="476250" y="571500"/>
                </a:cubicBezTo>
                <a:lnTo>
                  <a:pt x="476250" y="714375"/>
                </a:lnTo>
                <a:cubicBezTo>
                  <a:pt x="476250" y="740718"/>
                  <a:pt x="454968" y="762000"/>
                  <a:pt x="428625" y="762000"/>
                </a:cubicBezTo>
                <a:lnTo>
                  <a:pt x="190500" y="762000"/>
                </a:lnTo>
                <a:cubicBezTo>
                  <a:pt x="164157" y="762000"/>
                  <a:pt x="142875" y="740718"/>
                  <a:pt x="142875" y="714375"/>
                </a:cubicBezTo>
                <a:lnTo>
                  <a:pt x="142875" y="597694"/>
                </a:lnTo>
                <a:cubicBezTo>
                  <a:pt x="117128" y="585936"/>
                  <a:pt x="93464" y="569714"/>
                  <a:pt x="73075" y="549325"/>
                </a:cubicBezTo>
                <a:lnTo>
                  <a:pt x="55811" y="532061"/>
                </a:lnTo>
                <a:cubicBezTo>
                  <a:pt x="20092" y="496342"/>
                  <a:pt x="0" y="447824"/>
                  <a:pt x="0" y="397371"/>
                </a:cubicBezTo>
                <a:lnTo>
                  <a:pt x="0" y="357188"/>
                </a:lnTo>
                <a:cubicBezTo>
                  <a:pt x="0" y="304651"/>
                  <a:pt x="42714" y="261938"/>
                  <a:pt x="95250" y="261938"/>
                </a:cubicBezTo>
                <a:lnTo>
                  <a:pt x="226219" y="261938"/>
                </a:lnTo>
                <a:cubicBezTo>
                  <a:pt x="259110" y="261938"/>
                  <a:pt x="285750" y="288578"/>
                  <a:pt x="285750" y="321469"/>
                </a:cubicBezTo>
                <a:cubicBezTo>
                  <a:pt x="285750" y="354360"/>
                  <a:pt x="259110" y="381000"/>
                  <a:pt x="226219" y="381000"/>
                </a:cubicBezTo>
                <a:lnTo>
                  <a:pt x="142875" y="381000"/>
                </a:lnTo>
                <a:cubicBezTo>
                  <a:pt x="129778" y="381000"/>
                  <a:pt x="119063" y="391716"/>
                  <a:pt x="119063" y="404813"/>
                </a:cubicBezTo>
                <a:cubicBezTo>
                  <a:pt x="119063" y="417909"/>
                  <a:pt x="129778" y="428625"/>
                  <a:pt x="142875" y="428625"/>
                </a:cubicBezTo>
                <a:lnTo>
                  <a:pt x="226219" y="428625"/>
                </a:lnTo>
                <a:cubicBezTo>
                  <a:pt x="285452" y="428625"/>
                  <a:pt x="333375" y="380702"/>
                  <a:pt x="333375" y="321469"/>
                </a:cubicBezTo>
                <a:close/>
              </a:path>
            </a:pathLst>
          </a:custGeom>
          <a:solidFill>
            <a:srgbClr val="FFFFFF"/>
          </a:solidFill>
          <a:ln/>
        </p:spPr>
      </p:sp>
      <p:sp>
        <p:nvSpPr>
          <p:cNvPr id="19" name="Text 16"/>
          <p:cNvSpPr/>
          <p:nvPr/>
        </p:nvSpPr>
        <p:spPr>
          <a:xfrm>
            <a:off x="12319000" y="4572000"/>
            <a:ext cx="2540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Rörelse</a:t>
            </a:r>
            <a:endParaRPr lang="en-US" sz="1600" dirty="0"/>
          </a:p>
        </p:txBody>
      </p:sp>
      <p:sp>
        <p:nvSpPr>
          <p:cNvPr id="20" name="Text 17"/>
          <p:cNvSpPr/>
          <p:nvPr/>
        </p:nvSpPr>
        <p:spPr>
          <a:xfrm>
            <a:off x="12319000" y="5080000"/>
            <a:ext cx="2540000" cy="317500"/>
          </a:xfrm>
          <a:prstGeom prst="rect">
            <a:avLst/>
          </a:prstGeom>
          <a:noFill/>
          <a:ln/>
        </p:spPr>
        <p:txBody>
          <a:bodyPr wrap="none" lIns="0" tIns="0" rIns="0" bIns="0" rtlCol="0" anchor="ctr"/>
          <a:lstStyle/>
          <a:p>
            <a:pPr algn="ctr">
              <a:lnSpc>
                <a:spcPct val="100000"/>
              </a:lnSpc>
            </a:pPr>
            <a:r>
              <a:rPr lang="en-US" sz="1400" dirty="0">
                <a:solidFill>
                  <a:srgbClr val="B0BEC5"/>
                </a:solidFill>
                <a:latin typeface="Quattrocento Sans" pitchFamily="34" charset="0"/>
                <a:ea typeface="Quattrocento Sans" pitchFamily="34" charset="-122"/>
                <a:cs typeface="Quattrocento Sans" pitchFamily="34" charset="-120"/>
              </a:rPr>
              <a:t>Handla</a:t>
            </a:r>
            <a:endParaRPr lang="en-US" sz="1600" dirty="0"/>
          </a:p>
        </p:txBody>
      </p:sp>
      <p:pic>
        <p:nvPicPr>
          <p:cNvPr id="21"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2" name="Text 18"/>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03</a:t>
            </a:r>
            <a:endParaRPr lang="en-US" sz="14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En robot är inte ett enda program</a:t>
            </a:r>
            <a:endParaRPr lang="en-US" sz="2800" dirty="0"/>
          </a:p>
        </p:txBody>
      </p:sp>
      <p:sp>
        <p:nvSpPr>
          <p:cNvPr id="5" name="Text 2"/>
          <p:cNvSpPr/>
          <p:nvPr/>
        </p:nvSpPr>
        <p:spPr>
          <a:xfrm>
            <a:off x="762000" y="1460500"/>
            <a:ext cx="14732000" cy="444500"/>
          </a:xfrm>
          <a:prstGeom prst="rect">
            <a:avLst/>
          </a:prstGeom>
          <a:noFill/>
          <a:ln/>
        </p:spPr>
        <p:txBody>
          <a:bodyPr wrap="square" lIns="0" tIns="0" rIns="0" bIns="0" rtlCol="0" anchor="ctr"/>
          <a:lstStyle/>
          <a:p>
            <a:pPr>
              <a:lnSpc>
                <a:spcPct val="140000"/>
              </a:lnSpc>
            </a:pPr>
            <a:r>
              <a:rPr lang="en-US" sz="2000" dirty="0">
                <a:solidFill>
                  <a:srgbClr val="6B7B8D"/>
                </a:solidFill>
                <a:latin typeface="QuattrocentoSans" pitchFamily="34" charset="0"/>
                <a:ea typeface="QuattrocentoSans" pitchFamily="34" charset="-122"/>
                <a:cs typeface="QuattrocentoSans" pitchFamily="34" charset="-120"/>
              </a:rPr>
              <a:t>En riktig robot har </a:t>
            </a:r>
            <a:r>
              <a:rPr lang="en-US" sz="2000" b="1" dirty="0">
                <a:solidFill>
                  <a:srgbClr val="6B7B8D"/>
                </a:solidFill>
                <a:latin typeface="QuattrocentoSans" pitchFamily="34" charset="0"/>
                <a:ea typeface="QuattrocentoSans" pitchFamily="34" charset="-122"/>
                <a:cs typeface="QuattrocentoSans" pitchFamily="34" charset="-120"/>
              </a:rPr>
              <a:t>många program</a:t>
            </a:r>
            <a:r>
              <a:rPr lang="en-US" sz="2000" dirty="0">
                <a:solidFill>
                  <a:srgbClr val="6B7B8D"/>
                </a:solidFill>
                <a:latin typeface="QuattrocentoSans" pitchFamily="34" charset="0"/>
                <a:ea typeface="QuattrocentoSans" pitchFamily="34" charset="-122"/>
                <a:cs typeface="QuattrocentoSans" pitchFamily="34" charset="-120"/>
              </a:rPr>
              <a:t> som körs samtidigt:</a:t>
            </a:r>
            <a:endParaRPr lang="en-US" sz="2000" dirty="0"/>
          </a:p>
        </p:txBody>
      </p:sp>
      <p:sp>
        <p:nvSpPr>
          <p:cNvPr id="6" name="Shape 3"/>
          <p:cNvSpPr/>
          <p:nvPr/>
        </p:nvSpPr>
        <p:spPr>
          <a:xfrm>
            <a:off x="762000" y="2222500"/>
            <a:ext cx="4699000" cy="1143000"/>
          </a:xfrm>
          <a:prstGeom prst="roundRect">
            <a:avLst>
              <a:gd name="adj" fmla="val 8000"/>
            </a:avLst>
          </a:prstGeom>
          <a:solidFill>
            <a:srgbClr val="FFFFFF"/>
          </a:solidFill>
          <a:ln w="12700">
            <a:solidFill>
              <a:srgbClr val="D0D5DD"/>
            </a:solidFill>
            <a:prstDash val="solid"/>
          </a:ln>
        </p:spPr>
      </p:sp>
      <p:sp>
        <p:nvSpPr>
          <p:cNvPr id="7" name="Shape 4"/>
          <p:cNvSpPr/>
          <p:nvPr/>
        </p:nvSpPr>
        <p:spPr>
          <a:xfrm>
            <a:off x="1016000" y="2540000"/>
            <a:ext cx="457200" cy="457200"/>
          </a:xfrm>
          <a:custGeom>
            <a:avLst/>
            <a:gdLst/>
            <a:ahLst/>
            <a:cxnLst/>
            <a:rect l="l" t="t" r="r" b="b"/>
            <a:pathLst>
              <a:path w="457200" h="457200">
                <a:moveTo>
                  <a:pt x="133142" y="57864"/>
                </a:moveTo>
                <a:lnTo>
                  <a:pt x="123855" y="85725"/>
                </a:lnTo>
                <a:lnTo>
                  <a:pt x="57150" y="85725"/>
                </a:lnTo>
                <a:cubicBezTo>
                  <a:pt x="25628" y="85725"/>
                  <a:pt x="0" y="111353"/>
                  <a:pt x="0" y="142875"/>
                </a:cubicBezTo>
                <a:lnTo>
                  <a:pt x="0" y="371475"/>
                </a:lnTo>
                <a:cubicBezTo>
                  <a:pt x="0" y="402997"/>
                  <a:pt x="25628" y="428625"/>
                  <a:pt x="57150" y="428625"/>
                </a:cubicBezTo>
                <a:lnTo>
                  <a:pt x="400050" y="428625"/>
                </a:lnTo>
                <a:cubicBezTo>
                  <a:pt x="431572" y="428625"/>
                  <a:pt x="457200" y="402997"/>
                  <a:pt x="457200" y="371475"/>
                </a:cubicBezTo>
                <a:lnTo>
                  <a:pt x="457200" y="142875"/>
                </a:lnTo>
                <a:cubicBezTo>
                  <a:pt x="457200" y="111353"/>
                  <a:pt x="431572" y="85725"/>
                  <a:pt x="400050" y="85725"/>
                </a:cubicBezTo>
                <a:lnTo>
                  <a:pt x="333345" y="85725"/>
                </a:lnTo>
                <a:lnTo>
                  <a:pt x="324058" y="57864"/>
                </a:lnTo>
                <a:cubicBezTo>
                  <a:pt x="318254" y="40362"/>
                  <a:pt x="301913" y="28575"/>
                  <a:pt x="283428" y="28575"/>
                </a:cubicBezTo>
                <a:lnTo>
                  <a:pt x="173772" y="28575"/>
                </a:lnTo>
                <a:cubicBezTo>
                  <a:pt x="155287" y="28575"/>
                  <a:pt x="138946" y="40362"/>
                  <a:pt x="133142" y="57864"/>
                </a:cubicBezTo>
                <a:close/>
                <a:moveTo>
                  <a:pt x="228600" y="171450"/>
                </a:moveTo>
                <a:cubicBezTo>
                  <a:pt x="275913" y="171450"/>
                  <a:pt x="314325" y="209862"/>
                  <a:pt x="314325" y="257175"/>
                </a:cubicBezTo>
                <a:cubicBezTo>
                  <a:pt x="314325" y="304488"/>
                  <a:pt x="275913" y="342900"/>
                  <a:pt x="228600" y="342900"/>
                </a:cubicBezTo>
                <a:cubicBezTo>
                  <a:pt x="181287" y="342900"/>
                  <a:pt x="142875" y="304488"/>
                  <a:pt x="142875" y="257175"/>
                </a:cubicBezTo>
                <a:cubicBezTo>
                  <a:pt x="142875" y="209862"/>
                  <a:pt x="181287" y="171450"/>
                  <a:pt x="228600" y="171450"/>
                </a:cubicBezTo>
                <a:close/>
              </a:path>
            </a:pathLst>
          </a:custGeom>
          <a:solidFill>
            <a:srgbClr val="0F2B46"/>
          </a:solidFill>
          <a:ln/>
        </p:spPr>
      </p:sp>
      <p:sp>
        <p:nvSpPr>
          <p:cNvPr id="8" name="Text 5"/>
          <p:cNvSpPr/>
          <p:nvPr/>
        </p:nvSpPr>
        <p:spPr>
          <a:xfrm>
            <a:off x="1651000" y="26035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Kamera</a:t>
            </a:r>
            <a:endParaRPr lang="en-US" sz="1600" dirty="0"/>
          </a:p>
        </p:txBody>
      </p:sp>
      <p:sp>
        <p:nvSpPr>
          <p:cNvPr id="9" name="Shape 6"/>
          <p:cNvSpPr/>
          <p:nvPr/>
        </p:nvSpPr>
        <p:spPr>
          <a:xfrm>
            <a:off x="5778500" y="2222500"/>
            <a:ext cx="4699000" cy="1143000"/>
          </a:xfrm>
          <a:prstGeom prst="roundRect">
            <a:avLst>
              <a:gd name="adj" fmla="val 8000"/>
            </a:avLst>
          </a:prstGeom>
          <a:solidFill>
            <a:srgbClr val="FFFFFF"/>
          </a:solidFill>
          <a:ln w="12700">
            <a:solidFill>
              <a:srgbClr val="D0D5DD"/>
            </a:solidFill>
            <a:prstDash val="solid"/>
          </a:ln>
        </p:spPr>
      </p:sp>
      <p:sp>
        <p:nvSpPr>
          <p:cNvPr id="10" name="Shape 7"/>
          <p:cNvSpPr/>
          <p:nvPr/>
        </p:nvSpPr>
        <p:spPr>
          <a:xfrm>
            <a:off x="5975350" y="2540000"/>
            <a:ext cx="571500" cy="457200"/>
          </a:xfrm>
          <a:custGeom>
            <a:avLst/>
            <a:gdLst/>
            <a:ahLst/>
            <a:cxnLst/>
            <a:rect l="l" t="t" r="r" b="b"/>
            <a:pathLst>
              <a:path w="571500" h="457200">
                <a:moveTo>
                  <a:pt x="371386" y="187970"/>
                </a:moveTo>
                <a:cubicBezTo>
                  <a:pt x="382280" y="185023"/>
                  <a:pt x="393710" y="190202"/>
                  <a:pt x="398621" y="200293"/>
                </a:cubicBezTo>
                <a:lnTo>
                  <a:pt x="415230" y="233869"/>
                </a:lnTo>
                <a:cubicBezTo>
                  <a:pt x="424428" y="235119"/>
                  <a:pt x="433447" y="237619"/>
                  <a:pt x="441930" y="241102"/>
                </a:cubicBezTo>
                <a:lnTo>
                  <a:pt x="473184" y="220295"/>
                </a:lnTo>
                <a:cubicBezTo>
                  <a:pt x="482560" y="214045"/>
                  <a:pt x="494973" y="215295"/>
                  <a:pt x="502920" y="223242"/>
                </a:cubicBezTo>
                <a:lnTo>
                  <a:pt x="520065" y="240387"/>
                </a:lnTo>
                <a:cubicBezTo>
                  <a:pt x="528012" y="248335"/>
                  <a:pt x="529263" y="260836"/>
                  <a:pt x="523012" y="270123"/>
                </a:cubicBezTo>
                <a:lnTo>
                  <a:pt x="502206" y="301288"/>
                </a:lnTo>
                <a:cubicBezTo>
                  <a:pt x="503902" y="305485"/>
                  <a:pt x="505420" y="309860"/>
                  <a:pt x="506670" y="314414"/>
                </a:cubicBezTo>
                <a:cubicBezTo>
                  <a:pt x="507921" y="318968"/>
                  <a:pt x="508724" y="323433"/>
                  <a:pt x="509349" y="327987"/>
                </a:cubicBezTo>
                <a:lnTo>
                  <a:pt x="543014" y="344597"/>
                </a:lnTo>
                <a:cubicBezTo>
                  <a:pt x="553105" y="349597"/>
                  <a:pt x="558284" y="361027"/>
                  <a:pt x="555337" y="371832"/>
                </a:cubicBezTo>
                <a:lnTo>
                  <a:pt x="549086" y="395228"/>
                </a:lnTo>
                <a:cubicBezTo>
                  <a:pt x="546140" y="406033"/>
                  <a:pt x="536049" y="413355"/>
                  <a:pt x="524798" y="412641"/>
                </a:cubicBezTo>
                <a:lnTo>
                  <a:pt x="487293" y="410230"/>
                </a:lnTo>
                <a:cubicBezTo>
                  <a:pt x="481667" y="417463"/>
                  <a:pt x="475149" y="424160"/>
                  <a:pt x="467737" y="429875"/>
                </a:cubicBezTo>
                <a:lnTo>
                  <a:pt x="470148" y="467291"/>
                </a:lnTo>
                <a:cubicBezTo>
                  <a:pt x="470862" y="478542"/>
                  <a:pt x="463540" y="488722"/>
                  <a:pt x="452735" y="491579"/>
                </a:cubicBezTo>
                <a:lnTo>
                  <a:pt x="429339" y="497830"/>
                </a:lnTo>
                <a:cubicBezTo>
                  <a:pt x="418445" y="500777"/>
                  <a:pt x="407104" y="495598"/>
                  <a:pt x="402104" y="485507"/>
                </a:cubicBezTo>
                <a:lnTo>
                  <a:pt x="385495" y="451931"/>
                </a:lnTo>
                <a:cubicBezTo>
                  <a:pt x="376297" y="450681"/>
                  <a:pt x="367278" y="448181"/>
                  <a:pt x="358795" y="444698"/>
                </a:cubicBezTo>
                <a:lnTo>
                  <a:pt x="327541" y="465505"/>
                </a:lnTo>
                <a:cubicBezTo>
                  <a:pt x="318165" y="471755"/>
                  <a:pt x="305753" y="470505"/>
                  <a:pt x="297805" y="462558"/>
                </a:cubicBezTo>
                <a:lnTo>
                  <a:pt x="280660" y="445413"/>
                </a:lnTo>
                <a:cubicBezTo>
                  <a:pt x="272713" y="437465"/>
                  <a:pt x="271463" y="425053"/>
                  <a:pt x="277713" y="415677"/>
                </a:cubicBezTo>
                <a:lnTo>
                  <a:pt x="298519" y="384423"/>
                </a:lnTo>
                <a:cubicBezTo>
                  <a:pt x="296823" y="380226"/>
                  <a:pt x="295305" y="375851"/>
                  <a:pt x="294055" y="371296"/>
                </a:cubicBezTo>
                <a:cubicBezTo>
                  <a:pt x="292804" y="366742"/>
                  <a:pt x="292001" y="362188"/>
                  <a:pt x="291376" y="357723"/>
                </a:cubicBezTo>
                <a:lnTo>
                  <a:pt x="257711" y="341114"/>
                </a:lnTo>
                <a:cubicBezTo>
                  <a:pt x="247620" y="336113"/>
                  <a:pt x="242530" y="324683"/>
                  <a:pt x="245388" y="313879"/>
                </a:cubicBezTo>
                <a:lnTo>
                  <a:pt x="251639" y="290483"/>
                </a:lnTo>
                <a:cubicBezTo>
                  <a:pt x="254585" y="279678"/>
                  <a:pt x="264676" y="272355"/>
                  <a:pt x="275927" y="273070"/>
                </a:cubicBezTo>
                <a:lnTo>
                  <a:pt x="313343" y="275481"/>
                </a:lnTo>
                <a:cubicBezTo>
                  <a:pt x="318968" y="268248"/>
                  <a:pt x="325487" y="261551"/>
                  <a:pt x="332899" y="255836"/>
                </a:cubicBezTo>
                <a:lnTo>
                  <a:pt x="330488" y="218509"/>
                </a:lnTo>
                <a:cubicBezTo>
                  <a:pt x="329773" y="207258"/>
                  <a:pt x="337096" y="197078"/>
                  <a:pt x="347901" y="194221"/>
                </a:cubicBezTo>
                <a:lnTo>
                  <a:pt x="371296" y="187970"/>
                </a:lnTo>
                <a:close/>
                <a:moveTo>
                  <a:pt x="400407" y="303609"/>
                </a:moveTo>
                <a:cubicBezTo>
                  <a:pt x="378722" y="303634"/>
                  <a:pt x="361137" y="321260"/>
                  <a:pt x="361161" y="342945"/>
                </a:cubicBezTo>
                <a:cubicBezTo>
                  <a:pt x="361186" y="364630"/>
                  <a:pt x="378811" y="382215"/>
                  <a:pt x="400496" y="382191"/>
                </a:cubicBezTo>
                <a:cubicBezTo>
                  <a:pt x="422182" y="382166"/>
                  <a:pt x="439767" y="364540"/>
                  <a:pt x="439742" y="342855"/>
                </a:cubicBezTo>
                <a:cubicBezTo>
                  <a:pt x="439718" y="321170"/>
                  <a:pt x="422092" y="303585"/>
                  <a:pt x="400407" y="303609"/>
                </a:cubicBezTo>
                <a:close/>
                <a:moveTo>
                  <a:pt x="200829" y="-40630"/>
                </a:moveTo>
                <a:lnTo>
                  <a:pt x="224224" y="-34379"/>
                </a:lnTo>
                <a:cubicBezTo>
                  <a:pt x="235029" y="-31433"/>
                  <a:pt x="242352" y="-21253"/>
                  <a:pt x="241637" y="-10091"/>
                </a:cubicBezTo>
                <a:lnTo>
                  <a:pt x="239226" y="27236"/>
                </a:lnTo>
                <a:cubicBezTo>
                  <a:pt x="246638" y="32951"/>
                  <a:pt x="253157" y="39559"/>
                  <a:pt x="258782" y="46881"/>
                </a:cubicBezTo>
                <a:lnTo>
                  <a:pt x="296287" y="44470"/>
                </a:lnTo>
                <a:cubicBezTo>
                  <a:pt x="307449" y="43755"/>
                  <a:pt x="317629" y="51078"/>
                  <a:pt x="320576" y="61883"/>
                </a:cubicBezTo>
                <a:lnTo>
                  <a:pt x="326827" y="85279"/>
                </a:lnTo>
                <a:cubicBezTo>
                  <a:pt x="329684" y="96083"/>
                  <a:pt x="324594" y="107513"/>
                  <a:pt x="314504" y="112514"/>
                </a:cubicBezTo>
                <a:lnTo>
                  <a:pt x="280839" y="129123"/>
                </a:lnTo>
                <a:cubicBezTo>
                  <a:pt x="280214" y="133677"/>
                  <a:pt x="279321" y="138232"/>
                  <a:pt x="278160" y="142696"/>
                </a:cubicBezTo>
                <a:cubicBezTo>
                  <a:pt x="276999" y="147161"/>
                  <a:pt x="275392" y="151626"/>
                  <a:pt x="273695" y="155823"/>
                </a:cubicBezTo>
                <a:lnTo>
                  <a:pt x="294501" y="187077"/>
                </a:lnTo>
                <a:cubicBezTo>
                  <a:pt x="300752" y="196453"/>
                  <a:pt x="299502" y="208865"/>
                  <a:pt x="291554" y="216813"/>
                </a:cubicBezTo>
                <a:lnTo>
                  <a:pt x="274409" y="233958"/>
                </a:lnTo>
                <a:cubicBezTo>
                  <a:pt x="266462" y="241905"/>
                  <a:pt x="254050" y="243155"/>
                  <a:pt x="244673" y="236905"/>
                </a:cubicBezTo>
                <a:lnTo>
                  <a:pt x="213420" y="216098"/>
                </a:lnTo>
                <a:cubicBezTo>
                  <a:pt x="204936" y="219581"/>
                  <a:pt x="195917" y="222081"/>
                  <a:pt x="186720" y="223331"/>
                </a:cubicBezTo>
                <a:lnTo>
                  <a:pt x="170111" y="256907"/>
                </a:lnTo>
                <a:cubicBezTo>
                  <a:pt x="165110" y="266998"/>
                  <a:pt x="153680" y="272088"/>
                  <a:pt x="142875" y="269230"/>
                </a:cubicBezTo>
                <a:lnTo>
                  <a:pt x="119479" y="262979"/>
                </a:lnTo>
                <a:cubicBezTo>
                  <a:pt x="108585" y="260033"/>
                  <a:pt x="101352" y="249853"/>
                  <a:pt x="102066" y="238691"/>
                </a:cubicBezTo>
                <a:lnTo>
                  <a:pt x="104477" y="201275"/>
                </a:lnTo>
                <a:cubicBezTo>
                  <a:pt x="97066" y="195560"/>
                  <a:pt x="90547" y="188952"/>
                  <a:pt x="84921" y="181630"/>
                </a:cubicBezTo>
                <a:lnTo>
                  <a:pt x="47417" y="184041"/>
                </a:lnTo>
                <a:cubicBezTo>
                  <a:pt x="36255" y="184755"/>
                  <a:pt x="26075" y="177433"/>
                  <a:pt x="23128" y="166628"/>
                </a:cubicBezTo>
                <a:lnTo>
                  <a:pt x="16877" y="143232"/>
                </a:lnTo>
                <a:cubicBezTo>
                  <a:pt x="14020" y="132427"/>
                  <a:pt x="19110" y="120997"/>
                  <a:pt x="29200" y="115997"/>
                </a:cubicBezTo>
                <a:lnTo>
                  <a:pt x="62865" y="99387"/>
                </a:lnTo>
                <a:cubicBezTo>
                  <a:pt x="63490" y="94833"/>
                  <a:pt x="64383" y="90368"/>
                  <a:pt x="65544" y="85814"/>
                </a:cubicBezTo>
                <a:cubicBezTo>
                  <a:pt x="66794" y="81260"/>
                  <a:pt x="68223" y="76885"/>
                  <a:pt x="70009" y="72688"/>
                </a:cubicBezTo>
                <a:lnTo>
                  <a:pt x="49203" y="41523"/>
                </a:lnTo>
                <a:cubicBezTo>
                  <a:pt x="42952" y="32147"/>
                  <a:pt x="44202" y="19735"/>
                  <a:pt x="52149" y="11787"/>
                </a:cubicBezTo>
                <a:lnTo>
                  <a:pt x="69294" y="-5358"/>
                </a:lnTo>
                <a:cubicBezTo>
                  <a:pt x="77242" y="-13305"/>
                  <a:pt x="89654" y="-14555"/>
                  <a:pt x="99030" y="-8305"/>
                </a:cubicBezTo>
                <a:lnTo>
                  <a:pt x="130284" y="12502"/>
                </a:lnTo>
                <a:cubicBezTo>
                  <a:pt x="138767" y="9019"/>
                  <a:pt x="147786" y="6519"/>
                  <a:pt x="156984" y="5269"/>
                </a:cubicBezTo>
                <a:lnTo>
                  <a:pt x="173593" y="-28307"/>
                </a:lnTo>
                <a:cubicBezTo>
                  <a:pt x="178594" y="-38398"/>
                  <a:pt x="189934" y="-43488"/>
                  <a:pt x="200829" y="-40630"/>
                </a:cubicBezTo>
                <a:close/>
                <a:moveTo>
                  <a:pt x="171807" y="75009"/>
                </a:moveTo>
                <a:cubicBezTo>
                  <a:pt x="150122" y="75009"/>
                  <a:pt x="132517" y="92615"/>
                  <a:pt x="132517" y="114300"/>
                </a:cubicBezTo>
                <a:cubicBezTo>
                  <a:pt x="132517" y="135985"/>
                  <a:pt x="150122" y="153591"/>
                  <a:pt x="171807" y="153591"/>
                </a:cubicBezTo>
                <a:cubicBezTo>
                  <a:pt x="193492" y="153591"/>
                  <a:pt x="211098" y="135985"/>
                  <a:pt x="211098" y="114300"/>
                </a:cubicBezTo>
                <a:cubicBezTo>
                  <a:pt x="211098" y="92615"/>
                  <a:pt x="193492" y="75009"/>
                  <a:pt x="171807" y="75009"/>
                </a:cubicBezTo>
                <a:close/>
              </a:path>
            </a:pathLst>
          </a:custGeom>
          <a:solidFill>
            <a:srgbClr val="0F2B46"/>
          </a:solidFill>
          <a:ln/>
        </p:spPr>
      </p:sp>
      <p:sp>
        <p:nvSpPr>
          <p:cNvPr id="11" name="Text 8"/>
          <p:cNvSpPr/>
          <p:nvPr/>
        </p:nvSpPr>
        <p:spPr>
          <a:xfrm>
            <a:off x="6667500" y="26035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Motorstyrning</a:t>
            </a:r>
            <a:endParaRPr lang="en-US" sz="1600" dirty="0"/>
          </a:p>
        </p:txBody>
      </p:sp>
      <p:sp>
        <p:nvSpPr>
          <p:cNvPr id="12" name="Shape 9"/>
          <p:cNvSpPr/>
          <p:nvPr/>
        </p:nvSpPr>
        <p:spPr>
          <a:xfrm>
            <a:off x="10795000" y="2222500"/>
            <a:ext cx="4699000" cy="1143000"/>
          </a:xfrm>
          <a:prstGeom prst="roundRect">
            <a:avLst>
              <a:gd name="adj" fmla="val 8000"/>
            </a:avLst>
          </a:prstGeom>
          <a:solidFill>
            <a:srgbClr val="FFFFFF"/>
          </a:solidFill>
          <a:ln w="12700">
            <a:solidFill>
              <a:srgbClr val="D0D5DD"/>
            </a:solidFill>
            <a:prstDash val="solid"/>
          </a:ln>
        </p:spPr>
      </p:sp>
      <p:sp>
        <p:nvSpPr>
          <p:cNvPr id="13" name="Shape 10"/>
          <p:cNvSpPr/>
          <p:nvPr/>
        </p:nvSpPr>
        <p:spPr>
          <a:xfrm>
            <a:off x="11134725" y="2540000"/>
            <a:ext cx="285750" cy="457200"/>
          </a:xfrm>
          <a:custGeom>
            <a:avLst/>
            <a:gdLst/>
            <a:ahLst/>
            <a:cxnLst/>
            <a:rect l="l" t="t" r="r" b="b"/>
            <a:pathLst>
              <a:path w="285750" h="457200">
                <a:moveTo>
                  <a:pt x="142875" y="0"/>
                </a:moveTo>
                <a:cubicBezTo>
                  <a:pt x="95548" y="0"/>
                  <a:pt x="57150" y="38398"/>
                  <a:pt x="57150" y="85725"/>
                </a:cubicBezTo>
                <a:lnTo>
                  <a:pt x="57150" y="232797"/>
                </a:lnTo>
                <a:cubicBezTo>
                  <a:pt x="30807" y="256282"/>
                  <a:pt x="14288" y="290572"/>
                  <a:pt x="14288" y="328613"/>
                </a:cubicBezTo>
                <a:cubicBezTo>
                  <a:pt x="14288" y="399604"/>
                  <a:pt x="71884" y="457200"/>
                  <a:pt x="142875" y="457200"/>
                </a:cubicBezTo>
                <a:cubicBezTo>
                  <a:pt x="213866" y="457200"/>
                  <a:pt x="271463" y="399604"/>
                  <a:pt x="271463" y="328613"/>
                </a:cubicBezTo>
                <a:cubicBezTo>
                  <a:pt x="271463" y="290572"/>
                  <a:pt x="254943" y="256282"/>
                  <a:pt x="228600" y="232797"/>
                </a:cubicBezTo>
                <a:lnTo>
                  <a:pt x="228600" y="85725"/>
                </a:lnTo>
                <a:cubicBezTo>
                  <a:pt x="228600" y="38398"/>
                  <a:pt x="190202" y="0"/>
                  <a:pt x="142875" y="0"/>
                </a:cubicBezTo>
                <a:close/>
                <a:moveTo>
                  <a:pt x="200025" y="328613"/>
                </a:moveTo>
                <a:cubicBezTo>
                  <a:pt x="200025" y="360134"/>
                  <a:pt x="174397" y="385763"/>
                  <a:pt x="142875" y="385763"/>
                </a:cubicBezTo>
                <a:cubicBezTo>
                  <a:pt x="111353" y="385763"/>
                  <a:pt x="85725" y="360134"/>
                  <a:pt x="85725" y="328613"/>
                </a:cubicBezTo>
                <a:cubicBezTo>
                  <a:pt x="85725" y="304592"/>
                  <a:pt x="100459" y="284053"/>
                  <a:pt x="121444" y="275659"/>
                </a:cubicBezTo>
                <a:lnTo>
                  <a:pt x="121444" y="192881"/>
                </a:lnTo>
                <a:cubicBezTo>
                  <a:pt x="121444" y="181005"/>
                  <a:pt x="130999" y="171450"/>
                  <a:pt x="142875" y="171450"/>
                </a:cubicBezTo>
                <a:cubicBezTo>
                  <a:pt x="154751" y="171450"/>
                  <a:pt x="164306" y="181005"/>
                  <a:pt x="164306" y="192881"/>
                </a:cubicBezTo>
                <a:lnTo>
                  <a:pt x="164306" y="275659"/>
                </a:lnTo>
                <a:cubicBezTo>
                  <a:pt x="185291" y="284143"/>
                  <a:pt x="200025" y="304681"/>
                  <a:pt x="200025" y="328613"/>
                </a:cubicBezTo>
                <a:close/>
              </a:path>
            </a:pathLst>
          </a:custGeom>
          <a:solidFill>
            <a:srgbClr val="0F2B46"/>
          </a:solidFill>
          <a:ln/>
        </p:spPr>
      </p:sp>
      <p:sp>
        <p:nvSpPr>
          <p:cNvPr id="14" name="Text 11"/>
          <p:cNvSpPr/>
          <p:nvPr/>
        </p:nvSpPr>
        <p:spPr>
          <a:xfrm>
            <a:off x="11684000" y="26035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Sensorläsning</a:t>
            </a:r>
            <a:endParaRPr lang="en-US" sz="1600" dirty="0"/>
          </a:p>
        </p:txBody>
      </p:sp>
      <p:sp>
        <p:nvSpPr>
          <p:cNvPr id="15" name="Shape 12"/>
          <p:cNvSpPr/>
          <p:nvPr/>
        </p:nvSpPr>
        <p:spPr>
          <a:xfrm>
            <a:off x="762000" y="3683000"/>
            <a:ext cx="4699000" cy="1143000"/>
          </a:xfrm>
          <a:prstGeom prst="roundRect">
            <a:avLst>
              <a:gd name="adj" fmla="val 8000"/>
            </a:avLst>
          </a:prstGeom>
          <a:solidFill>
            <a:srgbClr val="FFFFFF"/>
          </a:solidFill>
          <a:ln w="12700">
            <a:solidFill>
              <a:srgbClr val="D0D5DD"/>
            </a:solidFill>
            <a:prstDash val="solid"/>
          </a:ln>
        </p:spPr>
      </p:sp>
      <p:sp>
        <p:nvSpPr>
          <p:cNvPr id="16" name="Shape 13"/>
          <p:cNvSpPr/>
          <p:nvPr/>
        </p:nvSpPr>
        <p:spPr>
          <a:xfrm>
            <a:off x="1016000" y="4000500"/>
            <a:ext cx="457200" cy="457200"/>
          </a:xfrm>
          <a:custGeom>
            <a:avLst/>
            <a:gdLst/>
            <a:ahLst/>
            <a:cxnLst/>
            <a:rect l="l" t="t" r="r" b="b"/>
            <a:pathLst>
              <a:path w="457200" h="457200">
                <a:moveTo>
                  <a:pt x="457200" y="85725"/>
                </a:moveTo>
                <a:cubicBezTo>
                  <a:pt x="457200" y="130552"/>
                  <a:pt x="404426" y="197435"/>
                  <a:pt x="381655" y="224135"/>
                </a:cubicBezTo>
                <a:cubicBezTo>
                  <a:pt x="378262" y="228064"/>
                  <a:pt x="373261" y="229582"/>
                  <a:pt x="368707" y="228600"/>
                </a:cubicBezTo>
                <a:lnTo>
                  <a:pt x="285750" y="228600"/>
                </a:lnTo>
                <a:cubicBezTo>
                  <a:pt x="269944" y="228600"/>
                  <a:pt x="257175" y="241369"/>
                  <a:pt x="257175" y="257175"/>
                </a:cubicBezTo>
                <a:cubicBezTo>
                  <a:pt x="257175" y="272981"/>
                  <a:pt x="269944" y="285750"/>
                  <a:pt x="285750" y="285750"/>
                </a:cubicBezTo>
                <a:lnTo>
                  <a:pt x="371475" y="285750"/>
                </a:lnTo>
                <a:cubicBezTo>
                  <a:pt x="418802" y="285750"/>
                  <a:pt x="457200" y="324148"/>
                  <a:pt x="457200" y="371475"/>
                </a:cubicBezTo>
                <a:cubicBezTo>
                  <a:pt x="457200" y="418802"/>
                  <a:pt x="418802" y="457200"/>
                  <a:pt x="371475" y="457200"/>
                </a:cubicBezTo>
                <a:lnTo>
                  <a:pt x="124658" y="457200"/>
                </a:lnTo>
                <a:cubicBezTo>
                  <a:pt x="132427" y="448360"/>
                  <a:pt x="141893" y="437019"/>
                  <a:pt x="151448" y="424339"/>
                </a:cubicBezTo>
                <a:cubicBezTo>
                  <a:pt x="157073" y="416838"/>
                  <a:pt x="162878" y="408622"/>
                  <a:pt x="168414" y="400050"/>
                </a:cubicBezTo>
                <a:lnTo>
                  <a:pt x="371475" y="400050"/>
                </a:lnTo>
                <a:cubicBezTo>
                  <a:pt x="387281" y="400050"/>
                  <a:pt x="400050" y="387281"/>
                  <a:pt x="400050" y="371475"/>
                </a:cubicBezTo>
                <a:cubicBezTo>
                  <a:pt x="400050" y="355669"/>
                  <a:pt x="387281" y="342900"/>
                  <a:pt x="371475" y="342900"/>
                </a:cubicBezTo>
                <a:lnTo>
                  <a:pt x="285750" y="342900"/>
                </a:lnTo>
                <a:cubicBezTo>
                  <a:pt x="238423" y="342900"/>
                  <a:pt x="200025" y="304502"/>
                  <a:pt x="200025" y="257175"/>
                </a:cubicBezTo>
                <a:cubicBezTo>
                  <a:pt x="200025" y="209848"/>
                  <a:pt x="238423" y="171450"/>
                  <a:pt x="285750" y="171450"/>
                </a:cubicBezTo>
                <a:lnTo>
                  <a:pt x="321290" y="171450"/>
                </a:lnTo>
                <a:cubicBezTo>
                  <a:pt x="302538" y="143321"/>
                  <a:pt x="285750" y="110996"/>
                  <a:pt x="285750" y="85725"/>
                </a:cubicBezTo>
                <a:cubicBezTo>
                  <a:pt x="285750" y="38398"/>
                  <a:pt x="324148" y="0"/>
                  <a:pt x="371475" y="0"/>
                </a:cubicBezTo>
                <a:cubicBezTo>
                  <a:pt x="418802" y="0"/>
                  <a:pt x="457200" y="38398"/>
                  <a:pt x="457200" y="85725"/>
                </a:cubicBezTo>
                <a:close/>
                <a:moveTo>
                  <a:pt x="104567" y="436751"/>
                </a:moveTo>
                <a:cubicBezTo>
                  <a:pt x="101173" y="440591"/>
                  <a:pt x="98137" y="443984"/>
                  <a:pt x="95548" y="446842"/>
                </a:cubicBezTo>
                <a:lnTo>
                  <a:pt x="93940" y="448628"/>
                </a:lnTo>
                <a:lnTo>
                  <a:pt x="93762" y="448449"/>
                </a:lnTo>
                <a:cubicBezTo>
                  <a:pt x="88404" y="452557"/>
                  <a:pt x="80724" y="452021"/>
                  <a:pt x="75902" y="446842"/>
                </a:cubicBezTo>
                <a:cubicBezTo>
                  <a:pt x="53400" y="422374"/>
                  <a:pt x="0" y="359420"/>
                  <a:pt x="0" y="314325"/>
                </a:cubicBezTo>
                <a:cubicBezTo>
                  <a:pt x="0" y="266998"/>
                  <a:pt x="38398" y="228600"/>
                  <a:pt x="85725" y="228600"/>
                </a:cubicBezTo>
                <a:cubicBezTo>
                  <a:pt x="133052" y="228600"/>
                  <a:pt x="171450" y="266998"/>
                  <a:pt x="171450" y="314325"/>
                </a:cubicBezTo>
                <a:cubicBezTo>
                  <a:pt x="171450" y="341114"/>
                  <a:pt x="152608" y="374154"/>
                  <a:pt x="132606" y="401747"/>
                </a:cubicBezTo>
                <a:cubicBezTo>
                  <a:pt x="123051" y="414873"/>
                  <a:pt x="113228" y="426750"/>
                  <a:pt x="105102" y="436126"/>
                </a:cubicBezTo>
                <a:lnTo>
                  <a:pt x="104567" y="436751"/>
                </a:lnTo>
                <a:close/>
                <a:moveTo>
                  <a:pt x="114300" y="314325"/>
                </a:moveTo>
                <a:cubicBezTo>
                  <a:pt x="114300" y="298554"/>
                  <a:pt x="101496" y="285750"/>
                  <a:pt x="85725" y="285750"/>
                </a:cubicBezTo>
                <a:cubicBezTo>
                  <a:pt x="69954" y="285750"/>
                  <a:pt x="57150" y="298554"/>
                  <a:pt x="57150" y="314325"/>
                </a:cubicBezTo>
                <a:cubicBezTo>
                  <a:pt x="57150" y="330096"/>
                  <a:pt x="69954" y="342900"/>
                  <a:pt x="85725" y="342900"/>
                </a:cubicBezTo>
                <a:cubicBezTo>
                  <a:pt x="101496" y="342900"/>
                  <a:pt x="114300" y="330096"/>
                  <a:pt x="114300" y="314325"/>
                </a:cubicBezTo>
                <a:close/>
                <a:moveTo>
                  <a:pt x="371475" y="114300"/>
                </a:moveTo>
                <a:cubicBezTo>
                  <a:pt x="387246" y="114300"/>
                  <a:pt x="400050" y="101496"/>
                  <a:pt x="400050" y="85725"/>
                </a:cubicBezTo>
                <a:cubicBezTo>
                  <a:pt x="400050" y="69954"/>
                  <a:pt x="387246" y="57150"/>
                  <a:pt x="371475" y="57150"/>
                </a:cubicBezTo>
                <a:cubicBezTo>
                  <a:pt x="355704" y="57150"/>
                  <a:pt x="342900" y="69954"/>
                  <a:pt x="342900" y="85725"/>
                </a:cubicBezTo>
                <a:cubicBezTo>
                  <a:pt x="342900" y="101496"/>
                  <a:pt x="355704" y="114300"/>
                  <a:pt x="371475" y="114300"/>
                </a:cubicBezTo>
                <a:close/>
              </a:path>
            </a:pathLst>
          </a:custGeom>
          <a:solidFill>
            <a:srgbClr val="0F2B46"/>
          </a:solidFill>
          <a:ln/>
        </p:spPr>
      </p:sp>
      <p:sp>
        <p:nvSpPr>
          <p:cNvPr id="17" name="Text 14"/>
          <p:cNvSpPr/>
          <p:nvPr/>
        </p:nvSpPr>
        <p:spPr>
          <a:xfrm>
            <a:off x="1651000" y="40640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Navigering</a:t>
            </a:r>
            <a:endParaRPr lang="en-US" sz="1600" dirty="0"/>
          </a:p>
        </p:txBody>
      </p:sp>
      <p:sp>
        <p:nvSpPr>
          <p:cNvPr id="18" name="Shape 15"/>
          <p:cNvSpPr/>
          <p:nvPr/>
        </p:nvSpPr>
        <p:spPr>
          <a:xfrm>
            <a:off x="5778500" y="3683000"/>
            <a:ext cx="4699000" cy="1143000"/>
          </a:xfrm>
          <a:prstGeom prst="roundRect">
            <a:avLst>
              <a:gd name="adj" fmla="val 8000"/>
            </a:avLst>
          </a:prstGeom>
          <a:solidFill>
            <a:srgbClr val="FFFFFF"/>
          </a:solidFill>
          <a:ln w="12700">
            <a:solidFill>
              <a:srgbClr val="D0D5DD"/>
            </a:solidFill>
            <a:prstDash val="solid"/>
          </a:ln>
        </p:spPr>
      </p:sp>
      <p:sp>
        <p:nvSpPr>
          <p:cNvPr id="19" name="Shape 16"/>
          <p:cNvSpPr/>
          <p:nvPr/>
        </p:nvSpPr>
        <p:spPr>
          <a:xfrm>
            <a:off x="6032500" y="40005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0F2B46"/>
          </a:solidFill>
          <a:ln/>
        </p:spPr>
      </p:sp>
      <p:sp>
        <p:nvSpPr>
          <p:cNvPr id="20" name="Text 17"/>
          <p:cNvSpPr/>
          <p:nvPr/>
        </p:nvSpPr>
        <p:spPr>
          <a:xfrm>
            <a:off x="6667500" y="40640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Säkerhet</a:t>
            </a:r>
            <a:endParaRPr lang="en-US" sz="1600" dirty="0"/>
          </a:p>
        </p:txBody>
      </p:sp>
      <p:sp>
        <p:nvSpPr>
          <p:cNvPr id="21" name="Shape 18"/>
          <p:cNvSpPr/>
          <p:nvPr/>
        </p:nvSpPr>
        <p:spPr>
          <a:xfrm>
            <a:off x="10795000" y="3683000"/>
            <a:ext cx="4699000" cy="1143000"/>
          </a:xfrm>
          <a:prstGeom prst="roundRect">
            <a:avLst>
              <a:gd name="adj" fmla="val 8000"/>
            </a:avLst>
          </a:prstGeom>
          <a:solidFill>
            <a:srgbClr val="FFFFFF"/>
          </a:solidFill>
          <a:ln w="12700">
            <a:solidFill>
              <a:srgbClr val="D0D5DD"/>
            </a:solidFill>
            <a:prstDash val="solid"/>
          </a:ln>
        </p:spPr>
      </p:sp>
      <p:sp>
        <p:nvSpPr>
          <p:cNvPr id="22" name="Shape 19"/>
          <p:cNvSpPr/>
          <p:nvPr/>
        </p:nvSpPr>
        <p:spPr>
          <a:xfrm>
            <a:off x="11049000" y="40005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0F2B46"/>
          </a:solidFill>
          <a:ln/>
        </p:spPr>
      </p:sp>
      <p:sp>
        <p:nvSpPr>
          <p:cNvPr id="23" name="Text 20"/>
          <p:cNvSpPr/>
          <p:nvPr/>
        </p:nvSpPr>
        <p:spPr>
          <a:xfrm>
            <a:off x="11684000" y="40640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AI</a:t>
            </a:r>
            <a:endParaRPr lang="en-US" sz="1600" dirty="0"/>
          </a:p>
        </p:txBody>
      </p:sp>
      <p:sp>
        <p:nvSpPr>
          <p:cNvPr id="24" name="Shape 21"/>
          <p:cNvSpPr/>
          <p:nvPr/>
        </p:nvSpPr>
        <p:spPr>
          <a:xfrm>
            <a:off x="762000" y="5143500"/>
            <a:ext cx="4699000" cy="1143000"/>
          </a:xfrm>
          <a:prstGeom prst="roundRect">
            <a:avLst>
              <a:gd name="adj" fmla="val 8000"/>
            </a:avLst>
          </a:prstGeom>
          <a:solidFill>
            <a:srgbClr val="FFFFFF"/>
          </a:solidFill>
          <a:ln w="12700">
            <a:solidFill>
              <a:srgbClr val="D0D5DD"/>
            </a:solidFill>
            <a:prstDash val="solid"/>
          </a:ln>
        </p:spPr>
      </p:sp>
      <p:sp>
        <p:nvSpPr>
          <p:cNvPr id="25" name="Shape 22"/>
          <p:cNvSpPr/>
          <p:nvPr/>
        </p:nvSpPr>
        <p:spPr>
          <a:xfrm>
            <a:off x="1016000" y="5461000"/>
            <a:ext cx="457200" cy="457200"/>
          </a:xfrm>
          <a:custGeom>
            <a:avLst/>
            <a:gdLst/>
            <a:ahLst/>
            <a:cxnLst/>
            <a:rect l="l" t="t" r="r" b="b"/>
            <a:pathLst>
              <a:path w="457200" h="457200">
                <a:moveTo>
                  <a:pt x="57150" y="28575"/>
                </a:moveTo>
                <a:cubicBezTo>
                  <a:pt x="25628" y="28575"/>
                  <a:pt x="0" y="54203"/>
                  <a:pt x="0" y="85725"/>
                </a:cubicBezTo>
                <a:lnTo>
                  <a:pt x="0" y="314325"/>
                </a:lnTo>
                <a:cubicBezTo>
                  <a:pt x="0" y="345847"/>
                  <a:pt x="25628" y="371475"/>
                  <a:pt x="57150" y="371475"/>
                </a:cubicBezTo>
                <a:lnTo>
                  <a:pt x="185738" y="371475"/>
                </a:lnTo>
                <a:lnTo>
                  <a:pt x="171450" y="414338"/>
                </a:lnTo>
                <a:lnTo>
                  <a:pt x="107156" y="414338"/>
                </a:lnTo>
                <a:cubicBezTo>
                  <a:pt x="95280" y="414338"/>
                  <a:pt x="85725" y="423892"/>
                  <a:pt x="85725" y="435769"/>
                </a:cubicBezTo>
                <a:cubicBezTo>
                  <a:pt x="85725" y="447645"/>
                  <a:pt x="95280" y="457200"/>
                  <a:pt x="107156" y="457200"/>
                </a:cubicBezTo>
                <a:lnTo>
                  <a:pt x="350044" y="457200"/>
                </a:lnTo>
                <a:cubicBezTo>
                  <a:pt x="361920" y="457200"/>
                  <a:pt x="371475" y="447645"/>
                  <a:pt x="371475" y="435769"/>
                </a:cubicBezTo>
                <a:cubicBezTo>
                  <a:pt x="371475" y="423892"/>
                  <a:pt x="361920" y="414338"/>
                  <a:pt x="350044" y="414338"/>
                </a:cubicBezTo>
                <a:lnTo>
                  <a:pt x="285750" y="414338"/>
                </a:lnTo>
                <a:lnTo>
                  <a:pt x="271463" y="371475"/>
                </a:lnTo>
                <a:lnTo>
                  <a:pt x="400050" y="371475"/>
                </a:lnTo>
                <a:cubicBezTo>
                  <a:pt x="431572" y="371475"/>
                  <a:pt x="457200" y="345847"/>
                  <a:pt x="457200" y="314325"/>
                </a:cubicBezTo>
                <a:lnTo>
                  <a:pt x="457200" y="85725"/>
                </a:lnTo>
                <a:cubicBezTo>
                  <a:pt x="457200" y="54203"/>
                  <a:pt x="431572" y="28575"/>
                  <a:pt x="400050" y="28575"/>
                </a:cubicBezTo>
                <a:lnTo>
                  <a:pt x="57150" y="28575"/>
                </a:lnTo>
                <a:close/>
                <a:moveTo>
                  <a:pt x="85725" y="85725"/>
                </a:moveTo>
                <a:lnTo>
                  <a:pt x="371475" y="85725"/>
                </a:lnTo>
                <a:cubicBezTo>
                  <a:pt x="387281" y="85725"/>
                  <a:pt x="400050" y="98494"/>
                  <a:pt x="400050" y="114300"/>
                </a:cubicBezTo>
                <a:lnTo>
                  <a:pt x="400050" y="257175"/>
                </a:lnTo>
                <a:cubicBezTo>
                  <a:pt x="400050" y="272981"/>
                  <a:pt x="387281" y="285750"/>
                  <a:pt x="371475" y="285750"/>
                </a:cubicBezTo>
                <a:lnTo>
                  <a:pt x="85725" y="285750"/>
                </a:lnTo>
                <a:cubicBezTo>
                  <a:pt x="69919" y="285750"/>
                  <a:pt x="57150" y="272981"/>
                  <a:pt x="57150" y="257175"/>
                </a:cubicBezTo>
                <a:lnTo>
                  <a:pt x="57150" y="114300"/>
                </a:lnTo>
                <a:cubicBezTo>
                  <a:pt x="57150" y="98494"/>
                  <a:pt x="69919" y="85725"/>
                  <a:pt x="85725" y="85725"/>
                </a:cubicBezTo>
                <a:close/>
              </a:path>
            </a:pathLst>
          </a:custGeom>
          <a:solidFill>
            <a:srgbClr val="0F2B46"/>
          </a:solidFill>
          <a:ln/>
        </p:spPr>
      </p:sp>
      <p:sp>
        <p:nvSpPr>
          <p:cNvPr id="26" name="Text 23"/>
          <p:cNvSpPr/>
          <p:nvPr/>
        </p:nvSpPr>
        <p:spPr>
          <a:xfrm>
            <a:off x="1651000" y="5524500"/>
            <a:ext cx="3556000" cy="381000"/>
          </a:xfrm>
          <a:prstGeom prst="rect">
            <a:avLst/>
          </a:prstGeom>
          <a:noFill/>
          <a:ln/>
        </p:spPr>
        <p:txBody>
          <a:bodyPr wrap="non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Användargränssnitt</a:t>
            </a:r>
            <a:endParaRPr lang="en-US" sz="1600" dirty="0"/>
          </a:p>
        </p:txBody>
      </p:sp>
      <p:sp>
        <p:nvSpPr>
          <p:cNvPr id="27" name="Shape 24"/>
          <p:cNvSpPr/>
          <p:nvPr/>
        </p:nvSpPr>
        <p:spPr>
          <a:xfrm>
            <a:off x="5778500" y="5143500"/>
            <a:ext cx="9715500" cy="1143000"/>
          </a:xfrm>
          <a:prstGeom prst="roundRect">
            <a:avLst>
              <a:gd name="adj" fmla="val 8000"/>
            </a:avLst>
          </a:prstGeom>
          <a:solidFill>
            <a:srgbClr val="0F2B46"/>
          </a:solidFill>
          <a:ln/>
        </p:spPr>
      </p:sp>
      <p:sp>
        <p:nvSpPr>
          <p:cNvPr id="28" name="Text 25"/>
          <p:cNvSpPr/>
          <p:nvPr/>
        </p:nvSpPr>
        <p:spPr>
          <a:xfrm>
            <a:off x="6096000" y="5270500"/>
            <a:ext cx="9080500" cy="889000"/>
          </a:xfrm>
          <a:prstGeom prst="rect">
            <a:avLst/>
          </a:prstGeom>
          <a:noFill/>
          <a:ln/>
        </p:spPr>
        <p:txBody>
          <a:bodyPr wrap="square" lIns="0" tIns="0" rIns="0" bIns="0" rtlCol="0" anchor="ctr"/>
          <a:lstStyle/>
          <a:p>
            <a:pPr>
              <a:lnSpc>
                <a:spcPct val="140000"/>
              </a:lnSpc>
            </a:pPr>
            <a:r>
              <a:rPr lang="en-US" sz="1800" b="1" dirty="0">
                <a:solidFill>
                  <a:srgbClr val="FFFFFF"/>
                </a:solidFill>
                <a:latin typeface="Quattrocento Sans" pitchFamily="34" charset="0"/>
                <a:ea typeface="Quattrocento Sans" pitchFamily="34" charset="-122"/>
                <a:cs typeface="Quattrocento Sans" pitchFamily="34" charset="-120"/>
              </a:rPr>
              <a:t>Hur får vi alla dessa program att samarbeta?</a:t>
            </a:r>
            <a:endParaRPr lang="en-US" sz="1600" dirty="0"/>
          </a:p>
          <a:p>
            <a:pPr>
              <a:lnSpc>
                <a:spcPct val="140000"/>
              </a:lnSpc>
            </a:pPr>
            <a:r>
              <a:rPr lang="en-US" sz="1600" dirty="0">
                <a:solidFill>
                  <a:srgbClr val="B0BEC5"/>
                </a:solidFill>
                <a:latin typeface="Quattrocento Sans" pitchFamily="34" charset="0"/>
                <a:ea typeface="Quattrocento Sans" pitchFamily="34" charset="-122"/>
                <a:cs typeface="Quattrocento Sans" pitchFamily="34" charset="-120"/>
              </a:rPr>
              <a:t>De behöver ett gemensamt sätt att kommunicera...</a:t>
            </a:r>
            <a:endParaRPr lang="en-US" sz="1600" dirty="0"/>
          </a:p>
        </p:txBody>
      </p:sp>
      <p:pic>
        <p:nvPicPr>
          <p:cNvPr id="29"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30" name="Text 26"/>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Problemet ROS2 löser</a:t>
            </a:r>
            <a:endParaRPr lang="en-US" sz="2800" dirty="0"/>
          </a:p>
        </p:txBody>
      </p:sp>
      <p:sp>
        <p:nvSpPr>
          <p:cNvPr id="5" name="Shape 2"/>
          <p:cNvSpPr/>
          <p:nvPr/>
        </p:nvSpPr>
        <p:spPr>
          <a:xfrm>
            <a:off x="762000" y="1651000"/>
            <a:ext cx="6858000" cy="3556000"/>
          </a:xfrm>
          <a:prstGeom prst="roundRect">
            <a:avLst>
              <a:gd name="adj" fmla="val 8000"/>
            </a:avLst>
          </a:prstGeom>
          <a:solidFill>
            <a:srgbClr val="FFF3F3"/>
          </a:solidFill>
          <a:ln w="25400">
            <a:solidFill>
              <a:srgbClr val="D81B2E"/>
            </a:solidFill>
            <a:prstDash val="solid"/>
          </a:ln>
        </p:spPr>
      </p:sp>
      <p:sp>
        <p:nvSpPr>
          <p:cNvPr id="6" name="Shape 3"/>
          <p:cNvSpPr/>
          <p:nvPr/>
        </p:nvSpPr>
        <p:spPr>
          <a:xfrm>
            <a:off x="1143000" y="1968500"/>
            <a:ext cx="508000" cy="508000"/>
          </a:xfrm>
          <a:custGeom>
            <a:avLst/>
            <a:gdLst/>
            <a:ahLst/>
            <a:cxnLst/>
            <a:rect l="l" t="t" r="r" b="b"/>
            <a:pathLst>
              <a:path w="508000" h="508000">
                <a:moveTo>
                  <a:pt x="254000" y="508000"/>
                </a:moveTo>
                <a:cubicBezTo>
                  <a:pt x="394186" y="508000"/>
                  <a:pt x="508000" y="394186"/>
                  <a:pt x="508000" y="254000"/>
                </a:cubicBezTo>
                <a:cubicBezTo>
                  <a:pt x="508000" y="113814"/>
                  <a:pt x="394186" y="0"/>
                  <a:pt x="254000" y="0"/>
                </a:cubicBezTo>
                <a:cubicBezTo>
                  <a:pt x="113814" y="0"/>
                  <a:pt x="0" y="113814"/>
                  <a:pt x="0" y="254000"/>
                </a:cubicBezTo>
                <a:cubicBezTo>
                  <a:pt x="0" y="394186"/>
                  <a:pt x="113814" y="508000"/>
                  <a:pt x="254000" y="508000"/>
                </a:cubicBezTo>
                <a:close/>
                <a:moveTo>
                  <a:pt x="165695" y="165695"/>
                </a:moveTo>
                <a:cubicBezTo>
                  <a:pt x="175022" y="156369"/>
                  <a:pt x="190103" y="156369"/>
                  <a:pt x="199330" y="165695"/>
                </a:cubicBezTo>
                <a:lnTo>
                  <a:pt x="253901" y="220266"/>
                </a:lnTo>
                <a:lnTo>
                  <a:pt x="308471" y="165695"/>
                </a:lnTo>
                <a:cubicBezTo>
                  <a:pt x="317798" y="156369"/>
                  <a:pt x="332879" y="156369"/>
                  <a:pt x="342106" y="165695"/>
                </a:cubicBezTo>
                <a:cubicBezTo>
                  <a:pt x="351334" y="175022"/>
                  <a:pt x="351433" y="190103"/>
                  <a:pt x="342106" y="199330"/>
                </a:cubicBezTo>
                <a:lnTo>
                  <a:pt x="287536" y="253901"/>
                </a:lnTo>
                <a:lnTo>
                  <a:pt x="342106" y="308471"/>
                </a:lnTo>
                <a:cubicBezTo>
                  <a:pt x="351433" y="317798"/>
                  <a:pt x="351433" y="332879"/>
                  <a:pt x="342106" y="342106"/>
                </a:cubicBezTo>
                <a:cubicBezTo>
                  <a:pt x="332780" y="351334"/>
                  <a:pt x="317698" y="351433"/>
                  <a:pt x="308471" y="342106"/>
                </a:cubicBezTo>
                <a:lnTo>
                  <a:pt x="253901" y="287536"/>
                </a:lnTo>
                <a:lnTo>
                  <a:pt x="199330" y="342106"/>
                </a:lnTo>
                <a:cubicBezTo>
                  <a:pt x="190004" y="351433"/>
                  <a:pt x="174923" y="351433"/>
                  <a:pt x="165695" y="342106"/>
                </a:cubicBezTo>
                <a:cubicBezTo>
                  <a:pt x="156468" y="332780"/>
                  <a:pt x="156369" y="317698"/>
                  <a:pt x="165695" y="308471"/>
                </a:cubicBezTo>
                <a:lnTo>
                  <a:pt x="220266" y="253901"/>
                </a:lnTo>
                <a:lnTo>
                  <a:pt x="165695" y="199330"/>
                </a:lnTo>
                <a:cubicBezTo>
                  <a:pt x="156369" y="190004"/>
                  <a:pt x="156369" y="174923"/>
                  <a:pt x="165695" y="165695"/>
                </a:cubicBezTo>
                <a:close/>
              </a:path>
            </a:pathLst>
          </a:custGeom>
          <a:solidFill>
            <a:srgbClr val="D81B2E"/>
          </a:solidFill>
          <a:ln/>
        </p:spPr>
      </p:sp>
      <p:sp>
        <p:nvSpPr>
          <p:cNvPr id="7" name="Text 4"/>
          <p:cNvSpPr/>
          <p:nvPr/>
        </p:nvSpPr>
        <p:spPr>
          <a:xfrm>
            <a:off x="1841500" y="1968500"/>
            <a:ext cx="5461000" cy="508000"/>
          </a:xfrm>
          <a:prstGeom prst="rect">
            <a:avLst/>
          </a:prstGeom>
          <a:noFill/>
          <a:ln/>
        </p:spPr>
        <p:txBody>
          <a:bodyPr wrap="none" lIns="0" tIns="0" rIns="0" bIns="0" rtlCol="0" anchor="ctr"/>
          <a:lstStyle/>
          <a:p>
            <a:pPr>
              <a:lnSpc>
                <a:spcPct val="100000"/>
              </a:lnSpc>
            </a:pPr>
            <a:r>
              <a:rPr lang="en-US" sz="2200" b="1" dirty="0">
                <a:solidFill>
                  <a:srgbClr val="D81B2E"/>
                </a:solidFill>
                <a:latin typeface="Liter" pitchFamily="34" charset="0"/>
                <a:ea typeface="Liter" pitchFamily="34" charset="-122"/>
                <a:cs typeface="Liter" pitchFamily="34" charset="-120"/>
              </a:rPr>
              <a:t>Utan ROS2</a:t>
            </a:r>
            <a:endParaRPr lang="en-US" sz="1600" dirty="0"/>
          </a:p>
        </p:txBody>
      </p:sp>
      <p:sp>
        <p:nvSpPr>
          <p:cNvPr id="8" name="Text 5"/>
          <p:cNvSpPr/>
          <p:nvPr/>
        </p:nvSpPr>
        <p:spPr>
          <a:xfrm>
            <a:off x="1143000" y="2667000"/>
            <a:ext cx="6096000" cy="2476500"/>
          </a:xfrm>
          <a:prstGeom prst="rect">
            <a:avLst/>
          </a:prstGeom>
          <a:noFill/>
          <a:ln/>
        </p:spPr>
        <p:txBody>
          <a:bodyPr wrap="square" lIns="0" tIns="0" rIns="0" bIns="0" rtlCol="0" anchor="t"/>
          <a:lstStyle/>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Varje programmerare hittar på sitt eget sätt att kommunicera</a:t>
            </a:r>
            <a:endParaRPr lang="en-US" sz="1600" dirty="0"/>
          </a:p>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Olika format och protokoll</a:t>
            </a:r>
            <a:endParaRPr lang="en-US" sz="1600" dirty="0"/>
          </a:p>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Svårt att bygga vidare på andras kod</a:t>
            </a:r>
            <a:endParaRPr lang="en-US" sz="1600" dirty="0"/>
          </a:p>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Nästan omöjligt att felsöka</a:t>
            </a:r>
            <a:endParaRPr lang="en-US" sz="1600" dirty="0"/>
          </a:p>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Byta ut en del = allt slutar fungera</a:t>
            </a:r>
            <a:endParaRPr lang="en-US" sz="1600" dirty="0"/>
          </a:p>
        </p:txBody>
      </p:sp>
      <p:sp>
        <p:nvSpPr>
          <p:cNvPr id="9" name="Shape 6"/>
          <p:cNvSpPr/>
          <p:nvPr/>
        </p:nvSpPr>
        <p:spPr>
          <a:xfrm>
            <a:off x="7874000" y="3175000"/>
            <a:ext cx="1016000" cy="0"/>
          </a:xfrm>
          <a:prstGeom prst="straightConnector1">
            <a:avLst/>
          </a:prstGeom>
          <a:noFill/>
          <a:ln w="38100">
            <a:solidFill>
              <a:srgbClr val="D81B2E"/>
            </a:solidFill>
            <a:prstDash val="solid"/>
            <a:headEnd type="none"/>
            <a:tailEnd type="arrow"/>
          </a:ln>
        </p:spPr>
      </p:sp>
      <p:sp>
        <p:nvSpPr>
          <p:cNvPr id="10" name="Shape 7"/>
          <p:cNvSpPr/>
          <p:nvPr/>
        </p:nvSpPr>
        <p:spPr>
          <a:xfrm>
            <a:off x="9144000" y="1651000"/>
            <a:ext cx="6350000" cy="3556000"/>
          </a:xfrm>
          <a:prstGeom prst="roundRect">
            <a:avLst>
              <a:gd name="adj" fmla="val 8000"/>
            </a:avLst>
          </a:prstGeom>
          <a:solidFill>
            <a:srgbClr val="E8F5EE"/>
          </a:solidFill>
          <a:ln w="25400">
            <a:solidFill>
              <a:srgbClr val="2D8A4E"/>
            </a:solidFill>
            <a:prstDash val="solid"/>
          </a:ln>
        </p:spPr>
      </p:sp>
      <p:sp>
        <p:nvSpPr>
          <p:cNvPr id="11" name="Shape 8"/>
          <p:cNvSpPr/>
          <p:nvPr/>
        </p:nvSpPr>
        <p:spPr>
          <a:xfrm>
            <a:off x="9525000" y="1968500"/>
            <a:ext cx="508000" cy="508000"/>
          </a:xfrm>
          <a:custGeom>
            <a:avLst/>
            <a:gdLst/>
            <a:ahLst/>
            <a:cxnLst/>
            <a:rect l="l" t="t" r="r" b="b"/>
            <a:pathLst>
              <a:path w="508000" h="508000">
                <a:moveTo>
                  <a:pt x="254000" y="508000"/>
                </a:moveTo>
                <a:cubicBezTo>
                  <a:pt x="394186" y="508000"/>
                  <a:pt x="508000" y="394186"/>
                  <a:pt x="508000" y="254000"/>
                </a:cubicBezTo>
                <a:cubicBezTo>
                  <a:pt x="508000" y="113814"/>
                  <a:pt x="394186" y="0"/>
                  <a:pt x="254000" y="0"/>
                </a:cubicBezTo>
                <a:cubicBezTo>
                  <a:pt x="113814" y="0"/>
                  <a:pt x="0" y="113814"/>
                  <a:pt x="0" y="254000"/>
                </a:cubicBezTo>
                <a:cubicBezTo>
                  <a:pt x="0" y="394186"/>
                  <a:pt x="113814" y="508000"/>
                  <a:pt x="254000" y="508000"/>
                </a:cubicBezTo>
                <a:close/>
                <a:moveTo>
                  <a:pt x="337741" y="211038"/>
                </a:moveTo>
                <a:lnTo>
                  <a:pt x="258366" y="338038"/>
                </a:lnTo>
                <a:cubicBezTo>
                  <a:pt x="254198" y="344686"/>
                  <a:pt x="247055" y="348853"/>
                  <a:pt x="239216" y="349250"/>
                </a:cubicBezTo>
                <a:cubicBezTo>
                  <a:pt x="231378" y="349647"/>
                  <a:pt x="223837" y="346075"/>
                  <a:pt x="219174" y="339725"/>
                </a:cubicBezTo>
                <a:lnTo>
                  <a:pt x="171549" y="276225"/>
                </a:lnTo>
                <a:cubicBezTo>
                  <a:pt x="163612" y="265708"/>
                  <a:pt x="165795" y="250825"/>
                  <a:pt x="176312" y="242888"/>
                </a:cubicBezTo>
                <a:cubicBezTo>
                  <a:pt x="186829" y="234950"/>
                  <a:pt x="201712" y="237133"/>
                  <a:pt x="209649" y="247650"/>
                </a:cubicBezTo>
                <a:lnTo>
                  <a:pt x="236438" y="283369"/>
                </a:lnTo>
                <a:lnTo>
                  <a:pt x="297359" y="185837"/>
                </a:lnTo>
                <a:cubicBezTo>
                  <a:pt x="304304" y="174724"/>
                  <a:pt x="318988" y="171252"/>
                  <a:pt x="330200" y="178296"/>
                </a:cubicBezTo>
                <a:cubicBezTo>
                  <a:pt x="341412" y="185341"/>
                  <a:pt x="344785" y="199926"/>
                  <a:pt x="337741" y="211138"/>
                </a:cubicBezTo>
                <a:close/>
              </a:path>
            </a:pathLst>
          </a:custGeom>
          <a:solidFill>
            <a:srgbClr val="2D8A4E"/>
          </a:solidFill>
          <a:ln/>
        </p:spPr>
      </p:sp>
      <p:sp>
        <p:nvSpPr>
          <p:cNvPr id="12" name="Text 9"/>
          <p:cNvSpPr/>
          <p:nvPr/>
        </p:nvSpPr>
        <p:spPr>
          <a:xfrm>
            <a:off x="10223500" y="1968500"/>
            <a:ext cx="4953000" cy="508000"/>
          </a:xfrm>
          <a:prstGeom prst="rect">
            <a:avLst/>
          </a:prstGeom>
          <a:noFill/>
          <a:ln/>
        </p:spPr>
        <p:txBody>
          <a:bodyPr wrap="none" lIns="0" tIns="0" rIns="0" bIns="0" rtlCol="0" anchor="ctr"/>
          <a:lstStyle/>
          <a:p>
            <a:pPr>
              <a:lnSpc>
                <a:spcPct val="100000"/>
              </a:lnSpc>
            </a:pPr>
            <a:r>
              <a:rPr lang="en-US" sz="2200" b="1" dirty="0">
                <a:solidFill>
                  <a:srgbClr val="2D8A4E"/>
                </a:solidFill>
                <a:latin typeface="Liter" pitchFamily="34" charset="0"/>
                <a:ea typeface="Liter" pitchFamily="34" charset="-122"/>
                <a:cs typeface="Liter" pitchFamily="34" charset="-120"/>
              </a:rPr>
              <a:t>Med ROS2</a:t>
            </a:r>
            <a:endParaRPr lang="en-US" sz="1600" dirty="0"/>
          </a:p>
        </p:txBody>
      </p:sp>
      <p:sp>
        <p:nvSpPr>
          <p:cNvPr id="13" name="Text 10"/>
          <p:cNvSpPr/>
          <p:nvPr/>
        </p:nvSpPr>
        <p:spPr>
          <a:xfrm>
            <a:off x="9525000" y="2667000"/>
            <a:ext cx="5588000" cy="22860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Standardiserad kommunikation</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Gemensamma format och protokoll</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Enkelt att återanvända kod</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Kraftfulla verktyg för felsökning</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Modulärt — byt delar utan problem</a:t>
            </a:r>
            <a:endParaRPr lang="en-US" sz="1600" dirty="0"/>
          </a:p>
        </p:txBody>
      </p:sp>
      <p:sp>
        <p:nvSpPr>
          <p:cNvPr id="14" name="Shape 11"/>
          <p:cNvSpPr/>
          <p:nvPr/>
        </p:nvSpPr>
        <p:spPr>
          <a:xfrm>
            <a:off x="762000" y="5715000"/>
            <a:ext cx="14732000" cy="1270000"/>
          </a:xfrm>
          <a:prstGeom prst="roundRect">
            <a:avLst>
              <a:gd name="adj" fmla="val 8000"/>
            </a:avLst>
          </a:prstGeom>
          <a:solidFill>
            <a:srgbClr val="0F2B46"/>
          </a:solidFill>
          <a:ln/>
        </p:spPr>
      </p:sp>
      <p:sp>
        <p:nvSpPr>
          <p:cNvPr id="15" name="Text 12"/>
          <p:cNvSpPr/>
          <p:nvPr/>
        </p:nvSpPr>
        <p:spPr>
          <a:xfrm>
            <a:off x="1270000" y="5842000"/>
            <a:ext cx="13716000" cy="1016000"/>
          </a:xfrm>
          <a:prstGeom prst="rect">
            <a:avLst/>
          </a:prstGeom>
          <a:noFill/>
          <a:ln/>
        </p:spPr>
        <p:txBody>
          <a:bodyPr wrap="square" lIns="0" tIns="0" rIns="0" bIns="0" rtlCol="0" anchor="ctr"/>
          <a:lstStyle/>
          <a:p>
            <a:pPr algn="ctr">
              <a:lnSpc>
                <a:spcPct val="140000"/>
              </a:lnSpc>
            </a:pPr>
            <a:r>
              <a:rPr lang="en-US" sz="2200" b="1" dirty="0">
                <a:solidFill>
                  <a:srgbClr val="FFFFFF"/>
                </a:solidFill>
                <a:latin typeface="Quattrocento Sans" pitchFamily="34" charset="0"/>
                <a:ea typeface="Quattrocento Sans" pitchFamily="34" charset="-122"/>
                <a:cs typeface="Quattrocento Sans" pitchFamily="34" charset="-120"/>
              </a:rPr>
              <a:t>ROS2 ger oss ett ramverk där alla delar kan kommunicera strukturerat.</a:t>
            </a:r>
            <a:endParaRPr lang="en-US" sz="1600" dirty="0"/>
          </a:p>
        </p:txBody>
      </p:sp>
      <p:pic>
        <p:nvPicPr>
          <p:cNvPr id="16"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17" name="Text 13"/>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ROS2?</a:t>
            </a:r>
            <a:endParaRPr lang="en-US" sz="2800" dirty="0"/>
          </a:p>
        </p:txBody>
      </p:sp>
      <p:sp>
        <p:nvSpPr>
          <p:cNvPr id="5" name="Shape 2"/>
          <p:cNvSpPr/>
          <p:nvPr/>
        </p:nvSpPr>
        <p:spPr>
          <a:xfrm>
            <a:off x="762000" y="1651000"/>
            <a:ext cx="14732000" cy="1143000"/>
          </a:xfrm>
          <a:prstGeom prst="roundRect">
            <a:avLst>
              <a:gd name="adj" fmla="val 8000"/>
            </a:avLst>
          </a:prstGeom>
          <a:solidFill>
            <a:srgbClr val="0F2B46"/>
          </a:solidFill>
          <a:ln/>
        </p:spPr>
      </p:sp>
      <p:sp>
        <p:nvSpPr>
          <p:cNvPr id="6" name="Text 3"/>
          <p:cNvSpPr/>
          <p:nvPr/>
        </p:nvSpPr>
        <p:spPr>
          <a:xfrm>
            <a:off x="1270000" y="1778000"/>
            <a:ext cx="13716000" cy="889000"/>
          </a:xfrm>
          <a:prstGeom prst="rect">
            <a:avLst/>
          </a:prstGeom>
          <a:noFill/>
          <a:ln/>
        </p:spPr>
        <p:txBody>
          <a:bodyPr wrap="none" lIns="0" tIns="0" rIns="0" bIns="0" rtlCol="0" anchor="ctr"/>
          <a:lstStyle/>
          <a:p>
            <a:pPr algn="ctr">
              <a:lnSpc>
                <a:spcPct val="100000"/>
              </a:lnSpc>
            </a:pPr>
            <a:r>
              <a:rPr lang="en-US" sz="2800" b="1" kern="0" spc="200" dirty="0">
                <a:solidFill>
                  <a:srgbClr val="FFFFFF"/>
                </a:solidFill>
                <a:latin typeface="Liter" pitchFamily="34" charset="0"/>
                <a:ea typeface="Liter" pitchFamily="34" charset="-122"/>
                <a:cs typeface="Liter" pitchFamily="34" charset="-120"/>
              </a:rPr>
              <a:t>R</a:t>
            </a:r>
            <a:r>
              <a:rPr lang="en-US" sz="2800" kern="0" spc="200" dirty="0">
                <a:solidFill>
                  <a:srgbClr val="FFFFFF"/>
                </a:solidFill>
                <a:latin typeface="Liter" pitchFamily="34" charset="0"/>
                <a:ea typeface="Liter" pitchFamily="34" charset="-122"/>
                <a:cs typeface="Liter" pitchFamily="34" charset="-120"/>
              </a:rPr>
              <a:t>obot </a:t>
            </a:r>
            <a:r>
              <a:rPr lang="en-US" sz="2800" b="1" kern="0" spc="200" dirty="0">
                <a:solidFill>
                  <a:srgbClr val="FFFFFF"/>
                </a:solidFill>
                <a:latin typeface="Liter" pitchFamily="34" charset="0"/>
                <a:ea typeface="Liter" pitchFamily="34" charset="-122"/>
                <a:cs typeface="Liter" pitchFamily="34" charset="-120"/>
              </a:rPr>
              <a:t>O</a:t>
            </a:r>
            <a:r>
              <a:rPr lang="en-US" sz="2800" kern="0" spc="200" dirty="0">
                <a:solidFill>
                  <a:srgbClr val="FFFFFF"/>
                </a:solidFill>
                <a:latin typeface="Liter" pitchFamily="34" charset="0"/>
                <a:ea typeface="Liter" pitchFamily="34" charset="-122"/>
                <a:cs typeface="Liter" pitchFamily="34" charset="-120"/>
              </a:rPr>
              <a:t>perating </a:t>
            </a:r>
            <a:r>
              <a:rPr lang="en-US" sz="2800" b="1" kern="0" spc="200" dirty="0">
                <a:solidFill>
                  <a:srgbClr val="FFFFFF"/>
                </a:solidFill>
                <a:latin typeface="Liter" pitchFamily="34" charset="0"/>
                <a:ea typeface="Liter" pitchFamily="34" charset="-122"/>
                <a:cs typeface="Liter" pitchFamily="34" charset="-120"/>
              </a:rPr>
              <a:t>S</a:t>
            </a:r>
            <a:r>
              <a:rPr lang="en-US" sz="2800" kern="0" spc="200" dirty="0">
                <a:solidFill>
                  <a:srgbClr val="FFFFFF"/>
                </a:solidFill>
                <a:latin typeface="Liter" pitchFamily="34" charset="0"/>
                <a:ea typeface="Liter" pitchFamily="34" charset="-122"/>
                <a:cs typeface="Liter" pitchFamily="34" charset="-120"/>
              </a:rPr>
              <a:t>ystem </a:t>
            </a:r>
            <a:r>
              <a:rPr lang="en-US" sz="2800" b="1" kern="0" spc="200" dirty="0">
                <a:solidFill>
                  <a:srgbClr val="FFFFFF"/>
                </a:solidFill>
                <a:latin typeface="Liter" pitchFamily="34" charset="0"/>
                <a:ea typeface="Liter" pitchFamily="34" charset="-122"/>
                <a:cs typeface="Liter" pitchFamily="34" charset="-120"/>
              </a:rPr>
              <a:t>2</a:t>
            </a:r>
            <a:endParaRPr lang="en-US" sz="1600" dirty="0"/>
          </a:p>
        </p:txBody>
      </p:sp>
      <p:sp>
        <p:nvSpPr>
          <p:cNvPr id="7" name="Shape 4"/>
          <p:cNvSpPr/>
          <p:nvPr/>
        </p:nvSpPr>
        <p:spPr>
          <a:xfrm>
            <a:off x="1066800" y="3302000"/>
            <a:ext cx="304800" cy="406400"/>
          </a:xfrm>
          <a:custGeom>
            <a:avLst/>
            <a:gdLst/>
            <a:ahLst/>
            <a:cxnLst/>
            <a:rect l="l" t="t" r="r" b="b"/>
            <a:pathLst>
              <a:path w="304800" h="406400">
                <a:moveTo>
                  <a:pt x="43736" y="58261"/>
                </a:moveTo>
                <a:cubicBezTo>
                  <a:pt x="33814" y="48339"/>
                  <a:pt x="17701" y="48339"/>
                  <a:pt x="7779" y="58261"/>
                </a:cubicBezTo>
                <a:cubicBezTo>
                  <a:pt x="-2143" y="68183"/>
                  <a:pt x="-2143" y="84296"/>
                  <a:pt x="7779" y="94218"/>
                </a:cubicBezTo>
                <a:lnTo>
                  <a:pt x="116840" y="203200"/>
                </a:lnTo>
                <a:lnTo>
                  <a:pt x="7858" y="312261"/>
                </a:lnTo>
                <a:cubicBezTo>
                  <a:pt x="-2064" y="322183"/>
                  <a:pt x="-2064" y="338296"/>
                  <a:pt x="7858" y="348218"/>
                </a:cubicBezTo>
                <a:cubicBezTo>
                  <a:pt x="17780" y="358140"/>
                  <a:pt x="33893" y="358140"/>
                  <a:pt x="43815" y="348218"/>
                </a:cubicBezTo>
                <a:lnTo>
                  <a:pt x="152797" y="239157"/>
                </a:lnTo>
                <a:lnTo>
                  <a:pt x="261858" y="348139"/>
                </a:lnTo>
                <a:cubicBezTo>
                  <a:pt x="271780" y="358061"/>
                  <a:pt x="287893" y="358061"/>
                  <a:pt x="297815" y="348139"/>
                </a:cubicBezTo>
                <a:cubicBezTo>
                  <a:pt x="307737" y="338217"/>
                  <a:pt x="307737" y="322104"/>
                  <a:pt x="297815" y="312182"/>
                </a:cubicBezTo>
                <a:lnTo>
                  <a:pt x="188754" y="203200"/>
                </a:lnTo>
                <a:lnTo>
                  <a:pt x="297736" y="94139"/>
                </a:lnTo>
                <a:cubicBezTo>
                  <a:pt x="307658" y="84217"/>
                  <a:pt x="307658" y="68104"/>
                  <a:pt x="297736" y="58182"/>
                </a:cubicBezTo>
                <a:cubicBezTo>
                  <a:pt x="287814" y="48260"/>
                  <a:pt x="271701" y="48260"/>
                  <a:pt x="261779" y="58182"/>
                </a:cubicBezTo>
                <a:lnTo>
                  <a:pt x="152797" y="167243"/>
                </a:lnTo>
                <a:lnTo>
                  <a:pt x="43736" y="58261"/>
                </a:lnTo>
                <a:close/>
              </a:path>
            </a:pathLst>
          </a:custGeom>
          <a:solidFill>
            <a:srgbClr val="D81B2E"/>
          </a:solidFill>
          <a:ln/>
        </p:spPr>
      </p:sp>
      <p:sp>
        <p:nvSpPr>
          <p:cNvPr id="8" name="Text 5"/>
          <p:cNvSpPr/>
          <p:nvPr/>
        </p:nvSpPr>
        <p:spPr>
          <a:xfrm>
            <a:off x="1651000" y="3238500"/>
            <a:ext cx="13589000" cy="571500"/>
          </a:xfrm>
          <a:prstGeom prst="rect">
            <a:avLst/>
          </a:prstGeom>
          <a:noFill/>
          <a:ln/>
        </p:spPr>
        <p:txBody>
          <a:bodyPr wrap="square" lIns="0" tIns="0" rIns="0" bIns="0" rtlCol="0" anchor="ctr"/>
          <a:lstStyle/>
          <a:p>
            <a:pPr>
              <a:lnSpc>
                <a:spcPct val="140000"/>
              </a:lnSpc>
            </a:pPr>
            <a:r>
              <a:rPr lang="en-US" sz="2000" dirty="0">
                <a:solidFill>
                  <a:srgbClr val="1A2332"/>
                </a:solidFill>
                <a:latin typeface="Quattrocento Sans" pitchFamily="34" charset="0"/>
                <a:ea typeface="Quattrocento Sans" pitchFamily="34" charset="-122"/>
                <a:cs typeface="Quattrocento Sans" pitchFamily="34" charset="-120"/>
              </a:rPr>
              <a:t>Det är </a:t>
            </a:r>
            <a:r>
              <a:rPr lang="en-US" sz="2000" b="1" dirty="0">
                <a:solidFill>
                  <a:srgbClr val="1A2332"/>
                </a:solidFill>
                <a:latin typeface="Quattrocento Sans" pitchFamily="34" charset="0"/>
                <a:ea typeface="Quattrocento Sans" pitchFamily="34" charset="-122"/>
                <a:cs typeface="Quattrocento Sans" pitchFamily="34" charset="-120"/>
              </a:rPr>
              <a:t>inte</a:t>
            </a:r>
            <a:r>
              <a:rPr lang="en-US" sz="2000" dirty="0">
                <a:solidFill>
                  <a:srgbClr val="1A2332"/>
                </a:solidFill>
                <a:latin typeface="Quattrocento Sans" pitchFamily="34" charset="0"/>
                <a:ea typeface="Quattrocento Sans" pitchFamily="34" charset="-122"/>
                <a:cs typeface="Quattrocento Sans" pitchFamily="34" charset="-120"/>
              </a:rPr>
              <a:t> ett vanligt operativsystem som Windows eller Linux</a:t>
            </a:r>
            <a:endParaRPr lang="en-US" sz="1600" dirty="0"/>
          </a:p>
        </p:txBody>
      </p:sp>
      <p:sp>
        <p:nvSpPr>
          <p:cNvPr id="9" name="Shape 6"/>
          <p:cNvSpPr/>
          <p:nvPr/>
        </p:nvSpPr>
        <p:spPr>
          <a:xfrm>
            <a:off x="1041400" y="4064000"/>
            <a:ext cx="355600" cy="406400"/>
          </a:xfrm>
          <a:custGeom>
            <a:avLst/>
            <a:gdLst/>
            <a:ahLst/>
            <a:cxnLst/>
            <a:rect l="l" t="t" r="r" b="b"/>
            <a:pathLst>
              <a:path w="355600" h="406400">
                <a:moveTo>
                  <a:pt x="345123" y="55642"/>
                </a:moveTo>
                <a:cubicBezTo>
                  <a:pt x="356473" y="63897"/>
                  <a:pt x="359013" y="79772"/>
                  <a:pt x="350758" y="91123"/>
                </a:cubicBezTo>
                <a:lnTo>
                  <a:pt x="147558" y="370523"/>
                </a:lnTo>
                <a:cubicBezTo>
                  <a:pt x="143193" y="376555"/>
                  <a:pt x="136446" y="380286"/>
                  <a:pt x="128984" y="380921"/>
                </a:cubicBezTo>
                <a:cubicBezTo>
                  <a:pt x="121523" y="381556"/>
                  <a:pt x="114300" y="378778"/>
                  <a:pt x="109061" y="373539"/>
                </a:cubicBezTo>
                <a:lnTo>
                  <a:pt x="7461" y="271939"/>
                </a:lnTo>
                <a:cubicBezTo>
                  <a:pt x="-2461" y="262017"/>
                  <a:pt x="-2461" y="245904"/>
                  <a:pt x="7461" y="235982"/>
                </a:cubicBezTo>
                <a:cubicBezTo>
                  <a:pt x="17383" y="226060"/>
                  <a:pt x="33496" y="226060"/>
                  <a:pt x="43418" y="235982"/>
                </a:cubicBezTo>
                <a:lnTo>
                  <a:pt x="123984" y="316548"/>
                </a:lnTo>
                <a:lnTo>
                  <a:pt x="309721" y="61198"/>
                </a:lnTo>
                <a:cubicBezTo>
                  <a:pt x="317976" y="49848"/>
                  <a:pt x="333851" y="47308"/>
                  <a:pt x="345202" y="55563"/>
                </a:cubicBezTo>
                <a:close/>
              </a:path>
            </a:pathLst>
          </a:custGeom>
          <a:solidFill>
            <a:srgbClr val="2D8A4E"/>
          </a:solidFill>
          <a:ln/>
        </p:spPr>
      </p:sp>
      <p:sp>
        <p:nvSpPr>
          <p:cNvPr id="10" name="Text 7"/>
          <p:cNvSpPr/>
          <p:nvPr/>
        </p:nvSpPr>
        <p:spPr>
          <a:xfrm>
            <a:off x="1651000" y="4000500"/>
            <a:ext cx="13589000" cy="571500"/>
          </a:xfrm>
          <a:prstGeom prst="rect">
            <a:avLst/>
          </a:prstGeom>
          <a:noFill/>
          <a:ln/>
        </p:spPr>
        <p:txBody>
          <a:bodyPr wrap="square" lIns="0" tIns="0" rIns="0" bIns="0" rtlCol="0" anchor="ctr"/>
          <a:lstStyle/>
          <a:p>
            <a:pPr>
              <a:lnSpc>
                <a:spcPct val="140000"/>
              </a:lnSpc>
            </a:pPr>
            <a:r>
              <a:rPr lang="en-US" sz="2000" dirty="0">
                <a:solidFill>
                  <a:srgbClr val="1A2332"/>
                </a:solidFill>
                <a:latin typeface="Quattrocento Sans" pitchFamily="34" charset="0"/>
                <a:ea typeface="Quattrocento Sans" pitchFamily="34" charset="-122"/>
                <a:cs typeface="Quattrocento Sans" pitchFamily="34" charset="-120"/>
              </a:rPr>
              <a:t>Det är ett </a:t>
            </a:r>
            <a:r>
              <a:rPr lang="en-US" sz="2000" b="1" dirty="0">
                <a:solidFill>
                  <a:srgbClr val="1A2332"/>
                </a:solidFill>
                <a:latin typeface="Quattrocento Sans" pitchFamily="34" charset="0"/>
                <a:ea typeface="Quattrocento Sans" pitchFamily="34" charset="-122"/>
                <a:cs typeface="Quattrocento Sans" pitchFamily="34" charset="-120"/>
              </a:rPr>
              <a:t>ramverk för robotprogramvara</a:t>
            </a:r>
            <a:endParaRPr lang="en-US" sz="1600" dirty="0"/>
          </a:p>
        </p:txBody>
      </p:sp>
      <p:sp>
        <p:nvSpPr>
          <p:cNvPr id="11" name="Shape 8"/>
          <p:cNvSpPr/>
          <p:nvPr/>
        </p:nvSpPr>
        <p:spPr>
          <a:xfrm>
            <a:off x="1041400" y="4826000"/>
            <a:ext cx="355600" cy="406400"/>
          </a:xfrm>
          <a:custGeom>
            <a:avLst/>
            <a:gdLst/>
            <a:ahLst/>
            <a:cxnLst/>
            <a:rect l="l" t="t" r="r" b="b"/>
            <a:pathLst>
              <a:path w="355600" h="406400">
                <a:moveTo>
                  <a:pt x="345123" y="55642"/>
                </a:moveTo>
                <a:cubicBezTo>
                  <a:pt x="356473" y="63897"/>
                  <a:pt x="359013" y="79772"/>
                  <a:pt x="350758" y="91123"/>
                </a:cubicBezTo>
                <a:lnTo>
                  <a:pt x="147558" y="370523"/>
                </a:lnTo>
                <a:cubicBezTo>
                  <a:pt x="143193" y="376555"/>
                  <a:pt x="136446" y="380286"/>
                  <a:pt x="128984" y="380921"/>
                </a:cubicBezTo>
                <a:cubicBezTo>
                  <a:pt x="121523" y="381556"/>
                  <a:pt x="114300" y="378778"/>
                  <a:pt x="109061" y="373539"/>
                </a:cubicBezTo>
                <a:lnTo>
                  <a:pt x="7461" y="271939"/>
                </a:lnTo>
                <a:cubicBezTo>
                  <a:pt x="-2461" y="262017"/>
                  <a:pt x="-2461" y="245904"/>
                  <a:pt x="7461" y="235982"/>
                </a:cubicBezTo>
                <a:cubicBezTo>
                  <a:pt x="17383" y="226060"/>
                  <a:pt x="33496" y="226060"/>
                  <a:pt x="43418" y="235982"/>
                </a:cubicBezTo>
                <a:lnTo>
                  <a:pt x="123984" y="316548"/>
                </a:lnTo>
                <a:lnTo>
                  <a:pt x="309721" y="61198"/>
                </a:lnTo>
                <a:cubicBezTo>
                  <a:pt x="317976" y="49848"/>
                  <a:pt x="333851" y="47308"/>
                  <a:pt x="345202" y="55563"/>
                </a:cubicBezTo>
                <a:close/>
              </a:path>
            </a:pathLst>
          </a:custGeom>
          <a:solidFill>
            <a:srgbClr val="2D8A4E"/>
          </a:solidFill>
          <a:ln/>
        </p:spPr>
      </p:sp>
      <p:sp>
        <p:nvSpPr>
          <p:cNvPr id="12" name="Text 9"/>
          <p:cNvSpPr/>
          <p:nvPr/>
        </p:nvSpPr>
        <p:spPr>
          <a:xfrm>
            <a:off x="1651000" y="4762500"/>
            <a:ext cx="13589000" cy="571500"/>
          </a:xfrm>
          <a:prstGeom prst="rect">
            <a:avLst/>
          </a:prstGeom>
          <a:noFill/>
          <a:ln/>
        </p:spPr>
        <p:txBody>
          <a:bodyPr wrap="square" lIns="0" tIns="0" rIns="0" bIns="0" rtlCol="0" anchor="ctr"/>
          <a:lstStyle/>
          <a:p>
            <a:pPr>
              <a:lnSpc>
                <a:spcPct val="140000"/>
              </a:lnSpc>
            </a:pPr>
            <a:r>
              <a:rPr lang="en-US" sz="2000" dirty="0">
                <a:solidFill>
                  <a:srgbClr val="1A2332"/>
                </a:solidFill>
                <a:latin typeface="Quattrocento Sans" pitchFamily="34" charset="0"/>
                <a:ea typeface="Quattrocento Sans" pitchFamily="34" charset="-122"/>
                <a:cs typeface="Quattrocento Sans" pitchFamily="34" charset="-120"/>
              </a:rPr>
              <a:t>Det </a:t>
            </a:r>
            <a:r>
              <a:rPr lang="en-US" sz="2000" b="1" dirty="0">
                <a:solidFill>
                  <a:srgbClr val="1A2332"/>
                </a:solidFill>
                <a:latin typeface="Quattrocento Sans" pitchFamily="34" charset="0"/>
                <a:ea typeface="Quattrocento Sans" pitchFamily="34" charset="-122"/>
                <a:cs typeface="Quattrocento Sans" pitchFamily="34" charset="-120"/>
              </a:rPr>
              <a:t>hjälper program</a:t>
            </a:r>
            <a:r>
              <a:rPr lang="en-US" sz="2000" dirty="0">
                <a:solidFill>
                  <a:srgbClr val="1A2332"/>
                </a:solidFill>
                <a:latin typeface="Quattrocento Sans" pitchFamily="34" charset="0"/>
                <a:ea typeface="Quattrocento Sans" pitchFamily="34" charset="-122"/>
                <a:cs typeface="Quattrocento Sans" pitchFamily="34" charset="-120"/>
              </a:rPr>
              <a:t> i ett robotsystem att </a:t>
            </a:r>
            <a:r>
              <a:rPr lang="en-US" sz="2000" b="1" dirty="0">
                <a:solidFill>
                  <a:srgbClr val="1A2332"/>
                </a:solidFill>
                <a:latin typeface="Quattrocento Sans" pitchFamily="34" charset="0"/>
                <a:ea typeface="Quattrocento Sans" pitchFamily="34" charset="-122"/>
                <a:cs typeface="Quattrocento Sans" pitchFamily="34" charset="-120"/>
              </a:rPr>
              <a:t>kommunicera</a:t>
            </a:r>
            <a:endParaRPr lang="en-US" sz="1600" dirty="0"/>
          </a:p>
        </p:txBody>
      </p:sp>
      <p:sp>
        <p:nvSpPr>
          <p:cNvPr id="13" name="Shape 10"/>
          <p:cNvSpPr/>
          <p:nvPr/>
        </p:nvSpPr>
        <p:spPr>
          <a:xfrm>
            <a:off x="762000" y="5842000"/>
            <a:ext cx="14732000" cy="1270000"/>
          </a:xfrm>
          <a:prstGeom prst="roundRect">
            <a:avLst>
              <a:gd name="adj" fmla="val 8000"/>
            </a:avLst>
          </a:prstGeom>
          <a:solidFill>
            <a:srgbClr val="E8EBF0"/>
          </a:solidFill>
          <a:ln w="12700">
            <a:solidFill>
              <a:srgbClr val="D0D5DD"/>
            </a:solidFill>
            <a:prstDash val="solid"/>
          </a:ln>
        </p:spPr>
      </p:sp>
      <p:sp>
        <p:nvSpPr>
          <p:cNvPr id="14" name="Shape 11"/>
          <p:cNvSpPr/>
          <p:nvPr/>
        </p:nvSpPr>
        <p:spPr>
          <a:xfrm>
            <a:off x="762000" y="5842000"/>
            <a:ext cx="63500" cy="1270000"/>
          </a:xfrm>
          <a:prstGeom prst="rect">
            <a:avLst/>
          </a:prstGeom>
          <a:solidFill>
            <a:srgbClr val="D81B2E"/>
          </a:solidFill>
          <a:ln/>
        </p:spPr>
      </p:sp>
      <p:sp>
        <p:nvSpPr>
          <p:cNvPr id="15" name="Text 12"/>
          <p:cNvSpPr/>
          <p:nvPr/>
        </p:nvSpPr>
        <p:spPr>
          <a:xfrm>
            <a:off x="1143000" y="5969000"/>
            <a:ext cx="13970000" cy="1016000"/>
          </a:xfrm>
          <a:prstGeom prst="rect">
            <a:avLst/>
          </a:prstGeom>
          <a:noFill/>
          <a:ln/>
        </p:spPr>
        <p:txBody>
          <a:bodyPr wrap="square" lIns="0" tIns="0" rIns="0" bIns="0" rtlCol="0" anchor="ctr"/>
          <a:lstStyle/>
          <a:p>
            <a:pPr>
              <a:lnSpc>
                <a:spcPct val="150000"/>
              </a:lnSpc>
            </a:pPr>
            <a:r>
              <a:rPr lang="en-US" sz="1800" b="1" dirty="0">
                <a:solidFill>
                  <a:srgbClr val="1A2332"/>
                </a:solidFill>
                <a:latin typeface="Quattrocento Sans" pitchFamily="34" charset="0"/>
                <a:ea typeface="Quattrocento Sans" pitchFamily="34" charset="-122"/>
                <a:cs typeface="Quattrocento Sans" pitchFamily="34" charset="-120"/>
              </a:rPr>
              <a:t>Analogi:</a:t>
            </a:r>
            <a:r>
              <a:rPr lang="en-US" sz="1800" dirty="0">
                <a:solidFill>
                  <a:srgbClr val="1A2332"/>
                </a:solidFill>
                <a:latin typeface="Quattrocento Sans" pitchFamily="34" charset="0"/>
                <a:ea typeface="Quattrocento Sans" pitchFamily="34" charset="-122"/>
                <a:cs typeface="Quattrocento Sans" pitchFamily="34" charset="-120"/>
              </a:rPr>
              <a:t> Tänk på ROS2 som ett "socialt nätverk" för robotens program — det hjälper dem att hitta varandra, skicka meddelanden och samarbeta.</a:t>
            </a:r>
            <a:endParaRPr lang="en-US" sz="1600" dirty="0"/>
          </a:p>
        </p:txBody>
      </p:sp>
      <p:pic>
        <p:nvPicPr>
          <p:cNvPr id="16"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17" name="Text 13"/>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ROS2 som robotens nervsystem</a:t>
            </a:r>
            <a:endParaRPr lang="en-US" sz="2800" dirty="0"/>
          </a:p>
        </p:txBody>
      </p:sp>
      <p:sp>
        <p:nvSpPr>
          <p:cNvPr id="5" name="Text 2"/>
          <p:cNvSpPr/>
          <p:nvPr/>
        </p:nvSpPr>
        <p:spPr>
          <a:xfrm>
            <a:off x="762000" y="1524000"/>
            <a:ext cx="6858000" cy="444500"/>
          </a:xfrm>
          <a:prstGeom prst="rect">
            <a:avLst/>
          </a:prstGeom>
          <a:noFill/>
          <a:ln/>
        </p:spPr>
        <p:txBody>
          <a:bodyPr wrap="none" lIns="0" tIns="0" rIns="0" bIns="0" rtlCol="0" anchor="ctr"/>
          <a:lstStyle/>
          <a:p>
            <a:pPr algn="ctr">
              <a:lnSpc>
                <a:spcPct val="100000"/>
              </a:lnSpc>
            </a:pPr>
            <a:r>
              <a:rPr lang="en-US" sz="1800" b="1" kern="0" spc="200" dirty="0">
                <a:solidFill>
                  <a:srgbClr val="6B7B8D"/>
                </a:solidFill>
                <a:latin typeface="Liter" pitchFamily="34" charset="0"/>
                <a:ea typeface="Liter" pitchFamily="34" charset="-122"/>
                <a:cs typeface="Liter" pitchFamily="34" charset="-120"/>
              </a:rPr>
              <a:t>MÄNNISKAN</a:t>
            </a:r>
            <a:endParaRPr lang="en-US" sz="1600" dirty="0"/>
          </a:p>
        </p:txBody>
      </p:sp>
      <p:sp>
        <p:nvSpPr>
          <p:cNvPr id="6" name="Text 3"/>
          <p:cNvSpPr/>
          <p:nvPr/>
        </p:nvSpPr>
        <p:spPr>
          <a:xfrm>
            <a:off x="8636000" y="1524000"/>
            <a:ext cx="6858000" cy="444500"/>
          </a:xfrm>
          <a:prstGeom prst="rect">
            <a:avLst/>
          </a:prstGeom>
          <a:noFill/>
          <a:ln/>
        </p:spPr>
        <p:txBody>
          <a:bodyPr wrap="none" lIns="0" tIns="0" rIns="0" bIns="0" rtlCol="0" anchor="ctr"/>
          <a:lstStyle/>
          <a:p>
            <a:pPr algn="ctr">
              <a:lnSpc>
                <a:spcPct val="100000"/>
              </a:lnSpc>
            </a:pPr>
            <a:r>
              <a:rPr lang="en-US" sz="1800" b="1" kern="0" spc="200" dirty="0">
                <a:solidFill>
                  <a:srgbClr val="6B7B8D"/>
                </a:solidFill>
                <a:latin typeface="Liter" pitchFamily="34" charset="0"/>
                <a:ea typeface="Liter" pitchFamily="34" charset="-122"/>
                <a:cs typeface="Liter" pitchFamily="34" charset="-120"/>
              </a:rPr>
              <a:t>ROBOTEN</a:t>
            </a:r>
            <a:endParaRPr lang="en-US" sz="1600" dirty="0"/>
          </a:p>
        </p:txBody>
      </p:sp>
      <p:sp>
        <p:nvSpPr>
          <p:cNvPr id="7" name="Shape 4"/>
          <p:cNvSpPr/>
          <p:nvPr/>
        </p:nvSpPr>
        <p:spPr>
          <a:xfrm>
            <a:off x="8001000" y="1524000"/>
            <a:ext cx="0" cy="5461000"/>
          </a:xfrm>
          <a:prstGeom prst="straightConnector1">
            <a:avLst/>
          </a:prstGeom>
          <a:noFill/>
          <a:ln w="25400">
            <a:solidFill>
              <a:srgbClr val="D0D5DD"/>
            </a:solidFill>
            <a:prstDash val="sysDot"/>
            <a:headEnd type="none"/>
            <a:tailEnd type="none"/>
          </a:ln>
        </p:spPr>
      </p:sp>
      <p:sp>
        <p:nvSpPr>
          <p:cNvPr id="8" name="Shape 5"/>
          <p:cNvSpPr/>
          <p:nvPr/>
        </p:nvSpPr>
        <p:spPr>
          <a:xfrm>
            <a:off x="1524000" y="2222500"/>
            <a:ext cx="2540000" cy="1016000"/>
          </a:xfrm>
          <a:prstGeom prst="roundRect">
            <a:avLst>
              <a:gd name="adj" fmla="val 8000"/>
            </a:avLst>
          </a:prstGeom>
          <a:solidFill>
            <a:srgbClr val="0F2B46"/>
          </a:solidFill>
          <a:ln/>
        </p:spPr>
      </p:sp>
      <p:sp>
        <p:nvSpPr>
          <p:cNvPr id="9" name="Shape 6"/>
          <p:cNvSpPr/>
          <p:nvPr/>
        </p:nvSpPr>
        <p:spPr>
          <a:xfrm>
            <a:off x="1778000" y="24765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FFFFFF"/>
          </a:solidFill>
          <a:ln/>
        </p:spPr>
      </p:sp>
      <p:sp>
        <p:nvSpPr>
          <p:cNvPr id="10" name="Text 7"/>
          <p:cNvSpPr/>
          <p:nvPr/>
        </p:nvSpPr>
        <p:spPr>
          <a:xfrm>
            <a:off x="2349500" y="2413000"/>
            <a:ext cx="1524000" cy="6350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Hjärnan</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fattar beslut</a:t>
            </a:r>
            <a:endParaRPr lang="en-US" sz="1600" dirty="0"/>
          </a:p>
        </p:txBody>
      </p:sp>
      <p:sp>
        <p:nvSpPr>
          <p:cNvPr id="11" name="Shape 8"/>
          <p:cNvSpPr/>
          <p:nvPr/>
        </p:nvSpPr>
        <p:spPr>
          <a:xfrm>
            <a:off x="2540000" y="3492500"/>
            <a:ext cx="2540000" cy="1016000"/>
          </a:xfrm>
          <a:prstGeom prst="roundRect">
            <a:avLst>
              <a:gd name="adj" fmla="val 8000"/>
            </a:avLst>
          </a:prstGeom>
          <a:solidFill>
            <a:srgbClr val="D81B2E"/>
          </a:solidFill>
          <a:ln/>
        </p:spPr>
      </p:sp>
      <p:sp>
        <p:nvSpPr>
          <p:cNvPr id="12" name="Shape 9"/>
          <p:cNvSpPr/>
          <p:nvPr/>
        </p:nvSpPr>
        <p:spPr>
          <a:xfrm>
            <a:off x="2822575" y="3746500"/>
            <a:ext cx="400050" cy="457200"/>
          </a:xfrm>
          <a:custGeom>
            <a:avLst/>
            <a:gdLst/>
            <a:ahLst/>
            <a:cxnLst/>
            <a:rect l="l" t="t" r="r" b="b"/>
            <a:pathLst>
              <a:path w="400050" h="457200">
                <a:moveTo>
                  <a:pt x="302538" y="-8840"/>
                </a:moveTo>
                <a:cubicBezTo>
                  <a:pt x="313164" y="-1161"/>
                  <a:pt x="317093" y="12769"/>
                  <a:pt x="312271" y="24914"/>
                </a:cubicBezTo>
                <a:lnTo>
                  <a:pt x="242262" y="200025"/>
                </a:lnTo>
                <a:lnTo>
                  <a:pt x="371475" y="200025"/>
                </a:lnTo>
                <a:cubicBezTo>
                  <a:pt x="383530" y="200025"/>
                  <a:pt x="394246" y="207526"/>
                  <a:pt x="398353" y="218867"/>
                </a:cubicBezTo>
                <a:cubicBezTo>
                  <a:pt x="402461" y="230207"/>
                  <a:pt x="398978" y="242888"/>
                  <a:pt x="389781" y="250567"/>
                </a:cubicBezTo>
                <a:lnTo>
                  <a:pt x="132606" y="464880"/>
                </a:lnTo>
                <a:cubicBezTo>
                  <a:pt x="122515" y="473273"/>
                  <a:pt x="108139" y="473720"/>
                  <a:pt x="97512" y="466040"/>
                </a:cubicBezTo>
                <a:cubicBezTo>
                  <a:pt x="86886" y="458361"/>
                  <a:pt x="82957" y="444431"/>
                  <a:pt x="87779" y="432286"/>
                </a:cubicBezTo>
                <a:lnTo>
                  <a:pt x="157788" y="257175"/>
                </a:lnTo>
                <a:lnTo>
                  <a:pt x="28575" y="257175"/>
                </a:lnTo>
                <a:cubicBezTo>
                  <a:pt x="16520" y="257175"/>
                  <a:pt x="5804" y="249674"/>
                  <a:pt x="1697" y="238333"/>
                </a:cubicBezTo>
                <a:cubicBezTo>
                  <a:pt x="-2411" y="226993"/>
                  <a:pt x="1072" y="214312"/>
                  <a:pt x="10269" y="206633"/>
                </a:cubicBezTo>
                <a:lnTo>
                  <a:pt x="267444" y="-7680"/>
                </a:lnTo>
                <a:cubicBezTo>
                  <a:pt x="277535" y="-16073"/>
                  <a:pt x="291911" y="-16520"/>
                  <a:pt x="302538" y="-8840"/>
                </a:cubicBezTo>
                <a:close/>
              </a:path>
            </a:pathLst>
          </a:custGeom>
          <a:solidFill>
            <a:srgbClr val="FFFFFF"/>
          </a:solidFill>
          <a:ln/>
        </p:spPr>
      </p:sp>
      <p:sp>
        <p:nvSpPr>
          <p:cNvPr id="13" name="Text 10"/>
          <p:cNvSpPr/>
          <p:nvPr/>
        </p:nvSpPr>
        <p:spPr>
          <a:xfrm>
            <a:off x="3365500" y="3683000"/>
            <a:ext cx="1524000" cy="6350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Nerver</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skickar signaler</a:t>
            </a:r>
            <a:endParaRPr lang="en-US" sz="1600" dirty="0"/>
          </a:p>
        </p:txBody>
      </p:sp>
      <p:sp>
        <p:nvSpPr>
          <p:cNvPr id="14" name="Shape 11"/>
          <p:cNvSpPr/>
          <p:nvPr/>
        </p:nvSpPr>
        <p:spPr>
          <a:xfrm>
            <a:off x="1524000" y="4762500"/>
            <a:ext cx="2540000" cy="1016000"/>
          </a:xfrm>
          <a:prstGeom prst="roundRect">
            <a:avLst>
              <a:gd name="adj" fmla="val 8000"/>
            </a:avLst>
          </a:prstGeom>
          <a:solidFill>
            <a:srgbClr val="0F2B46"/>
          </a:solidFill>
          <a:ln/>
        </p:spPr>
      </p:sp>
      <p:sp>
        <p:nvSpPr>
          <p:cNvPr id="15" name="Shape 12"/>
          <p:cNvSpPr/>
          <p:nvPr/>
        </p:nvSpPr>
        <p:spPr>
          <a:xfrm>
            <a:off x="1835150" y="5016500"/>
            <a:ext cx="342900" cy="457200"/>
          </a:xfrm>
          <a:custGeom>
            <a:avLst/>
            <a:gdLst/>
            <a:ahLst/>
            <a:cxnLst/>
            <a:rect l="l" t="t" r="r" b="b"/>
            <a:pathLst>
              <a:path w="342900" h="457200">
                <a:moveTo>
                  <a:pt x="142875" y="0"/>
                </a:moveTo>
                <a:cubicBezTo>
                  <a:pt x="158681" y="0"/>
                  <a:pt x="171450" y="12769"/>
                  <a:pt x="171450" y="28575"/>
                </a:cubicBezTo>
                <a:lnTo>
                  <a:pt x="171450" y="128588"/>
                </a:lnTo>
                <a:lnTo>
                  <a:pt x="114300" y="128588"/>
                </a:lnTo>
                <a:lnTo>
                  <a:pt x="114300" y="28575"/>
                </a:lnTo>
                <a:cubicBezTo>
                  <a:pt x="114300" y="12769"/>
                  <a:pt x="127069" y="0"/>
                  <a:pt x="142875" y="0"/>
                </a:cubicBezTo>
                <a:close/>
                <a:moveTo>
                  <a:pt x="28575" y="57150"/>
                </a:moveTo>
                <a:cubicBezTo>
                  <a:pt x="28575" y="41344"/>
                  <a:pt x="41344" y="28575"/>
                  <a:pt x="57150" y="28575"/>
                </a:cubicBezTo>
                <a:cubicBezTo>
                  <a:pt x="72956" y="28575"/>
                  <a:pt x="85725" y="41344"/>
                  <a:pt x="85725" y="57150"/>
                </a:cubicBezTo>
                <a:lnTo>
                  <a:pt x="85725" y="128588"/>
                </a:lnTo>
                <a:lnTo>
                  <a:pt x="28575" y="128588"/>
                </a:lnTo>
                <a:lnTo>
                  <a:pt x="28575" y="57150"/>
                </a:lnTo>
                <a:close/>
                <a:moveTo>
                  <a:pt x="200025" y="57150"/>
                </a:moveTo>
                <a:cubicBezTo>
                  <a:pt x="200025" y="41344"/>
                  <a:pt x="212794" y="28575"/>
                  <a:pt x="228600" y="28575"/>
                </a:cubicBezTo>
                <a:cubicBezTo>
                  <a:pt x="244406" y="28575"/>
                  <a:pt x="257175" y="41344"/>
                  <a:pt x="257175" y="57150"/>
                </a:cubicBezTo>
                <a:lnTo>
                  <a:pt x="257175" y="142875"/>
                </a:lnTo>
                <a:cubicBezTo>
                  <a:pt x="257175" y="158681"/>
                  <a:pt x="244406" y="171450"/>
                  <a:pt x="228600" y="171450"/>
                </a:cubicBezTo>
                <a:cubicBezTo>
                  <a:pt x="212794" y="171450"/>
                  <a:pt x="200025" y="158681"/>
                  <a:pt x="200025" y="142875"/>
                </a:cubicBezTo>
                <a:lnTo>
                  <a:pt x="200025" y="57150"/>
                </a:lnTo>
                <a:close/>
                <a:moveTo>
                  <a:pt x="285750" y="114300"/>
                </a:moveTo>
                <a:cubicBezTo>
                  <a:pt x="285750" y="98494"/>
                  <a:pt x="298519" y="85725"/>
                  <a:pt x="314325" y="85725"/>
                </a:cubicBezTo>
                <a:cubicBezTo>
                  <a:pt x="330131" y="85725"/>
                  <a:pt x="342900" y="98494"/>
                  <a:pt x="342900" y="114300"/>
                </a:cubicBezTo>
                <a:lnTo>
                  <a:pt x="342900" y="171450"/>
                </a:lnTo>
                <a:cubicBezTo>
                  <a:pt x="342900" y="187256"/>
                  <a:pt x="330131" y="200025"/>
                  <a:pt x="314325" y="200025"/>
                </a:cubicBezTo>
                <a:cubicBezTo>
                  <a:pt x="298519" y="200025"/>
                  <a:pt x="285750" y="187256"/>
                  <a:pt x="285750" y="171450"/>
                </a:cubicBezTo>
                <a:lnTo>
                  <a:pt x="285750" y="114300"/>
                </a:lnTo>
                <a:close/>
                <a:moveTo>
                  <a:pt x="200025" y="192881"/>
                </a:moveTo>
                <a:lnTo>
                  <a:pt x="200025" y="192345"/>
                </a:lnTo>
                <a:cubicBezTo>
                  <a:pt x="208419" y="197168"/>
                  <a:pt x="218152" y="200025"/>
                  <a:pt x="228600" y="200025"/>
                </a:cubicBezTo>
                <a:cubicBezTo>
                  <a:pt x="240387" y="200025"/>
                  <a:pt x="251281" y="196453"/>
                  <a:pt x="260390" y="190381"/>
                </a:cubicBezTo>
                <a:cubicBezTo>
                  <a:pt x="268159" y="212616"/>
                  <a:pt x="289411" y="228600"/>
                  <a:pt x="314325" y="228600"/>
                </a:cubicBezTo>
                <a:cubicBezTo>
                  <a:pt x="324773" y="228600"/>
                  <a:pt x="334506" y="225832"/>
                  <a:pt x="342900" y="220920"/>
                </a:cubicBezTo>
                <a:lnTo>
                  <a:pt x="342900" y="228600"/>
                </a:lnTo>
                <a:cubicBezTo>
                  <a:pt x="342900" y="275302"/>
                  <a:pt x="320486" y="316825"/>
                  <a:pt x="285750" y="342900"/>
                </a:cubicBezTo>
                <a:lnTo>
                  <a:pt x="285750" y="428625"/>
                </a:lnTo>
                <a:cubicBezTo>
                  <a:pt x="285750" y="444431"/>
                  <a:pt x="272981" y="457200"/>
                  <a:pt x="257175" y="457200"/>
                </a:cubicBezTo>
                <a:lnTo>
                  <a:pt x="114300" y="457200"/>
                </a:lnTo>
                <a:cubicBezTo>
                  <a:pt x="98494" y="457200"/>
                  <a:pt x="85725" y="444431"/>
                  <a:pt x="85725" y="428625"/>
                </a:cubicBezTo>
                <a:lnTo>
                  <a:pt x="85725" y="358616"/>
                </a:lnTo>
                <a:cubicBezTo>
                  <a:pt x="70277" y="351562"/>
                  <a:pt x="56078" y="341828"/>
                  <a:pt x="43845" y="329595"/>
                </a:cubicBezTo>
                <a:lnTo>
                  <a:pt x="33486" y="319236"/>
                </a:lnTo>
                <a:cubicBezTo>
                  <a:pt x="12055" y="297805"/>
                  <a:pt x="0" y="268694"/>
                  <a:pt x="0" y="238423"/>
                </a:cubicBezTo>
                <a:lnTo>
                  <a:pt x="0" y="214313"/>
                </a:lnTo>
                <a:cubicBezTo>
                  <a:pt x="0" y="182791"/>
                  <a:pt x="25628" y="157163"/>
                  <a:pt x="57150" y="157163"/>
                </a:cubicBezTo>
                <a:lnTo>
                  <a:pt x="135731" y="157163"/>
                </a:lnTo>
                <a:cubicBezTo>
                  <a:pt x="155466" y="157163"/>
                  <a:pt x="171450" y="173147"/>
                  <a:pt x="171450" y="192881"/>
                </a:cubicBezTo>
                <a:cubicBezTo>
                  <a:pt x="171450" y="212616"/>
                  <a:pt x="155466" y="228600"/>
                  <a:pt x="135731" y="228600"/>
                </a:cubicBezTo>
                <a:lnTo>
                  <a:pt x="85725" y="228600"/>
                </a:lnTo>
                <a:cubicBezTo>
                  <a:pt x="77867" y="228600"/>
                  <a:pt x="71438" y="235029"/>
                  <a:pt x="71438" y="242888"/>
                </a:cubicBezTo>
                <a:cubicBezTo>
                  <a:pt x="71438" y="250746"/>
                  <a:pt x="77867" y="257175"/>
                  <a:pt x="85725" y="257175"/>
                </a:cubicBezTo>
                <a:lnTo>
                  <a:pt x="135731" y="257175"/>
                </a:lnTo>
                <a:cubicBezTo>
                  <a:pt x="171271" y="257175"/>
                  <a:pt x="200025" y="228421"/>
                  <a:pt x="200025" y="192881"/>
                </a:cubicBezTo>
                <a:close/>
              </a:path>
            </a:pathLst>
          </a:custGeom>
          <a:solidFill>
            <a:srgbClr val="FFFFFF"/>
          </a:solidFill>
          <a:ln/>
        </p:spPr>
      </p:sp>
      <p:sp>
        <p:nvSpPr>
          <p:cNvPr id="16" name="Text 13"/>
          <p:cNvSpPr/>
          <p:nvPr/>
        </p:nvSpPr>
        <p:spPr>
          <a:xfrm>
            <a:off x="2349500" y="4953000"/>
            <a:ext cx="1524000" cy="6350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Muskler</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utför rörelse</a:t>
            </a:r>
            <a:endParaRPr lang="en-US" sz="1600" dirty="0"/>
          </a:p>
        </p:txBody>
      </p:sp>
      <p:sp>
        <p:nvSpPr>
          <p:cNvPr id="17" name="Shape 14"/>
          <p:cNvSpPr/>
          <p:nvPr/>
        </p:nvSpPr>
        <p:spPr>
          <a:xfrm>
            <a:off x="2794000" y="3238500"/>
            <a:ext cx="0" cy="254000"/>
          </a:xfrm>
          <a:prstGeom prst="straightConnector1">
            <a:avLst/>
          </a:prstGeom>
          <a:noFill/>
          <a:ln w="25400">
            <a:solidFill>
              <a:srgbClr val="6B7B8D"/>
            </a:solidFill>
            <a:prstDash val="solid"/>
            <a:headEnd type="none"/>
            <a:tailEnd type="arrow"/>
          </a:ln>
        </p:spPr>
      </p:sp>
      <p:sp>
        <p:nvSpPr>
          <p:cNvPr id="18" name="Shape 15"/>
          <p:cNvSpPr/>
          <p:nvPr/>
        </p:nvSpPr>
        <p:spPr>
          <a:xfrm>
            <a:off x="2794000" y="4508500"/>
            <a:ext cx="0" cy="254000"/>
          </a:xfrm>
          <a:prstGeom prst="straightConnector1">
            <a:avLst/>
          </a:prstGeom>
          <a:noFill/>
          <a:ln w="25400">
            <a:solidFill>
              <a:srgbClr val="6B7B8D"/>
            </a:solidFill>
            <a:prstDash val="solid"/>
            <a:headEnd type="none"/>
            <a:tailEnd type="arrow"/>
          </a:ln>
        </p:spPr>
      </p:sp>
      <p:sp>
        <p:nvSpPr>
          <p:cNvPr id="19" name="Text 16"/>
          <p:cNvSpPr/>
          <p:nvPr/>
        </p:nvSpPr>
        <p:spPr>
          <a:xfrm>
            <a:off x="6858000" y="3556000"/>
            <a:ext cx="1016000" cy="762000"/>
          </a:xfrm>
          <a:prstGeom prst="rect">
            <a:avLst/>
          </a:prstGeom>
          <a:noFill/>
          <a:ln/>
        </p:spPr>
        <p:txBody>
          <a:bodyPr wrap="none" lIns="0" tIns="0" rIns="0" bIns="0" rtlCol="0" anchor="ctr"/>
          <a:lstStyle/>
          <a:p>
            <a:pPr algn="ctr">
              <a:lnSpc>
                <a:spcPct val="100000"/>
              </a:lnSpc>
            </a:pPr>
            <a:r>
              <a:rPr lang="en-US" sz="3600" dirty="0">
                <a:solidFill>
                  <a:srgbClr val="D81B2E"/>
                </a:solidFill>
                <a:latin typeface="Liter" pitchFamily="34" charset="0"/>
                <a:ea typeface="Liter" pitchFamily="34" charset="-122"/>
                <a:cs typeface="Liter" pitchFamily="34" charset="-120"/>
              </a:rPr>
              <a:t>=</a:t>
            </a:r>
            <a:endParaRPr lang="en-US" sz="1600" dirty="0"/>
          </a:p>
        </p:txBody>
      </p:sp>
      <p:sp>
        <p:nvSpPr>
          <p:cNvPr id="20" name="Shape 17"/>
          <p:cNvSpPr/>
          <p:nvPr/>
        </p:nvSpPr>
        <p:spPr>
          <a:xfrm>
            <a:off x="9398000" y="2222500"/>
            <a:ext cx="2540000" cy="1143000"/>
          </a:xfrm>
          <a:prstGeom prst="roundRect">
            <a:avLst>
              <a:gd name="adj" fmla="val 8000"/>
            </a:avLst>
          </a:prstGeom>
          <a:solidFill>
            <a:srgbClr val="0F2B46"/>
          </a:solidFill>
          <a:ln/>
        </p:spPr>
      </p:sp>
      <p:sp>
        <p:nvSpPr>
          <p:cNvPr id="21" name="Shape 18"/>
          <p:cNvSpPr/>
          <p:nvPr/>
        </p:nvSpPr>
        <p:spPr>
          <a:xfrm>
            <a:off x="9652000" y="2476500"/>
            <a:ext cx="457200" cy="457200"/>
          </a:xfrm>
          <a:custGeom>
            <a:avLst/>
            <a:gdLst/>
            <a:ahLst/>
            <a:cxnLst/>
            <a:rect l="l" t="t" r="r" b="b"/>
            <a:pathLst>
              <a:path w="457200" h="457200">
                <a:moveTo>
                  <a:pt x="157163" y="21431"/>
                </a:moveTo>
                <a:cubicBezTo>
                  <a:pt x="157163" y="9555"/>
                  <a:pt x="147608" y="0"/>
                  <a:pt x="135731" y="0"/>
                </a:cubicBezTo>
                <a:cubicBezTo>
                  <a:pt x="123855" y="0"/>
                  <a:pt x="114300" y="9555"/>
                  <a:pt x="114300" y="21431"/>
                </a:cubicBezTo>
                <a:lnTo>
                  <a:pt x="114300" y="57150"/>
                </a:lnTo>
                <a:cubicBezTo>
                  <a:pt x="82778" y="57150"/>
                  <a:pt x="57150" y="82778"/>
                  <a:pt x="57150" y="114300"/>
                </a:cubicBezTo>
                <a:lnTo>
                  <a:pt x="21431" y="114300"/>
                </a:lnTo>
                <a:cubicBezTo>
                  <a:pt x="9555" y="114300"/>
                  <a:pt x="0" y="123855"/>
                  <a:pt x="0" y="135731"/>
                </a:cubicBezTo>
                <a:cubicBezTo>
                  <a:pt x="0" y="147608"/>
                  <a:pt x="9555" y="157163"/>
                  <a:pt x="21431" y="157163"/>
                </a:cubicBezTo>
                <a:lnTo>
                  <a:pt x="57150" y="157163"/>
                </a:lnTo>
                <a:lnTo>
                  <a:pt x="57150" y="207169"/>
                </a:lnTo>
                <a:lnTo>
                  <a:pt x="21431" y="207169"/>
                </a:lnTo>
                <a:cubicBezTo>
                  <a:pt x="9555" y="207169"/>
                  <a:pt x="0" y="216724"/>
                  <a:pt x="0" y="228600"/>
                </a:cubicBezTo>
                <a:cubicBezTo>
                  <a:pt x="0" y="240476"/>
                  <a:pt x="9555" y="250031"/>
                  <a:pt x="21431" y="250031"/>
                </a:cubicBezTo>
                <a:lnTo>
                  <a:pt x="57150" y="250031"/>
                </a:lnTo>
                <a:lnTo>
                  <a:pt x="57150" y="300038"/>
                </a:lnTo>
                <a:lnTo>
                  <a:pt x="21431" y="300038"/>
                </a:lnTo>
                <a:cubicBezTo>
                  <a:pt x="9555" y="300038"/>
                  <a:pt x="0" y="309592"/>
                  <a:pt x="0" y="321469"/>
                </a:cubicBezTo>
                <a:cubicBezTo>
                  <a:pt x="0" y="333345"/>
                  <a:pt x="9555" y="342900"/>
                  <a:pt x="21431" y="342900"/>
                </a:cubicBezTo>
                <a:lnTo>
                  <a:pt x="57150" y="342900"/>
                </a:lnTo>
                <a:cubicBezTo>
                  <a:pt x="57150" y="374422"/>
                  <a:pt x="82778" y="400050"/>
                  <a:pt x="114300" y="400050"/>
                </a:cubicBezTo>
                <a:lnTo>
                  <a:pt x="114300" y="435769"/>
                </a:lnTo>
                <a:cubicBezTo>
                  <a:pt x="114300" y="447645"/>
                  <a:pt x="123855" y="457200"/>
                  <a:pt x="135731" y="457200"/>
                </a:cubicBezTo>
                <a:cubicBezTo>
                  <a:pt x="147608" y="457200"/>
                  <a:pt x="157163" y="447645"/>
                  <a:pt x="157163" y="435769"/>
                </a:cubicBezTo>
                <a:lnTo>
                  <a:pt x="157163" y="400050"/>
                </a:lnTo>
                <a:lnTo>
                  <a:pt x="207169" y="400050"/>
                </a:lnTo>
                <a:lnTo>
                  <a:pt x="207169" y="435769"/>
                </a:lnTo>
                <a:cubicBezTo>
                  <a:pt x="207169" y="447645"/>
                  <a:pt x="216724" y="457200"/>
                  <a:pt x="228600" y="457200"/>
                </a:cubicBezTo>
                <a:cubicBezTo>
                  <a:pt x="240476" y="457200"/>
                  <a:pt x="250031" y="447645"/>
                  <a:pt x="250031" y="435769"/>
                </a:cubicBezTo>
                <a:lnTo>
                  <a:pt x="250031" y="400050"/>
                </a:lnTo>
                <a:lnTo>
                  <a:pt x="300038" y="400050"/>
                </a:lnTo>
                <a:lnTo>
                  <a:pt x="300038" y="435769"/>
                </a:lnTo>
                <a:cubicBezTo>
                  <a:pt x="300038" y="447645"/>
                  <a:pt x="309592" y="457200"/>
                  <a:pt x="321469" y="457200"/>
                </a:cubicBezTo>
                <a:cubicBezTo>
                  <a:pt x="333345" y="457200"/>
                  <a:pt x="342900" y="447645"/>
                  <a:pt x="342900" y="435769"/>
                </a:cubicBezTo>
                <a:lnTo>
                  <a:pt x="342900" y="400050"/>
                </a:lnTo>
                <a:cubicBezTo>
                  <a:pt x="374422" y="400050"/>
                  <a:pt x="400050" y="374422"/>
                  <a:pt x="400050" y="342900"/>
                </a:cubicBezTo>
                <a:lnTo>
                  <a:pt x="435769" y="342900"/>
                </a:lnTo>
                <a:cubicBezTo>
                  <a:pt x="447645" y="342900"/>
                  <a:pt x="457200" y="333345"/>
                  <a:pt x="457200" y="321469"/>
                </a:cubicBezTo>
                <a:cubicBezTo>
                  <a:pt x="457200" y="309592"/>
                  <a:pt x="447645" y="300038"/>
                  <a:pt x="435769" y="300038"/>
                </a:cubicBezTo>
                <a:lnTo>
                  <a:pt x="400050" y="300038"/>
                </a:lnTo>
                <a:lnTo>
                  <a:pt x="400050" y="250031"/>
                </a:lnTo>
                <a:lnTo>
                  <a:pt x="435769" y="250031"/>
                </a:lnTo>
                <a:cubicBezTo>
                  <a:pt x="447645" y="250031"/>
                  <a:pt x="457200" y="240476"/>
                  <a:pt x="457200" y="228600"/>
                </a:cubicBezTo>
                <a:cubicBezTo>
                  <a:pt x="457200" y="216724"/>
                  <a:pt x="447645" y="207169"/>
                  <a:pt x="435769" y="207169"/>
                </a:cubicBezTo>
                <a:lnTo>
                  <a:pt x="400050" y="207169"/>
                </a:lnTo>
                <a:lnTo>
                  <a:pt x="400050" y="157163"/>
                </a:lnTo>
                <a:lnTo>
                  <a:pt x="435769" y="157163"/>
                </a:lnTo>
                <a:cubicBezTo>
                  <a:pt x="447645" y="157163"/>
                  <a:pt x="457200" y="147608"/>
                  <a:pt x="457200" y="135731"/>
                </a:cubicBezTo>
                <a:cubicBezTo>
                  <a:pt x="457200" y="123855"/>
                  <a:pt x="447645" y="114300"/>
                  <a:pt x="435769" y="114300"/>
                </a:cubicBezTo>
                <a:lnTo>
                  <a:pt x="400050" y="114300"/>
                </a:lnTo>
                <a:cubicBezTo>
                  <a:pt x="400050" y="82778"/>
                  <a:pt x="374422" y="57150"/>
                  <a:pt x="342900" y="57150"/>
                </a:cubicBezTo>
                <a:lnTo>
                  <a:pt x="342900" y="21431"/>
                </a:lnTo>
                <a:cubicBezTo>
                  <a:pt x="342900" y="9555"/>
                  <a:pt x="333345" y="0"/>
                  <a:pt x="321469" y="0"/>
                </a:cubicBezTo>
                <a:cubicBezTo>
                  <a:pt x="309592" y="0"/>
                  <a:pt x="300038" y="9555"/>
                  <a:pt x="300038" y="21431"/>
                </a:cubicBezTo>
                <a:lnTo>
                  <a:pt x="300038" y="57150"/>
                </a:lnTo>
                <a:lnTo>
                  <a:pt x="250031" y="57150"/>
                </a:lnTo>
                <a:lnTo>
                  <a:pt x="250031" y="21431"/>
                </a:lnTo>
                <a:cubicBezTo>
                  <a:pt x="250031" y="9555"/>
                  <a:pt x="240476" y="0"/>
                  <a:pt x="228600" y="0"/>
                </a:cubicBezTo>
                <a:cubicBezTo>
                  <a:pt x="216724" y="0"/>
                  <a:pt x="207169" y="9555"/>
                  <a:pt x="207169" y="21431"/>
                </a:cubicBezTo>
                <a:lnTo>
                  <a:pt x="207169" y="57150"/>
                </a:lnTo>
                <a:lnTo>
                  <a:pt x="157163" y="57150"/>
                </a:lnTo>
                <a:lnTo>
                  <a:pt x="157163" y="21431"/>
                </a:lnTo>
                <a:close/>
                <a:moveTo>
                  <a:pt x="142875" y="114300"/>
                </a:moveTo>
                <a:lnTo>
                  <a:pt x="314325" y="114300"/>
                </a:lnTo>
                <a:cubicBezTo>
                  <a:pt x="330131" y="114300"/>
                  <a:pt x="342900" y="127069"/>
                  <a:pt x="342900" y="142875"/>
                </a:cubicBezTo>
                <a:lnTo>
                  <a:pt x="342900" y="314325"/>
                </a:lnTo>
                <a:cubicBezTo>
                  <a:pt x="342900" y="330131"/>
                  <a:pt x="330131" y="342900"/>
                  <a:pt x="314325" y="342900"/>
                </a:cubicBezTo>
                <a:lnTo>
                  <a:pt x="142875" y="342900"/>
                </a:lnTo>
                <a:cubicBezTo>
                  <a:pt x="127069" y="342900"/>
                  <a:pt x="114300" y="330131"/>
                  <a:pt x="114300" y="314325"/>
                </a:cubicBezTo>
                <a:lnTo>
                  <a:pt x="114300" y="142875"/>
                </a:lnTo>
                <a:cubicBezTo>
                  <a:pt x="114300" y="127069"/>
                  <a:pt x="127069" y="114300"/>
                  <a:pt x="142875" y="114300"/>
                </a:cubicBezTo>
                <a:close/>
                <a:moveTo>
                  <a:pt x="157163" y="157163"/>
                </a:moveTo>
                <a:lnTo>
                  <a:pt x="157163" y="300038"/>
                </a:lnTo>
                <a:lnTo>
                  <a:pt x="300038" y="300038"/>
                </a:lnTo>
                <a:lnTo>
                  <a:pt x="300038" y="157163"/>
                </a:lnTo>
                <a:lnTo>
                  <a:pt x="157163" y="157163"/>
                </a:lnTo>
                <a:close/>
              </a:path>
            </a:pathLst>
          </a:custGeom>
          <a:solidFill>
            <a:srgbClr val="FFFFFF"/>
          </a:solidFill>
          <a:ln/>
        </p:spPr>
      </p:sp>
      <p:sp>
        <p:nvSpPr>
          <p:cNvPr id="22" name="Text 19"/>
          <p:cNvSpPr/>
          <p:nvPr/>
        </p:nvSpPr>
        <p:spPr>
          <a:xfrm>
            <a:off x="10223500" y="2413000"/>
            <a:ext cx="1524000" cy="9525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AI / Navigering</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fattar beslut</a:t>
            </a:r>
            <a:endParaRPr lang="en-US" sz="1600" dirty="0"/>
          </a:p>
        </p:txBody>
      </p:sp>
      <p:sp>
        <p:nvSpPr>
          <p:cNvPr id="23" name="Shape 20"/>
          <p:cNvSpPr/>
          <p:nvPr/>
        </p:nvSpPr>
        <p:spPr>
          <a:xfrm>
            <a:off x="10414000" y="3492500"/>
            <a:ext cx="2540000" cy="1016000"/>
          </a:xfrm>
          <a:prstGeom prst="roundRect">
            <a:avLst>
              <a:gd name="adj" fmla="val 8000"/>
            </a:avLst>
          </a:prstGeom>
          <a:solidFill>
            <a:srgbClr val="D81B2E"/>
          </a:solidFill>
          <a:ln/>
        </p:spPr>
      </p:sp>
      <p:sp>
        <p:nvSpPr>
          <p:cNvPr id="24" name="Shape 21"/>
          <p:cNvSpPr/>
          <p:nvPr/>
        </p:nvSpPr>
        <p:spPr>
          <a:xfrm>
            <a:off x="10639425" y="3746500"/>
            <a:ext cx="514350" cy="457200"/>
          </a:xfrm>
          <a:custGeom>
            <a:avLst/>
            <a:gdLst/>
            <a:ahLst/>
            <a:cxnLst/>
            <a:rect l="l" t="t" r="r" b="b"/>
            <a:pathLst>
              <a:path w="514350" h="457200">
                <a:moveTo>
                  <a:pt x="420231" y="334506"/>
                </a:moveTo>
                <a:lnTo>
                  <a:pt x="505956" y="248781"/>
                </a:lnTo>
                <a:cubicBezTo>
                  <a:pt x="517118" y="237619"/>
                  <a:pt x="517118" y="219492"/>
                  <a:pt x="505956" y="208330"/>
                </a:cubicBezTo>
                <a:lnTo>
                  <a:pt x="420231" y="122605"/>
                </a:lnTo>
                <a:cubicBezTo>
                  <a:pt x="409069" y="111443"/>
                  <a:pt x="390942" y="111443"/>
                  <a:pt x="379780" y="122605"/>
                </a:cubicBezTo>
                <a:cubicBezTo>
                  <a:pt x="368618" y="133767"/>
                  <a:pt x="368618" y="151894"/>
                  <a:pt x="379780" y="163056"/>
                </a:cubicBezTo>
                <a:lnTo>
                  <a:pt x="416749" y="200025"/>
                </a:lnTo>
                <a:lnTo>
                  <a:pt x="97512" y="200025"/>
                </a:lnTo>
                <a:lnTo>
                  <a:pt x="134481" y="163056"/>
                </a:lnTo>
                <a:cubicBezTo>
                  <a:pt x="145643" y="151894"/>
                  <a:pt x="145643" y="133767"/>
                  <a:pt x="134481" y="122605"/>
                </a:cubicBezTo>
                <a:cubicBezTo>
                  <a:pt x="123319" y="111443"/>
                  <a:pt x="105192" y="111443"/>
                  <a:pt x="94030" y="122605"/>
                </a:cubicBezTo>
                <a:lnTo>
                  <a:pt x="8305" y="208330"/>
                </a:lnTo>
                <a:cubicBezTo>
                  <a:pt x="2947" y="213687"/>
                  <a:pt x="-89" y="220920"/>
                  <a:pt x="-89" y="228511"/>
                </a:cubicBezTo>
                <a:cubicBezTo>
                  <a:pt x="-89" y="236101"/>
                  <a:pt x="2947" y="243334"/>
                  <a:pt x="8305" y="248692"/>
                </a:cubicBezTo>
                <a:lnTo>
                  <a:pt x="94030" y="334417"/>
                </a:lnTo>
                <a:cubicBezTo>
                  <a:pt x="105192" y="345579"/>
                  <a:pt x="123319" y="345579"/>
                  <a:pt x="134481" y="334417"/>
                </a:cubicBezTo>
                <a:cubicBezTo>
                  <a:pt x="145643" y="323255"/>
                  <a:pt x="145643" y="305127"/>
                  <a:pt x="134481" y="293965"/>
                </a:cubicBezTo>
                <a:lnTo>
                  <a:pt x="97512" y="256996"/>
                </a:lnTo>
                <a:lnTo>
                  <a:pt x="416749" y="256996"/>
                </a:lnTo>
                <a:lnTo>
                  <a:pt x="379780" y="293965"/>
                </a:lnTo>
                <a:cubicBezTo>
                  <a:pt x="368618" y="305127"/>
                  <a:pt x="368618" y="323255"/>
                  <a:pt x="379780" y="334417"/>
                </a:cubicBezTo>
                <a:cubicBezTo>
                  <a:pt x="390942" y="345579"/>
                  <a:pt x="409069" y="345579"/>
                  <a:pt x="420231" y="334417"/>
                </a:cubicBezTo>
                <a:close/>
              </a:path>
            </a:pathLst>
          </a:custGeom>
          <a:solidFill>
            <a:srgbClr val="FFFFFF"/>
          </a:solidFill>
          <a:ln/>
        </p:spPr>
      </p:sp>
      <p:sp>
        <p:nvSpPr>
          <p:cNvPr id="25" name="Text 22"/>
          <p:cNvSpPr/>
          <p:nvPr/>
        </p:nvSpPr>
        <p:spPr>
          <a:xfrm>
            <a:off x="11239500" y="3683000"/>
            <a:ext cx="1524000" cy="6350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ROS2</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skickar data</a:t>
            </a:r>
            <a:endParaRPr lang="en-US" sz="1600" dirty="0"/>
          </a:p>
        </p:txBody>
      </p:sp>
      <p:sp>
        <p:nvSpPr>
          <p:cNvPr id="26" name="Shape 23"/>
          <p:cNvSpPr/>
          <p:nvPr/>
        </p:nvSpPr>
        <p:spPr>
          <a:xfrm>
            <a:off x="9398000" y="4762500"/>
            <a:ext cx="2540000" cy="1016000"/>
          </a:xfrm>
          <a:prstGeom prst="roundRect">
            <a:avLst>
              <a:gd name="adj" fmla="val 8000"/>
            </a:avLst>
          </a:prstGeom>
          <a:solidFill>
            <a:srgbClr val="0F2B46"/>
          </a:solidFill>
          <a:ln/>
        </p:spPr>
      </p:sp>
      <p:sp>
        <p:nvSpPr>
          <p:cNvPr id="27" name="Shape 24"/>
          <p:cNvSpPr/>
          <p:nvPr/>
        </p:nvSpPr>
        <p:spPr>
          <a:xfrm>
            <a:off x="9594850" y="5016500"/>
            <a:ext cx="571500" cy="457200"/>
          </a:xfrm>
          <a:custGeom>
            <a:avLst/>
            <a:gdLst/>
            <a:ahLst/>
            <a:cxnLst/>
            <a:rect l="l" t="t" r="r" b="b"/>
            <a:pathLst>
              <a:path w="571500" h="457200">
                <a:moveTo>
                  <a:pt x="371386" y="187970"/>
                </a:moveTo>
                <a:cubicBezTo>
                  <a:pt x="382280" y="185023"/>
                  <a:pt x="393710" y="190202"/>
                  <a:pt x="398621" y="200293"/>
                </a:cubicBezTo>
                <a:lnTo>
                  <a:pt x="415230" y="233869"/>
                </a:lnTo>
                <a:cubicBezTo>
                  <a:pt x="424428" y="235119"/>
                  <a:pt x="433447" y="237619"/>
                  <a:pt x="441930" y="241102"/>
                </a:cubicBezTo>
                <a:lnTo>
                  <a:pt x="473184" y="220295"/>
                </a:lnTo>
                <a:cubicBezTo>
                  <a:pt x="482560" y="214045"/>
                  <a:pt x="494973" y="215295"/>
                  <a:pt x="502920" y="223242"/>
                </a:cubicBezTo>
                <a:lnTo>
                  <a:pt x="520065" y="240387"/>
                </a:lnTo>
                <a:cubicBezTo>
                  <a:pt x="528012" y="248335"/>
                  <a:pt x="529263" y="260836"/>
                  <a:pt x="523012" y="270123"/>
                </a:cubicBezTo>
                <a:lnTo>
                  <a:pt x="502206" y="301288"/>
                </a:lnTo>
                <a:cubicBezTo>
                  <a:pt x="503902" y="305485"/>
                  <a:pt x="505420" y="309860"/>
                  <a:pt x="506670" y="314414"/>
                </a:cubicBezTo>
                <a:cubicBezTo>
                  <a:pt x="507921" y="318968"/>
                  <a:pt x="508724" y="323433"/>
                  <a:pt x="509349" y="327987"/>
                </a:cubicBezTo>
                <a:lnTo>
                  <a:pt x="543014" y="344597"/>
                </a:lnTo>
                <a:cubicBezTo>
                  <a:pt x="553105" y="349597"/>
                  <a:pt x="558284" y="361027"/>
                  <a:pt x="555337" y="371832"/>
                </a:cubicBezTo>
                <a:lnTo>
                  <a:pt x="549086" y="395228"/>
                </a:lnTo>
                <a:cubicBezTo>
                  <a:pt x="546140" y="406033"/>
                  <a:pt x="536049" y="413355"/>
                  <a:pt x="524798" y="412641"/>
                </a:cubicBezTo>
                <a:lnTo>
                  <a:pt x="487293" y="410230"/>
                </a:lnTo>
                <a:cubicBezTo>
                  <a:pt x="481667" y="417463"/>
                  <a:pt x="475149" y="424160"/>
                  <a:pt x="467737" y="429875"/>
                </a:cubicBezTo>
                <a:lnTo>
                  <a:pt x="470148" y="467291"/>
                </a:lnTo>
                <a:cubicBezTo>
                  <a:pt x="470862" y="478542"/>
                  <a:pt x="463540" y="488722"/>
                  <a:pt x="452735" y="491579"/>
                </a:cubicBezTo>
                <a:lnTo>
                  <a:pt x="429339" y="497830"/>
                </a:lnTo>
                <a:cubicBezTo>
                  <a:pt x="418445" y="500777"/>
                  <a:pt x="407104" y="495598"/>
                  <a:pt x="402104" y="485507"/>
                </a:cubicBezTo>
                <a:lnTo>
                  <a:pt x="385495" y="451931"/>
                </a:lnTo>
                <a:cubicBezTo>
                  <a:pt x="376297" y="450681"/>
                  <a:pt x="367278" y="448181"/>
                  <a:pt x="358795" y="444698"/>
                </a:cubicBezTo>
                <a:lnTo>
                  <a:pt x="327541" y="465505"/>
                </a:lnTo>
                <a:cubicBezTo>
                  <a:pt x="318165" y="471755"/>
                  <a:pt x="305753" y="470505"/>
                  <a:pt x="297805" y="462558"/>
                </a:cubicBezTo>
                <a:lnTo>
                  <a:pt x="280660" y="445413"/>
                </a:lnTo>
                <a:cubicBezTo>
                  <a:pt x="272713" y="437465"/>
                  <a:pt x="271463" y="425053"/>
                  <a:pt x="277713" y="415677"/>
                </a:cubicBezTo>
                <a:lnTo>
                  <a:pt x="298519" y="384423"/>
                </a:lnTo>
                <a:cubicBezTo>
                  <a:pt x="296823" y="380226"/>
                  <a:pt x="295305" y="375851"/>
                  <a:pt x="294055" y="371296"/>
                </a:cubicBezTo>
                <a:cubicBezTo>
                  <a:pt x="292804" y="366742"/>
                  <a:pt x="292001" y="362188"/>
                  <a:pt x="291376" y="357723"/>
                </a:cubicBezTo>
                <a:lnTo>
                  <a:pt x="257711" y="341114"/>
                </a:lnTo>
                <a:cubicBezTo>
                  <a:pt x="247620" y="336113"/>
                  <a:pt x="242530" y="324683"/>
                  <a:pt x="245388" y="313879"/>
                </a:cubicBezTo>
                <a:lnTo>
                  <a:pt x="251639" y="290483"/>
                </a:lnTo>
                <a:cubicBezTo>
                  <a:pt x="254585" y="279678"/>
                  <a:pt x="264676" y="272355"/>
                  <a:pt x="275927" y="273070"/>
                </a:cubicBezTo>
                <a:lnTo>
                  <a:pt x="313343" y="275481"/>
                </a:lnTo>
                <a:cubicBezTo>
                  <a:pt x="318968" y="268248"/>
                  <a:pt x="325487" y="261551"/>
                  <a:pt x="332899" y="255836"/>
                </a:cubicBezTo>
                <a:lnTo>
                  <a:pt x="330488" y="218509"/>
                </a:lnTo>
                <a:cubicBezTo>
                  <a:pt x="329773" y="207258"/>
                  <a:pt x="337096" y="197078"/>
                  <a:pt x="347901" y="194221"/>
                </a:cubicBezTo>
                <a:lnTo>
                  <a:pt x="371296" y="187970"/>
                </a:lnTo>
                <a:close/>
                <a:moveTo>
                  <a:pt x="400407" y="303609"/>
                </a:moveTo>
                <a:cubicBezTo>
                  <a:pt x="378722" y="303634"/>
                  <a:pt x="361137" y="321260"/>
                  <a:pt x="361161" y="342945"/>
                </a:cubicBezTo>
                <a:cubicBezTo>
                  <a:pt x="361186" y="364630"/>
                  <a:pt x="378811" y="382215"/>
                  <a:pt x="400496" y="382191"/>
                </a:cubicBezTo>
                <a:cubicBezTo>
                  <a:pt x="422182" y="382166"/>
                  <a:pt x="439767" y="364540"/>
                  <a:pt x="439742" y="342855"/>
                </a:cubicBezTo>
                <a:cubicBezTo>
                  <a:pt x="439718" y="321170"/>
                  <a:pt x="422092" y="303585"/>
                  <a:pt x="400407" y="303609"/>
                </a:cubicBezTo>
                <a:close/>
                <a:moveTo>
                  <a:pt x="200829" y="-40630"/>
                </a:moveTo>
                <a:lnTo>
                  <a:pt x="224224" y="-34379"/>
                </a:lnTo>
                <a:cubicBezTo>
                  <a:pt x="235029" y="-31433"/>
                  <a:pt x="242352" y="-21253"/>
                  <a:pt x="241637" y="-10091"/>
                </a:cubicBezTo>
                <a:lnTo>
                  <a:pt x="239226" y="27236"/>
                </a:lnTo>
                <a:cubicBezTo>
                  <a:pt x="246638" y="32951"/>
                  <a:pt x="253157" y="39559"/>
                  <a:pt x="258782" y="46881"/>
                </a:cubicBezTo>
                <a:lnTo>
                  <a:pt x="296287" y="44470"/>
                </a:lnTo>
                <a:cubicBezTo>
                  <a:pt x="307449" y="43755"/>
                  <a:pt x="317629" y="51078"/>
                  <a:pt x="320576" y="61883"/>
                </a:cubicBezTo>
                <a:lnTo>
                  <a:pt x="326827" y="85279"/>
                </a:lnTo>
                <a:cubicBezTo>
                  <a:pt x="329684" y="96083"/>
                  <a:pt x="324594" y="107513"/>
                  <a:pt x="314504" y="112514"/>
                </a:cubicBezTo>
                <a:lnTo>
                  <a:pt x="280839" y="129123"/>
                </a:lnTo>
                <a:cubicBezTo>
                  <a:pt x="280214" y="133677"/>
                  <a:pt x="279321" y="138232"/>
                  <a:pt x="278160" y="142696"/>
                </a:cubicBezTo>
                <a:cubicBezTo>
                  <a:pt x="276999" y="147161"/>
                  <a:pt x="275392" y="151626"/>
                  <a:pt x="273695" y="155823"/>
                </a:cubicBezTo>
                <a:lnTo>
                  <a:pt x="294501" y="187077"/>
                </a:lnTo>
                <a:cubicBezTo>
                  <a:pt x="300752" y="196453"/>
                  <a:pt x="299502" y="208865"/>
                  <a:pt x="291554" y="216813"/>
                </a:cubicBezTo>
                <a:lnTo>
                  <a:pt x="274409" y="233958"/>
                </a:lnTo>
                <a:cubicBezTo>
                  <a:pt x="266462" y="241905"/>
                  <a:pt x="254050" y="243155"/>
                  <a:pt x="244673" y="236905"/>
                </a:cubicBezTo>
                <a:lnTo>
                  <a:pt x="213420" y="216098"/>
                </a:lnTo>
                <a:cubicBezTo>
                  <a:pt x="204936" y="219581"/>
                  <a:pt x="195917" y="222081"/>
                  <a:pt x="186720" y="223331"/>
                </a:cubicBezTo>
                <a:lnTo>
                  <a:pt x="170111" y="256907"/>
                </a:lnTo>
                <a:cubicBezTo>
                  <a:pt x="165110" y="266998"/>
                  <a:pt x="153680" y="272088"/>
                  <a:pt x="142875" y="269230"/>
                </a:cubicBezTo>
                <a:lnTo>
                  <a:pt x="119479" y="262979"/>
                </a:lnTo>
                <a:cubicBezTo>
                  <a:pt x="108585" y="260033"/>
                  <a:pt x="101352" y="249853"/>
                  <a:pt x="102066" y="238691"/>
                </a:cubicBezTo>
                <a:lnTo>
                  <a:pt x="104477" y="201275"/>
                </a:lnTo>
                <a:cubicBezTo>
                  <a:pt x="97066" y="195560"/>
                  <a:pt x="90547" y="188952"/>
                  <a:pt x="84921" y="181630"/>
                </a:cubicBezTo>
                <a:lnTo>
                  <a:pt x="47417" y="184041"/>
                </a:lnTo>
                <a:cubicBezTo>
                  <a:pt x="36255" y="184755"/>
                  <a:pt x="26075" y="177433"/>
                  <a:pt x="23128" y="166628"/>
                </a:cubicBezTo>
                <a:lnTo>
                  <a:pt x="16877" y="143232"/>
                </a:lnTo>
                <a:cubicBezTo>
                  <a:pt x="14020" y="132427"/>
                  <a:pt x="19110" y="120997"/>
                  <a:pt x="29200" y="115997"/>
                </a:cubicBezTo>
                <a:lnTo>
                  <a:pt x="62865" y="99387"/>
                </a:lnTo>
                <a:cubicBezTo>
                  <a:pt x="63490" y="94833"/>
                  <a:pt x="64383" y="90368"/>
                  <a:pt x="65544" y="85814"/>
                </a:cubicBezTo>
                <a:cubicBezTo>
                  <a:pt x="66794" y="81260"/>
                  <a:pt x="68223" y="76885"/>
                  <a:pt x="70009" y="72688"/>
                </a:cubicBezTo>
                <a:lnTo>
                  <a:pt x="49203" y="41523"/>
                </a:lnTo>
                <a:cubicBezTo>
                  <a:pt x="42952" y="32147"/>
                  <a:pt x="44202" y="19735"/>
                  <a:pt x="52149" y="11787"/>
                </a:cubicBezTo>
                <a:lnTo>
                  <a:pt x="69294" y="-5358"/>
                </a:lnTo>
                <a:cubicBezTo>
                  <a:pt x="77242" y="-13305"/>
                  <a:pt x="89654" y="-14555"/>
                  <a:pt x="99030" y="-8305"/>
                </a:cubicBezTo>
                <a:lnTo>
                  <a:pt x="130284" y="12502"/>
                </a:lnTo>
                <a:cubicBezTo>
                  <a:pt x="138767" y="9019"/>
                  <a:pt x="147786" y="6519"/>
                  <a:pt x="156984" y="5269"/>
                </a:cubicBezTo>
                <a:lnTo>
                  <a:pt x="173593" y="-28307"/>
                </a:lnTo>
                <a:cubicBezTo>
                  <a:pt x="178594" y="-38398"/>
                  <a:pt x="189934" y="-43488"/>
                  <a:pt x="200829" y="-40630"/>
                </a:cubicBezTo>
                <a:close/>
                <a:moveTo>
                  <a:pt x="171807" y="75009"/>
                </a:moveTo>
                <a:cubicBezTo>
                  <a:pt x="150122" y="75009"/>
                  <a:pt x="132517" y="92615"/>
                  <a:pt x="132517" y="114300"/>
                </a:cubicBezTo>
                <a:cubicBezTo>
                  <a:pt x="132517" y="135985"/>
                  <a:pt x="150122" y="153591"/>
                  <a:pt x="171807" y="153591"/>
                </a:cubicBezTo>
                <a:cubicBezTo>
                  <a:pt x="193492" y="153591"/>
                  <a:pt x="211098" y="135985"/>
                  <a:pt x="211098" y="114300"/>
                </a:cubicBezTo>
                <a:cubicBezTo>
                  <a:pt x="211098" y="92615"/>
                  <a:pt x="193492" y="75009"/>
                  <a:pt x="171807" y="75009"/>
                </a:cubicBezTo>
                <a:close/>
              </a:path>
            </a:pathLst>
          </a:custGeom>
          <a:solidFill>
            <a:srgbClr val="FFFFFF"/>
          </a:solidFill>
          <a:ln/>
        </p:spPr>
      </p:sp>
      <p:sp>
        <p:nvSpPr>
          <p:cNvPr id="28" name="Text 25"/>
          <p:cNvSpPr/>
          <p:nvPr/>
        </p:nvSpPr>
        <p:spPr>
          <a:xfrm>
            <a:off x="10223500" y="4953000"/>
            <a:ext cx="1524000" cy="635000"/>
          </a:xfrm>
          <a:prstGeom prst="rect">
            <a:avLst/>
          </a:prstGeom>
          <a:noFill/>
          <a:ln/>
        </p:spPr>
        <p:txBody>
          <a:bodyPr wrap="square" lIns="0" tIns="0" rIns="0" bIns="0" rtlCol="0" anchor="ctr"/>
          <a:lstStyle/>
          <a:p>
            <a:pPr>
              <a:lnSpc>
                <a:spcPct val="130000"/>
              </a:lnSpc>
            </a:pPr>
            <a:r>
              <a:rPr lang="en-US" sz="1600" b="1" dirty="0">
                <a:solidFill>
                  <a:srgbClr val="FFFFFF"/>
                </a:solidFill>
                <a:latin typeface="Quattrocento Sans" pitchFamily="34" charset="0"/>
                <a:ea typeface="Quattrocento Sans" pitchFamily="34" charset="-122"/>
                <a:cs typeface="Quattrocento Sans" pitchFamily="34" charset="-120"/>
              </a:rPr>
              <a:t>Motorer</a:t>
            </a:r>
            <a:endParaRPr lang="en-US" sz="1600" dirty="0"/>
          </a:p>
          <a:p>
            <a:pPr>
              <a:lnSpc>
                <a:spcPct val="130000"/>
              </a:lnSpc>
            </a:pPr>
            <a:r>
              <a:rPr lang="en-US" sz="1300" dirty="0">
                <a:solidFill>
                  <a:srgbClr val="B0BEC5"/>
                </a:solidFill>
                <a:latin typeface="Quattrocento Sans" pitchFamily="34" charset="0"/>
                <a:ea typeface="Quattrocento Sans" pitchFamily="34" charset="-122"/>
                <a:cs typeface="Quattrocento Sans" pitchFamily="34" charset="-120"/>
              </a:rPr>
              <a:t>utför rörelse</a:t>
            </a:r>
            <a:endParaRPr lang="en-US" sz="1600" dirty="0"/>
          </a:p>
        </p:txBody>
      </p:sp>
      <p:sp>
        <p:nvSpPr>
          <p:cNvPr id="29" name="Shape 26"/>
          <p:cNvSpPr/>
          <p:nvPr/>
        </p:nvSpPr>
        <p:spPr>
          <a:xfrm>
            <a:off x="10668000" y="3429000"/>
            <a:ext cx="0" cy="254000"/>
          </a:xfrm>
          <a:prstGeom prst="straightConnector1">
            <a:avLst/>
          </a:prstGeom>
          <a:noFill/>
          <a:ln w="25400">
            <a:solidFill>
              <a:srgbClr val="6B7B8D"/>
            </a:solidFill>
            <a:prstDash val="solid"/>
            <a:headEnd type="none"/>
            <a:tailEnd type="arrow"/>
          </a:ln>
        </p:spPr>
      </p:sp>
      <p:sp>
        <p:nvSpPr>
          <p:cNvPr id="30" name="Shape 27"/>
          <p:cNvSpPr/>
          <p:nvPr/>
        </p:nvSpPr>
        <p:spPr>
          <a:xfrm>
            <a:off x="10668000" y="4508500"/>
            <a:ext cx="0" cy="254000"/>
          </a:xfrm>
          <a:prstGeom prst="straightConnector1">
            <a:avLst/>
          </a:prstGeom>
          <a:noFill/>
          <a:ln w="25400">
            <a:solidFill>
              <a:srgbClr val="6B7B8D"/>
            </a:solidFill>
            <a:prstDash val="solid"/>
            <a:headEnd type="none"/>
            <a:tailEnd type="arrow"/>
          </a:ln>
        </p:spPr>
      </p:sp>
      <p:sp>
        <p:nvSpPr>
          <p:cNvPr id="31" name="Text 28"/>
          <p:cNvSpPr/>
          <p:nvPr/>
        </p:nvSpPr>
        <p:spPr>
          <a:xfrm>
            <a:off x="762000" y="6223000"/>
            <a:ext cx="7112000" cy="825500"/>
          </a:xfrm>
          <a:prstGeom prst="rect">
            <a:avLst/>
          </a:prstGeom>
          <a:noFill/>
          <a:ln/>
        </p:spPr>
        <p:txBody>
          <a:bodyPr wrap="square" lIns="0" tIns="0" rIns="0" bIns="0" rtlCol="0" anchor="ctr"/>
          <a:lstStyle/>
          <a:p>
            <a:pPr algn="ctr">
              <a:lnSpc>
                <a:spcPct val="140000"/>
              </a:lnSpc>
            </a:pPr>
            <a:r>
              <a:rPr lang="en-US" sz="1800" dirty="0">
                <a:solidFill>
                  <a:srgbClr val="6B7B8D"/>
                </a:solidFill>
                <a:latin typeface="Quattrocento Sans" pitchFamily="34" charset="0"/>
                <a:ea typeface="Quattrocento Sans" pitchFamily="34" charset="-122"/>
                <a:cs typeface="Quattrocento Sans" pitchFamily="34" charset="-120"/>
              </a:rPr>
              <a:t>ROS2 fungerar som robotens "nervsystem" — det kopplar ihop beslutsfattande med utförande.</a:t>
            </a:r>
            <a:endParaRPr lang="en-US" sz="1600" dirty="0"/>
          </a:p>
        </p:txBody>
      </p:sp>
      <p:pic>
        <p:nvPicPr>
          <p:cNvPr id="32"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33" name="Text 29"/>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Grundidé: flera små program</a:t>
            </a:r>
            <a:endParaRPr lang="en-US" sz="2800" dirty="0"/>
          </a:p>
        </p:txBody>
      </p:sp>
      <p:sp>
        <p:nvSpPr>
          <p:cNvPr id="5" name="Shape 2"/>
          <p:cNvSpPr/>
          <p:nvPr/>
        </p:nvSpPr>
        <p:spPr>
          <a:xfrm>
            <a:off x="762000" y="1524000"/>
            <a:ext cx="14732000" cy="1016000"/>
          </a:xfrm>
          <a:prstGeom prst="roundRect">
            <a:avLst>
              <a:gd name="adj" fmla="val 8000"/>
            </a:avLst>
          </a:prstGeom>
          <a:solidFill>
            <a:srgbClr val="0F2B46"/>
          </a:solidFill>
          <a:ln/>
        </p:spPr>
      </p:sp>
      <p:sp>
        <p:nvSpPr>
          <p:cNvPr id="6" name="Text 3"/>
          <p:cNvSpPr/>
          <p:nvPr/>
        </p:nvSpPr>
        <p:spPr>
          <a:xfrm>
            <a:off x="1270000" y="1651000"/>
            <a:ext cx="13716000" cy="762000"/>
          </a:xfrm>
          <a:prstGeom prst="rect">
            <a:avLst/>
          </a:prstGeom>
          <a:noFill/>
          <a:ln/>
        </p:spPr>
        <p:txBody>
          <a:bodyPr wrap="square" lIns="0" tIns="0" rIns="0" bIns="0" rtlCol="0" anchor="ctr"/>
          <a:lstStyle/>
          <a:p>
            <a:pPr algn="ctr">
              <a:lnSpc>
                <a:spcPct val="140000"/>
              </a:lnSpc>
            </a:pPr>
            <a:r>
              <a:rPr lang="en-US" sz="2200" dirty="0">
                <a:solidFill>
                  <a:srgbClr val="FFFFFF"/>
                </a:solidFill>
                <a:latin typeface="Quattrocento Sans" pitchFamily="34" charset="0"/>
                <a:ea typeface="Quattrocento Sans" pitchFamily="34" charset="-122"/>
                <a:cs typeface="Quattrocento Sans" pitchFamily="34" charset="-120"/>
              </a:rPr>
              <a:t>En </a:t>
            </a:r>
            <a:r>
              <a:rPr lang="en-US" sz="2200" b="1" dirty="0">
                <a:solidFill>
                  <a:srgbClr val="FFFFFF"/>
                </a:solidFill>
                <a:latin typeface="Quattrocento Sans" pitchFamily="34" charset="0"/>
                <a:ea typeface="Quattrocento Sans" pitchFamily="34" charset="-122"/>
                <a:cs typeface="Quattrocento Sans" pitchFamily="34" charset="-120"/>
              </a:rPr>
              <a:t>node</a:t>
            </a:r>
            <a:r>
              <a:rPr lang="en-US" sz="2200" dirty="0">
                <a:solidFill>
                  <a:srgbClr val="FFFFFF"/>
                </a:solidFill>
                <a:latin typeface="Quattrocento Sans" pitchFamily="34" charset="0"/>
                <a:ea typeface="Quattrocento Sans" pitchFamily="34" charset="-122"/>
                <a:cs typeface="Quattrocento Sans" pitchFamily="34" charset="-120"/>
              </a:rPr>
              <a:t> är ett program i ROS2</a:t>
            </a:r>
            <a:endParaRPr lang="en-US" sz="1600" dirty="0"/>
          </a:p>
        </p:txBody>
      </p:sp>
      <p:sp>
        <p:nvSpPr>
          <p:cNvPr id="7" name="Text 4"/>
          <p:cNvSpPr/>
          <p:nvPr/>
        </p:nvSpPr>
        <p:spPr>
          <a:xfrm>
            <a:off x="762000" y="2857500"/>
            <a:ext cx="3810000" cy="3810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EXEMPEL PÅ NODER:</a:t>
            </a:r>
            <a:endParaRPr lang="en-US" sz="1600" dirty="0"/>
          </a:p>
        </p:txBody>
      </p:sp>
      <p:sp>
        <p:nvSpPr>
          <p:cNvPr id="8" name="Shape 5"/>
          <p:cNvSpPr/>
          <p:nvPr/>
        </p:nvSpPr>
        <p:spPr>
          <a:xfrm>
            <a:off x="762000" y="3429000"/>
            <a:ext cx="2667000" cy="1270000"/>
          </a:xfrm>
          <a:prstGeom prst="roundRect">
            <a:avLst>
              <a:gd name="adj" fmla="val 8000"/>
            </a:avLst>
          </a:prstGeom>
          <a:solidFill>
            <a:srgbClr val="FFFFFF"/>
          </a:solidFill>
          <a:ln w="25400">
            <a:solidFill>
              <a:srgbClr val="0F2B46"/>
            </a:solidFill>
            <a:prstDash val="solid"/>
          </a:ln>
        </p:spPr>
      </p:sp>
      <p:sp>
        <p:nvSpPr>
          <p:cNvPr id="9" name="Shape 6"/>
          <p:cNvSpPr/>
          <p:nvPr/>
        </p:nvSpPr>
        <p:spPr>
          <a:xfrm>
            <a:off x="1841500" y="3556000"/>
            <a:ext cx="406400" cy="406400"/>
          </a:xfrm>
          <a:custGeom>
            <a:avLst/>
            <a:gdLst/>
            <a:ahLst/>
            <a:cxnLst/>
            <a:rect l="l" t="t" r="r" b="b"/>
            <a:pathLst>
              <a:path w="406400" h="406400">
                <a:moveTo>
                  <a:pt x="118348" y="51435"/>
                </a:moveTo>
                <a:lnTo>
                  <a:pt x="110093" y="76200"/>
                </a:lnTo>
                <a:lnTo>
                  <a:pt x="50800" y="76200"/>
                </a:lnTo>
                <a:cubicBezTo>
                  <a:pt x="22781" y="76200"/>
                  <a:pt x="0" y="98981"/>
                  <a:pt x="0" y="127000"/>
                </a:cubicBezTo>
                <a:lnTo>
                  <a:pt x="0" y="330200"/>
                </a:lnTo>
                <a:cubicBezTo>
                  <a:pt x="0" y="358219"/>
                  <a:pt x="22781" y="381000"/>
                  <a:pt x="50800" y="381000"/>
                </a:cubicBezTo>
                <a:lnTo>
                  <a:pt x="355600" y="381000"/>
                </a:lnTo>
                <a:cubicBezTo>
                  <a:pt x="383619" y="381000"/>
                  <a:pt x="406400" y="358219"/>
                  <a:pt x="406400" y="330200"/>
                </a:cubicBezTo>
                <a:lnTo>
                  <a:pt x="406400" y="127000"/>
                </a:lnTo>
                <a:cubicBezTo>
                  <a:pt x="406400" y="98981"/>
                  <a:pt x="383619" y="76200"/>
                  <a:pt x="355600" y="76200"/>
                </a:cubicBezTo>
                <a:lnTo>
                  <a:pt x="296307" y="76200"/>
                </a:lnTo>
                <a:lnTo>
                  <a:pt x="288052" y="51435"/>
                </a:lnTo>
                <a:cubicBezTo>
                  <a:pt x="282892" y="35878"/>
                  <a:pt x="268367" y="25400"/>
                  <a:pt x="251936" y="25400"/>
                </a:cubicBezTo>
                <a:lnTo>
                  <a:pt x="154464" y="25400"/>
                </a:lnTo>
                <a:cubicBezTo>
                  <a:pt x="138033" y="25400"/>
                  <a:pt x="123507" y="35878"/>
                  <a:pt x="118348" y="51435"/>
                </a:cubicBezTo>
                <a:close/>
                <a:moveTo>
                  <a:pt x="203200" y="152400"/>
                </a:moveTo>
                <a:cubicBezTo>
                  <a:pt x="245256" y="152400"/>
                  <a:pt x="279400" y="186544"/>
                  <a:pt x="279400" y="228600"/>
                </a:cubicBezTo>
                <a:cubicBezTo>
                  <a:pt x="279400" y="270656"/>
                  <a:pt x="245256" y="304800"/>
                  <a:pt x="203200" y="304800"/>
                </a:cubicBezTo>
                <a:cubicBezTo>
                  <a:pt x="161144" y="304800"/>
                  <a:pt x="127000" y="270656"/>
                  <a:pt x="127000" y="228600"/>
                </a:cubicBezTo>
                <a:cubicBezTo>
                  <a:pt x="127000" y="186544"/>
                  <a:pt x="161144" y="152400"/>
                  <a:pt x="203200" y="152400"/>
                </a:cubicBezTo>
                <a:close/>
              </a:path>
            </a:pathLst>
          </a:custGeom>
          <a:solidFill>
            <a:srgbClr val="0F2B46"/>
          </a:solidFill>
          <a:ln/>
        </p:spPr>
      </p:sp>
      <p:sp>
        <p:nvSpPr>
          <p:cNvPr id="10" name="Text 7"/>
          <p:cNvSpPr/>
          <p:nvPr/>
        </p:nvSpPr>
        <p:spPr>
          <a:xfrm>
            <a:off x="889000" y="4064000"/>
            <a:ext cx="2413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camera_node</a:t>
            </a:r>
            <a:endParaRPr lang="en-US" sz="1600" dirty="0"/>
          </a:p>
        </p:txBody>
      </p:sp>
      <p:sp>
        <p:nvSpPr>
          <p:cNvPr id="11" name="Shape 8"/>
          <p:cNvSpPr/>
          <p:nvPr/>
        </p:nvSpPr>
        <p:spPr>
          <a:xfrm>
            <a:off x="3746500" y="3429000"/>
            <a:ext cx="2667000" cy="1270000"/>
          </a:xfrm>
          <a:prstGeom prst="roundRect">
            <a:avLst>
              <a:gd name="adj" fmla="val 8000"/>
            </a:avLst>
          </a:prstGeom>
          <a:solidFill>
            <a:srgbClr val="FFFFFF"/>
          </a:solidFill>
          <a:ln w="25400">
            <a:solidFill>
              <a:srgbClr val="0F2B46"/>
            </a:solidFill>
            <a:prstDash val="solid"/>
          </a:ln>
        </p:spPr>
      </p:sp>
      <p:sp>
        <p:nvSpPr>
          <p:cNvPr id="12" name="Shape 9"/>
          <p:cNvSpPr/>
          <p:nvPr/>
        </p:nvSpPr>
        <p:spPr>
          <a:xfrm>
            <a:off x="4826000" y="3556000"/>
            <a:ext cx="406400" cy="406400"/>
          </a:xfrm>
          <a:custGeom>
            <a:avLst/>
            <a:gdLst/>
            <a:ahLst/>
            <a:cxnLst/>
            <a:rect l="l" t="t" r="r" b="b"/>
            <a:pathLst>
              <a:path w="406400" h="406400">
                <a:moveTo>
                  <a:pt x="184150" y="0"/>
                </a:moveTo>
                <a:cubicBezTo>
                  <a:pt x="306864" y="0"/>
                  <a:pt x="406400" y="99536"/>
                  <a:pt x="406400" y="222250"/>
                </a:cubicBezTo>
                <a:cubicBezTo>
                  <a:pt x="406400" y="232807"/>
                  <a:pt x="397907" y="241300"/>
                  <a:pt x="387350" y="241300"/>
                </a:cubicBezTo>
                <a:cubicBezTo>
                  <a:pt x="376793" y="241300"/>
                  <a:pt x="368300" y="232807"/>
                  <a:pt x="368300" y="222250"/>
                </a:cubicBezTo>
                <a:cubicBezTo>
                  <a:pt x="368300" y="120571"/>
                  <a:pt x="285829" y="38100"/>
                  <a:pt x="184150" y="38100"/>
                </a:cubicBezTo>
                <a:cubicBezTo>
                  <a:pt x="173593" y="38100"/>
                  <a:pt x="165100" y="29607"/>
                  <a:pt x="165100" y="19050"/>
                </a:cubicBezTo>
                <a:cubicBezTo>
                  <a:pt x="165100" y="8493"/>
                  <a:pt x="173593" y="0"/>
                  <a:pt x="184150" y="0"/>
                </a:cubicBezTo>
                <a:close/>
                <a:moveTo>
                  <a:pt x="165100" y="95250"/>
                </a:moveTo>
                <a:cubicBezTo>
                  <a:pt x="165100" y="84693"/>
                  <a:pt x="173593" y="76200"/>
                  <a:pt x="184150" y="76200"/>
                </a:cubicBezTo>
                <a:cubicBezTo>
                  <a:pt x="264795" y="76200"/>
                  <a:pt x="330200" y="141605"/>
                  <a:pt x="330200" y="222250"/>
                </a:cubicBezTo>
                <a:cubicBezTo>
                  <a:pt x="330200" y="232807"/>
                  <a:pt x="321707" y="241300"/>
                  <a:pt x="311150" y="241300"/>
                </a:cubicBezTo>
                <a:cubicBezTo>
                  <a:pt x="300593" y="241300"/>
                  <a:pt x="292100" y="232807"/>
                  <a:pt x="292100" y="222250"/>
                </a:cubicBezTo>
                <a:cubicBezTo>
                  <a:pt x="292100" y="162639"/>
                  <a:pt x="243761" y="114300"/>
                  <a:pt x="184150" y="114300"/>
                </a:cubicBezTo>
                <a:cubicBezTo>
                  <a:pt x="173593" y="114300"/>
                  <a:pt x="165100" y="105807"/>
                  <a:pt x="165100" y="95250"/>
                </a:cubicBezTo>
                <a:close/>
                <a:moveTo>
                  <a:pt x="20955" y="113268"/>
                </a:moveTo>
                <a:cubicBezTo>
                  <a:pt x="27940" y="99060"/>
                  <a:pt x="46673" y="97472"/>
                  <a:pt x="57864" y="108664"/>
                </a:cubicBezTo>
                <a:lnTo>
                  <a:pt x="159861" y="210661"/>
                </a:lnTo>
                <a:lnTo>
                  <a:pt x="185261" y="185261"/>
                </a:lnTo>
                <a:cubicBezTo>
                  <a:pt x="195183" y="175339"/>
                  <a:pt x="211296" y="175339"/>
                  <a:pt x="221218" y="185261"/>
                </a:cubicBezTo>
                <a:cubicBezTo>
                  <a:pt x="231140" y="195183"/>
                  <a:pt x="231140" y="211296"/>
                  <a:pt x="221218" y="221218"/>
                </a:cubicBezTo>
                <a:lnTo>
                  <a:pt x="195818" y="246618"/>
                </a:lnTo>
                <a:lnTo>
                  <a:pt x="297815" y="348615"/>
                </a:lnTo>
                <a:cubicBezTo>
                  <a:pt x="309007" y="359807"/>
                  <a:pt x="307340" y="378460"/>
                  <a:pt x="293211" y="385524"/>
                </a:cubicBezTo>
                <a:cubicBezTo>
                  <a:pt x="266065" y="398939"/>
                  <a:pt x="235585" y="406479"/>
                  <a:pt x="203279" y="406479"/>
                </a:cubicBezTo>
                <a:cubicBezTo>
                  <a:pt x="91043" y="406479"/>
                  <a:pt x="79" y="315516"/>
                  <a:pt x="79" y="203279"/>
                </a:cubicBezTo>
                <a:cubicBezTo>
                  <a:pt x="79" y="170974"/>
                  <a:pt x="7620" y="140414"/>
                  <a:pt x="21034" y="113348"/>
                </a:cubicBezTo>
                <a:close/>
              </a:path>
            </a:pathLst>
          </a:custGeom>
          <a:solidFill>
            <a:srgbClr val="0F2B46"/>
          </a:solidFill>
          <a:ln/>
        </p:spPr>
      </p:sp>
      <p:sp>
        <p:nvSpPr>
          <p:cNvPr id="13" name="Text 10"/>
          <p:cNvSpPr/>
          <p:nvPr/>
        </p:nvSpPr>
        <p:spPr>
          <a:xfrm>
            <a:off x="3873500" y="4064000"/>
            <a:ext cx="2413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lidar_node</a:t>
            </a:r>
            <a:endParaRPr lang="en-US" sz="1600" dirty="0"/>
          </a:p>
        </p:txBody>
      </p:sp>
      <p:sp>
        <p:nvSpPr>
          <p:cNvPr id="14" name="Shape 11"/>
          <p:cNvSpPr/>
          <p:nvPr/>
        </p:nvSpPr>
        <p:spPr>
          <a:xfrm>
            <a:off x="6731000" y="3429000"/>
            <a:ext cx="2667000" cy="1270000"/>
          </a:xfrm>
          <a:prstGeom prst="roundRect">
            <a:avLst>
              <a:gd name="adj" fmla="val 8000"/>
            </a:avLst>
          </a:prstGeom>
          <a:solidFill>
            <a:srgbClr val="FFFFFF"/>
          </a:solidFill>
          <a:ln w="25400">
            <a:solidFill>
              <a:srgbClr val="0F2B46"/>
            </a:solidFill>
            <a:prstDash val="solid"/>
          </a:ln>
        </p:spPr>
      </p:sp>
      <p:sp>
        <p:nvSpPr>
          <p:cNvPr id="15" name="Shape 12"/>
          <p:cNvSpPr/>
          <p:nvPr/>
        </p:nvSpPr>
        <p:spPr>
          <a:xfrm>
            <a:off x="7810500" y="3556000"/>
            <a:ext cx="406400" cy="406400"/>
          </a:xfrm>
          <a:custGeom>
            <a:avLst/>
            <a:gdLst/>
            <a:ahLst/>
            <a:cxnLst/>
            <a:rect l="l" t="t" r="r" b="b"/>
            <a:pathLst>
              <a:path w="406400" h="406400">
                <a:moveTo>
                  <a:pt x="406400" y="76200"/>
                </a:moveTo>
                <a:cubicBezTo>
                  <a:pt x="406400" y="116046"/>
                  <a:pt x="359489" y="175498"/>
                  <a:pt x="339249" y="199231"/>
                </a:cubicBezTo>
                <a:cubicBezTo>
                  <a:pt x="336233" y="202724"/>
                  <a:pt x="331788" y="204073"/>
                  <a:pt x="327739" y="203200"/>
                </a:cubicBezTo>
                <a:lnTo>
                  <a:pt x="254000" y="203200"/>
                </a:lnTo>
                <a:cubicBezTo>
                  <a:pt x="239951" y="203200"/>
                  <a:pt x="228600" y="214551"/>
                  <a:pt x="228600" y="228600"/>
                </a:cubicBezTo>
                <a:cubicBezTo>
                  <a:pt x="228600" y="242649"/>
                  <a:pt x="239951" y="254000"/>
                  <a:pt x="254000" y="254000"/>
                </a:cubicBezTo>
                <a:lnTo>
                  <a:pt x="330200" y="254000"/>
                </a:lnTo>
                <a:cubicBezTo>
                  <a:pt x="372269" y="254000"/>
                  <a:pt x="406400" y="288131"/>
                  <a:pt x="406400" y="330200"/>
                </a:cubicBezTo>
                <a:cubicBezTo>
                  <a:pt x="406400" y="372269"/>
                  <a:pt x="372269" y="406400"/>
                  <a:pt x="330200" y="406400"/>
                </a:cubicBezTo>
                <a:lnTo>
                  <a:pt x="110808" y="406400"/>
                </a:lnTo>
                <a:cubicBezTo>
                  <a:pt x="117713" y="398542"/>
                  <a:pt x="126127" y="388461"/>
                  <a:pt x="134620" y="377190"/>
                </a:cubicBezTo>
                <a:cubicBezTo>
                  <a:pt x="139621" y="370523"/>
                  <a:pt x="144780" y="363220"/>
                  <a:pt x="149701" y="355600"/>
                </a:cubicBezTo>
                <a:lnTo>
                  <a:pt x="330200" y="355600"/>
                </a:lnTo>
                <a:cubicBezTo>
                  <a:pt x="344249" y="355600"/>
                  <a:pt x="355600" y="344249"/>
                  <a:pt x="355600" y="330200"/>
                </a:cubicBezTo>
                <a:cubicBezTo>
                  <a:pt x="355600" y="316151"/>
                  <a:pt x="344249" y="304800"/>
                  <a:pt x="330200" y="304800"/>
                </a:cubicBezTo>
                <a:lnTo>
                  <a:pt x="254000" y="304800"/>
                </a:lnTo>
                <a:cubicBezTo>
                  <a:pt x="211931" y="304800"/>
                  <a:pt x="177800" y="270669"/>
                  <a:pt x="177800" y="228600"/>
                </a:cubicBezTo>
                <a:cubicBezTo>
                  <a:pt x="177800" y="186531"/>
                  <a:pt x="211931" y="152400"/>
                  <a:pt x="254000" y="152400"/>
                </a:cubicBezTo>
                <a:lnTo>
                  <a:pt x="285591" y="152400"/>
                </a:lnTo>
                <a:cubicBezTo>
                  <a:pt x="268923" y="127397"/>
                  <a:pt x="254000" y="98663"/>
                  <a:pt x="254000" y="76200"/>
                </a:cubicBezTo>
                <a:cubicBezTo>
                  <a:pt x="254000" y="34131"/>
                  <a:pt x="288131" y="0"/>
                  <a:pt x="330200" y="0"/>
                </a:cubicBezTo>
                <a:cubicBezTo>
                  <a:pt x="372269" y="0"/>
                  <a:pt x="406400" y="34131"/>
                  <a:pt x="406400" y="76200"/>
                </a:cubicBezTo>
                <a:close/>
                <a:moveTo>
                  <a:pt x="92948" y="388223"/>
                </a:moveTo>
                <a:cubicBezTo>
                  <a:pt x="89932" y="391636"/>
                  <a:pt x="87233" y="394653"/>
                  <a:pt x="84931" y="397193"/>
                </a:cubicBezTo>
                <a:lnTo>
                  <a:pt x="83503" y="398780"/>
                </a:lnTo>
                <a:lnTo>
                  <a:pt x="83344" y="398621"/>
                </a:lnTo>
                <a:cubicBezTo>
                  <a:pt x="78581" y="402273"/>
                  <a:pt x="71755" y="401796"/>
                  <a:pt x="67469" y="397193"/>
                </a:cubicBezTo>
                <a:cubicBezTo>
                  <a:pt x="47466" y="375444"/>
                  <a:pt x="0" y="319484"/>
                  <a:pt x="0" y="279400"/>
                </a:cubicBezTo>
                <a:cubicBezTo>
                  <a:pt x="0" y="237331"/>
                  <a:pt x="34131" y="203200"/>
                  <a:pt x="76200" y="203200"/>
                </a:cubicBezTo>
                <a:cubicBezTo>
                  <a:pt x="118269" y="203200"/>
                  <a:pt x="152400" y="237331"/>
                  <a:pt x="152400" y="279400"/>
                </a:cubicBezTo>
                <a:cubicBezTo>
                  <a:pt x="152400" y="303213"/>
                  <a:pt x="135652" y="332581"/>
                  <a:pt x="117872" y="357108"/>
                </a:cubicBezTo>
                <a:cubicBezTo>
                  <a:pt x="109379" y="368776"/>
                  <a:pt x="100648" y="379333"/>
                  <a:pt x="93424" y="387668"/>
                </a:cubicBezTo>
                <a:lnTo>
                  <a:pt x="92948" y="388223"/>
                </a:lnTo>
                <a:close/>
                <a:moveTo>
                  <a:pt x="101600" y="279400"/>
                </a:moveTo>
                <a:cubicBezTo>
                  <a:pt x="101600" y="265381"/>
                  <a:pt x="90219" y="254000"/>
                  <a:pt x="76200" y="254000"/>
                </a:cubicBezTo>
                <a:cubicBezTo>
                  <a:pt x="62181" y="254000"/>
                  <a:pt x="50800" y="265381"/>
                  <a:pt x="50800" y="279400"/>
                </a:cubicBezTo>
                <a:cubicBezTo>
                  <a:pt x="50800" y="293419"/>
                  <a:pt x="62181" y="304800"/>
                  <a:pt x="76200" y="304800"/>
                </a:cubicBezTo>
                <a:cubicBezTo>
                  <a:pt x="90219" y="304800"/>
                  <a:pt x="101600" y="293419"/>
                  <a:pt x="101600" y="279400"/>
                </a:cubicBezTo>
                <a:close/>
                <a:moveTo>
                  <a:pt x="330200" y="101600"/>
                </a:moveTo>
                <a:cubicBezTo>
                  <a:pt x="344219" y="101600"/>
                  <a:pt x="355600" y="90219"/>
                  <a:pt x="355600" y="76200"/>
                </a:cubicBezTo>
                <a:cubicBezTo>
                  <a:pt x="355600" y="62181"/>
                  <a:pt x="344219" y="50800"/>
                  <a:pt x="330200" y="50800"/>
                </a:cubicBezTo>
                <a:cubicBezTo>
                  <a:pt x="316181" y="50800"/>
                  <a:pt x="304800" y="62181"/>
                  <a:pt x="304800" y="76200"/>
                </a:cubicBezTo>
                <a:cubicBezTo>
                  <a:pt x="304800" y="90219"/>
                  <a:pt x="316181" y="101600"/>
                  <a:pt x="330200" y="101600"/>
                </a:cubicBezTo>
                <a:close/>
              </a:path>
            </a:pathLst>
          </a:custGeom>
          <a:solidFill>
            <a:srgbClr val="0F2B46"/>
          </a:solidFill>
          <a:ln/>
        </p:spPr>
      </p:sp>
      <p:sp>
        <p:nvSpPr>
          <p:cNvPr id="16" name="Text 13"/>
          <p:cNvSpPr/>
          <p:nvPr/>
        </p:nvSpPr>
        <p:spPr>
          <a:xfrm>
            <a:off x="6858000" y="4064000"/>
            <a:ext cx="2413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navigation_node</a:t>
            </a:r>
            <a:endParaRPr lang="en-US" sz="1600" dirty="0"/>
          </a:p>
        </p:txBody>
      </p:sp>
      <p:sp>
        <p:nvSpPr>
          <p:cNvPr id="17" name="Shape 14"/>
          <p:cNvSpPr/>
          <p:nvPr/>
        </p:nvSpPr>
        <p:spPr>
          <a:xfrm>
            <a:off x="9715500" y="3429000"/>
            <a:ext cx="2667000" cy="1270000"/>
          </a:xfrm>
          <a:prstGeom prst="roundRect">
            <a:avLst>
              <a:gd name="adj" fmla="val 8000"/>
            </a:avLst>
          </a:prstGeom>
          <a:solidFill>
            <a:srgbClr val="FFFFFF"/>
          </a:solidFill>
          <a:ln w="25400">
            <a:solidFill>
              <a:srgbClr val="0F2B46"/>
            </a:solidFill>
            <a:prstDash val="solid"/>
          </a:ln>
        </p:spPr>
      </p:sp>
      <p:sp>
        <p:nvSpPr>
          <p:cNvPr id="18" name="Shape 15"/>
          <p:cNvSpPr/>
          <p:nvPr/>
        </p:nvSpPr>
        <p:spPr>
          <a:xfrm>
            <a:off x="10744200" y="3556000"/>
            <a:ext cx="508000" cy="406400"/>
          </a:xfrm>
          <a:custGeom>
            <a:avLst/>
            <a:gdLst/>
            <a:ahLst/>
            <a:cxnLst/>
            <a:rect l="l" t="t" r="r" b="b"/>
            <a:pathLst>
              <a:path w="508000" h="406400">
                <a:moveTo>
                  <a:pt x="330121" y="167084"/>
                </a:moveTo>
                <a:cubicBezTo>
                  <a:pt x="339804" y="164465"/>
                  <a:pt x="349964" y="169069"/>
                  <a:pt x="354330" y="178038"/>
                </a:cubicBezTo>
                <a:lnTo>
                  <a:pt x="369094" y="207883"/>
                </a:lnTo>
                <a:cubicBezTo>
                  <a:pt x="377269" y="208994"/>
                  <a:pt x="385286" y="211217"/>
                  <a:pt x="392827" y="214313"/>
                </a:cubicBezTo>
                <a:lnTo>
                  <a:pt x="420608" y="195818"/>
                </a:lnTo>
                <a:cubicBezTo>
                  <a:pt x="428943" y="190262"/>
                  <a:pt x="439976" y="191373"/>
                  <a:pt x="447040" y="198438"/>
                </a:cubicBezTo>
                <a:lnTo>
                  <a:pt x="462280" y="213678"/>
                </a:lnTo>
                <a:cubicBezTo>
                  <a:pt x="469344" y="220742"/>
                  <a:pt x="470456" y="231854"/>
                  <a:pt x="464899" y="240109"/>
                </a:cubicBezTo>
                <a:lnTo>
                  <a:pt x="446405" y="267811"/>
                </a:lnTo>
                <a:cubicBezTo>
                  <a:pt x="447913" y="271542"/>
                  <a:pt x="449263" y="275431"/>
                  <a:pt x="450374" y="279479"/>
                </a:cubicBezTo>
                <a:cubicBezTo>
                  <a:pt x="451485" y="283528"/>
                  <a:pt x="452199" y="287496"/>
                  <a:pt x="452755" y="291544"/>
                </a:cubicBezTo>
                <a:lnTo>
                  <a:pt x="482679" y="306308"/>
                </a:lnTo>
                <a:cubicBezTo>
                  <a:pt x="491649" y="310753"/>
                  <a:pt x="496253" y="320913"/>
                  <a:pt x="493633" y="330518"/>
                </a:cubicBezTo>
                <a:lnTo>
                  <a:pt x="488077" y="351314"/>
                </a:lnTo>
                <a:cubicBezTo>
                  <a:pt x="485458" y="360918"/>
                  <a:pt x="476488" y="367427"/>
                  <a:pt x="466487" y="366792"/>
                </a:cubicBezTo>
                <a:lnTo>
                  <a:pt x="433149" y="364649"/>
                </a:lnTo>
                <a:cubicBezTo>
                  <a:pt x="428149" y="371078"/>
                  <a:pt x="422354" y="377031"/>
                  <a:pt x="415766" y="382111"/>
                </a:cubicBezTo>
                <a:lnTo>
                  <a:pt x="417909" y="415369"/>
                </a:lnTo>
                <a:cubicBezTo>
                  <a:pt x="418544" y="425371"/>
                  <a:pt x="412036" y="434419"/>
                  <a:pt x="402431" y="436959"/>
                </a:cubicBezTo>
                <a:lnTo>
                  <a:pt x="381635" y="442516"/>
                </a:lnTo>
                <a:cubicBezTo>
                  <a:pt x="371951" y="445135"/>
                  <a:pt x="361871" y="440531"/>
                  <a:pt x="357426" y="431562"/>
                </a:cubicBezTo>
                <a:lnTo>
                  <a:pt x="342662" y="401717"/>
                </a:lnTo>
                <a:cubicBezTo>
                  <a:pt x="334486" y="400606"/>
                  <a:pt x="326469" y="398383"/>
                  <a:pt x="318929" y="395288"/>
                </a:cubicBezTo>
                <a:lnTo>
                  <a:pt x="291148" y="413782"/>
                </a:lnTo>
                <a:cubicBezTo>
                  <a:pt x="282813" y="419338"/>
                  <a:pt x="271780" y="418227"/>
                  <a:pt x="264716" y="411163"/>
                </a:cubicBezTo>
                <a:lnTo>
                  <a:pt x="249476" y="395923"/>
                </a:lnTo>
                <a:cubicBezTo>
                  <a:pt x="242411" y="388858"/>
                  <a:pt x="241300" y="377825"/>
                  <a:pt x="246856" y="369491"/>
                </a:cubicBezTo>
                <a:lnTo>
                  <a:pt x="265351" y="341709"/>
                </a:lnTo>
                <a:cubicBezTo>
                  <a:pt x="263843" y="337979"/>
                  <a:pt x="262493" y="334089"/>
                  <a:pt x="261382" y="330041"/>
                </a:cubicBezTo>
                <a:cubicBezTo>
                  <a:pt x="260271" y="325993"/>
                  <a:pt x="259556" y="321945"/>
                  <a:pt x="259001" y="317976"/>
                </a:cubicBezTo>
                <a:lnTo>
                  <a:pt x="229076" y="303213"/>
                </a:lnTo>
                <a:cubicBezTo>
                  <a:pt x="220107" y="298768"/>
                  <a:pt x="215583" y="288608"/>
                  <a:pt x="218123" y="279003"/>
                </a:cubicBezTo>
                <a:lnTo>
                  <a:pt x="223679" y="258207"/>
                </a:lnTo>
                <a:cubicBezTo>
                  <a:pt x="226298" y="248602"/>
                  <a:pt x="235268" y="242094"/>
                  <a:pt x="245269" y="242729"/>
                </a:cubicBezTo>
                <a:lnTo>
                  <a:pt x="278527" y="244872"/>
                </a:lnTo>
                <a:cubicBezTo>
                  <a:pt x="283528" y="238442"/>
                  <a:pt x="289322" y="232489"/>
                  <a:pt x="295910" y="227409"/>
                </a:cubicBezTo>
                <a:lnTo>
                  <a:pt x="293767" y="194231"/>
                </a:lnTo>
                <a:cubicBezTo>
                  <a:pt x="293132" y="184229"/>
                  <a:pt x="299641" y="175181"/>
                  <a:pt x="309245" y="172641"/>
                </a:cubicBezTo>
                <a:lnTo>
                  <a:pt x="330041" y="167084"/>
                </a:lnTo>
                <a:close/>
                <a:moveTo>
                  <a:pt x="355918" y="269875"/>
                </a:moveTo>
                <a:cubicBezTo>
                  <a:pt x="336642" y="269897"/>
                  <a:pt x="321010" y="285564"/>
                  <a:pt x="321032" y="304840"/>
                </a:cubicBezTo>
                <a:cubicBezTo>
                  <a:pt x="321054" y="324115"/>
                  <a:pt x="336721" y="339747"/>
                  <a:pt x="355997" y="339725"/>
                </a:cubicBezTo>
                <a:cubicBezTo>
                  <a:pt x="375273" y="339703"/>
                  <a:pt x="390904" y="324036"/>
                  <a:pt x="390882" y="304760"/>
                </a:cubicBezTo>
                <a:cubicBezTo>
                  <a:pt x="390860" y="285485"/>
                  <a:pt x="375193" y="269853"/>
                  <a:pt x="355918" y="269875"/>
                </a:cubicBezTo>
                <a:close/>
                <a:moveTo>
                  <a:pt x="178514" y="-36116"/>
                </a:moveTo>
                <a:lnTo>
                  <a:pt x="199311" y="-30559"/>
                </a:lnTo>
                <a:cubicBezTo>
                  <a:pt x="208915" y="-27940"/>
                  <a:pt x="215424" y="-18891"/>
                  <a:pt x="214789" y="-8969"/>
                </a:cubicBezTo>
                <a:lnTo>
                  <a:pt x="212646" y="24209"/>
                </a:lnTo>
                <a:cubicBezTo>
                  <a:pt x="219234" y="29289"/>
                  <a:pt x="225028" y="35163"/>
                  <a:pt x="230029" y="41672"/>
                </a:cubicBezTo>
                <a:lnTo>
                  <a:pt x="263366" y="39529"/>
                </a:lnTo>
                <a:cubicBezTo>
                  <a:pt x="273288" y="38894"/>
                  <a:pt x="282337" y="45403"/>
                  <a:pt x="284956" y="55007"/>
                </a:cubicBezTo>
                <a:lnTo>
                  <a:pt x="290513" y="75803"/>
                </a:lnTo>
                <a:cubicBezTo>
                  <a:pt x="293053" y="85408"/>
                  <a:pt x="288528" y="95568"/>
                  <a:pt x="279559" y="100013"/>
                </a:cubicBezTo>
                <a:lnTo>
                  <a:pt x="249634" y="114776"/>
                </a:lnTo>
                <a:cubicBezTo>
                  <a:pt x="249079" y="118824"/>
                  <a:pt x="248285" y="122873"/>
                  <a:pt x="247253" y="126841"/>
                </a:cubicBezTo>
                <a:cubicBezTo>
                  <a:pt x="246221" y="130810"/>
                  <a:pt x="244793" y="134779"/>
                  <a:pt x="243284" y="138509"/>
                </a:cubicBezTo>
                <a:lnTo>
                  <a:pt x="261779" y="166291"/>
                </a:lnTo>
                <a:cubicBezTo>
                  <a:pt x="267335" y="174625"/>
                  <a:pt x="266224" y="185658"/>
                  <a:pt x="259159" y="192722"/>
                </a:cubicBezTo>
                <a:lnTo>
                  <a:pt x="243919" y="207963"/>
                </a:lnTo>
                <a:cubicBezTo>
                  <a:pt x="236855" y="215027"/>
                  <a:pt x="225822" y="216138"/>
                  <a:pt x="217488" y="210582"/>
                </a:cubicBezTo>
                <a:lnTo>
                  <a:pt x="189706" y="192088"/>
                </a:lnTo>
                <a:cubicBezTo>
                  <a:pt x="182166" y="195183"/>
                  <a:pt x="174149" y="197406"/>
                  <a:pt x="165973" y="198517"/>
                </a:cubicBezTo>
                <a:lnTo>
                  <a:pt x="151209" y="228362"/>
                </a:lnTo>
                <a:cubicBezTo>
                  <a:pt x="146764" y="237331"/>
                  <a:pt x="136604" y="241856"/>
                  <a:pt x="127000" y="239316"/>
                </a:cubicBezTo>
                <a:lnTo>
                  <a:pt x="106204" y="233759"/>
                </a:lnTo>
                <a:cubicBezTo>
                  <a:pt x="96520" y="231140"/>
                  <a:pt x="90091" y="222091"/>
                  <a:pt x="90726" y="212169"/>
                </a:cubicBezTo>
                <a:lnTo>
                  <a:pt x="92869" y="178911"/>
                </a:lnTo>
                <a:cubicBezTo>
                  <a:pt x="86281" y="173831"/>
                  <a:pt x="80486" y="167958"/>
                  <a:pt x="75486" y="161449"/>
                </a:cubicBezTo>
                <a:lnTo>
                  <a:pt x="42148" y="163592"/>
                </a:lnTo>
                <a:cubicBezTo>
                  <a:pt x="32226" y="164227"/>
                  <a:pt x="23178" y="157718"/>
                  <a:pt x="20558" y="148114"/>
                </a:cubicBezTo>
                <a:lnTo>
                  <a:pt x="15002" y="127318"/>
                </a:lnTo>
                <a:cubicBezTo>
                  <a:pt x="12462" y="117713"/>
                  <a:pt x="16986" y="107553"/>
                  <a:pt x="25956" y="103108"/>
                </a:cubicBezTo>
                <a:lnTo>
                  <a:pt x="55880" y="88344"/>
                </a:lnTo>
                <a:cubicBezTo>
                  <a:pt x="56436" y="84296"/>
                  <a:pt x="57229" y="80328"/>
                  <a:pt x="58261" y="76279"/>
                </a:cubicBezTo>
                <a:cubicBezTo>
                  <a:pt x="59373" y="72231"/>
                  <a:pt x="60643" y="68342"/>
                  <a:pt x="62230" y="64611"/>
                </a:cubicBezTo>
                <a:lnTo>
                  <a:pt x="43736" y="36909"/>
                </a:lnTo>
                <a:cubicBezTo>
                  <a:pt x="38179" y="28575"/>
                  <a:pt x="39291" y="17542"/>
                  <a:pt x="46355" y="10478"/>
                </a:cubicBezTo>
                <a:lnTo>
                  <a:pt x="61595" y="-4762"/>
                </a:lnTo>
                <a:cubicBezTo>
                  <a:pt x="68659" y="-11827"/>
                  <a:pt x="79693" y="-12938"/>
                  <a:pt x="88027" y="-7382"/>
                </a:cubicBezTo>
                <a:lnTo>
                  <a:pt x="115808" y="11113"/>
                </a:lnTo>
                <a:cubicBezTo>
                  <a:pt x="123349" y="8017"/>
                  <a:pt x="131366" y="5794"/>
                  <a:pt x="139541" y="4683"/>
                </a:cubicBezTo>
                <a:lnTo>
                  <a:pt x="154305" y="-25162"/>
                </a:lnTo>
                <a:cubicBezTo>
                  <a:pt x="158750" y="-34131"/>
                  <a:pt x="168831" y="-38656"/>
                  <a:pt x="178514" y="-36116"/>
                </a:cubicBezTo>
                <a:close/>
                <a:moveTo>
                  <a:pt x="152718" y="66675"/>
                </a:moveTo>
                <a:cubicBezTo>
                  <a:pt x="133442" y="66675"/>
                  <a:pt x="117793" y="82324"/>
                  <a:pt x="117793" y="101600"/>
                </a:cubicBezTo>
                <a:cubicBezTo>
                  <a:pt x="117793" y="120876"/>
                  <a:pt x="133442" y="136525"/>
                  <a:pt x="152718" y="136525"/>
                </a:cubicBezTo>
                <a:cubicBezTo>
                  <a:pt x="171993" y="136525"/>
                  <a:pt x="187643" y="120876"/>
                  <a:pt x="187643" y="101600"/>
                </a:cubicBezTo>
                <a:cubicBezTo>
                  <a:pt x="187643" y="82324"/>
                  <a:pt x="171993" y="66675"/>
                  <a:pt x="152718" y="66675"/>
                </a:cubicBezTo>
                <a:close/>
              </a:path>
            </a:pathLst>
          </a:custGeom>
          <a:solidFill>
            <a:srgbClr val="0F2B46"/>
          </a:solidFill>
          <a:ln/>
        </p:spPr>
      </p:sp>
      <p:sp>
        <p:nvSpPr>
          <p:cNvPr id="19" name="Text 16"/>
          <p:cNvSpPr/>
          <p:nvPr/>
        </p:nvSpPr>
        <p:spPr>
          <a:xfrm>
            <a:off x="9842500" y="4064000"/>
            <a:ext cx="2413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motor_control_node</a:t>
            </a:r>
            <a:endParaRPr lang="en-US" sz="1600" dirty="0"/>
          </a:p>
        </p:txBody>
      </p:sp>
      <p:sp>
        <p:nvSpPr>
          <p:cNvPr id="20" name="Shape 17"/>
          <p:cNvSpPr/>
          <p:nvPr/>
        </p:nvSpPr>
        <p:spPr>
          <a:xfrm>
            <a:off x="12700000" y="3429000"/>
            <a:ext cx="2794000" cy="1270000"/>
          </a:xfrm>
          <a:prstGeom prst="roundRect">
            <a:avLst>
              <a:gd name="adj" fmla="val 8000"/>
            </a:avLst>
          </a:prstGeom>
          <a:solidFill>
            <a:srgbClr val="FFFFFF"/>
          </a:solidFill>
          <a:ln w="25400">
            <a:solidFill>
              <a:srgbClr val="0F2B46"/>
            </a:solidFill>
            <a:prstDash val="solid"/>
          </a:ln>
        </p:spPr>
      </p:sp>
      <p:sp>
        <p:nvSpPr>
          <p:cNvPr id="21" name="Shape 18"/>
          <p:cNvSpPr/>
          <p:nvPr/>
        </p:nvSpPr>
        <p:spPr>
          <a:xfrm>
            <a:off x="13843000" y="35560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0F2B46"/>
          </a:solidFill>
          <a:ln/>
        </p:spPr>
      </p:sp>
      <p:sp>
        <p:nvSpPr>
          <p:cNvPr id="22" name="Text 19"/>
          <p:cNvSpPr/>
          <p:nvPr/>
        </p:nvSpPr>
        <p:spPr>
          <a:xfrm>
            <a:off x="12827000" y="4064000"/>
            <a:ext cx="2540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safety_node</a:t>
            </a:r>
            <a:endParaRPr lang="en-US" sz="1600" dirty="0"/>
          </a:p>
        </p:txBody>
      </p:sp>
      <p:sp>
        <p:nvSpPr>
          <p:cNvPr id="23" name="Shape 20"/>
          <p:cNvSpPr/>
          <p:nvPr/>
        </p:nvSpPr>
        <p:spPr>
          <a:xfrm>
            <a:off x="762000" y="5334000"/>
            <a:ext cx="14732000" cy="1270000"/>
          </a:xfrm>
          <a:prstGeom prst="roundRect">
            <a:avLst>
              <a:gd name="adj" fmla="val 8000"/>
            </a:avLst>
          </a:prstGeom>
          <a:solidFill>
            <a:srgbClr val="E8EBF0"/>
          </a:solidFill>
          <a:ln w="12700">
            <a:solidFill>
              <a:srgbClr val="D0D5DD"/>
            </a:solidFill>
            <a:prstDash val="solid"/>
          </a:ln>
        </p:spPr>
      </p:sp>
      <p:sp>
        <p:nvSpPr>
          <p:cNvPr id="24" name="Shape 21"/>
          <p:cNvSpPr/>
          <p:nvPr/>
        </p:nvSpPr>
        <p:spPr>
          <a:xfrm>
            <a:off x="762000" y="5334000"/>
            <a:ext cx="63500" cy="1270000"/>
          </a:xfrm>
          <a:prstGeom prst="rect">
            <a:avLst/>
          </a:prstGeom>
          <a:solidFill>
            <a:srgbClr val="D81B2E"/>
          </a:solidFill>
          <a:ln/>
        </p:spPr>
      </p:sp>
      <p:sp>
        <p:nvSpPr>
          <p:cNvPr id="25" name="Text 22"/>
          <p:cNvSpPr/>
          <p:nvPr/>
        </p:nvSpPr>
        <p:spPr>
          <a:xfrm>
            <a:off x="1143000" y="5461000"/>
            <a:ext cx="13970000" cy="1016000"/>
          </a:xfrm>
          <a:prstGeom prst="rect">
            <a:avLst/>
          </a:prstGeom>
          <a:noFill/>
          <a:ln/>
        </p:spPr>
        <p:txBody>
          <a:bodyPr wrap="square" lIns="0" tIns="0" rIns="0" bIns="0" rtlCol="0" anchor="ctr"/>
          <a:lstStyle/>
          <a:p>
            <a:pPr>
              <a:lnSpc>
                <a:spcPct val="150000"/>
              </a:lnSpc>
            </a:pPr>
            <a:r>
              <a:rPr lang="en-US" sz="1800" b="1" dirty="0">
                <a:solidFill>
                  <a:srgbClr val="1A2332"/>
                </a:solidFill>
                <a:latin typeface="Quattrocento Sans" pitchFamily="34" charset="0"/>
                <a:ea typeface="Quattrocento Sans" pitchFamily="34" charset="-122"/>
                <a:cs typeface="Quattrocento Sans" pitchFamily="34" charset="-120"/>
              </a:rPr>
              <a:t>Varför flera noder?</a:t>
            </a:r>
            <a:r>
              <a:rPr lang="en-US" sz="1800" dirty="0">
                <a:solidFill>
                  <a:srgbClr val="1A2332"/>
                </a:solidFill>
                <a:latin typeface="Quattrocento Sans" pitchFamily="34" charset="0"/>
                <a:ea typeface="Quattrocento Sans" pitchFamily="34" charset="-122"/>
                <a:cs typeface="Quattrocento Sans" pitchFamily="34" charset="-120"/>
              </a:rPr>
              <a:t> Varje node har en specifik uppgift. De kan utvecklas, testas och köras oberoende av varandra. Om en node kraschar påverkar det inte de andra.</a:t>
            </a:r>
            <a:endParaRPr lang="en-US" sz="1600" dirty="0"/>
          </a:p>
        </p:txBody>
      </p:sp>
      <p:pic>
        <p:nvPicPr>
          <p:cNvPr id="26"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7" name="Text 23"/>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Exempel på ROS2-system</a:t>
            </a:r>
            <a:endParaRPr lang="en-US" sz="2800" dirty="0"/>
          </a:p>
        </p:txBody>
      </p:sp>
      <p:sp>
        <p:nvSpPr>
          <p:cNvPr id="5" name="Shape 2"/>
          <p:cNvSpPr/>
          <p:nvPr/>
        </p:nvSpPr>
        <p:spPr>
          <a:xfrm>
            <a:off x="762000" y="1651000"/>
            <a:ext cx="14732000" cy="4445000"/>
          </a:xfrm>
          <a:prstGeom prst="roundRect">
            <a:avLst>
              <a:gd name="adj" fmla="val 5000"/>
            </a:avLst>
          </a:prstGeom>
          <a:solidFill>
            <a:srgbClr val="FFFFFF"/>
          </a:solidFill>
          <a:ln w="12700">
            <a:solidFill>
              <a:srgbClr val="D0D5DD"/>
            </a:solidFill>
            <a:prstDash val="solid"/>
          </a:ln>
        </p:spPr>
      </p:sp>
      <p:sp>
        <p:nvSpPr>
          <p:cNvPr id="6" name="Shape 3"/>
          <p:cNvSpPr/>
          <p:nvPr/>
        </p:nvSpPr>
        <p:spPr>
          <a:xfrm>
            <a:off x="1270000" y="2921000"/>
            <a:ext cx="2286000" cy="1016000"/>
          </a:xfrm>
          <a:prstGeom prst="roundRect">
            <a:avLst>
              <a:gd name="adj" fmla="val 8000"/>
            </a:avLst>
          </a:prstGeom>
          <a:solidFill>
            <a:srgbClr val="0F2B46"/>
          </a:solidFill>
          <a:ln/>
        </p:spPr>
      </p:sp>
      <p:sp>
        <p:nvSpPr>
          <p:cNvPr id="7" name="Text 4"/>
          <p:cNvSpPr/>
          <p:nvPr/>
        </p:nvSpPr>
        <p:spPr>
          <a:xfrm>
            <a:off x="1333500" y="3048000"/>
            <a:ext cx="2159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camera_node</a:t>
            </a:r>
            <a:endParaRPr lang="en-US" sz="1600" dirty="0"/>
          </a:p>
          <a:p>
            <a:pPr algn="ctr">
              <a:lnSpc>
                <a:spcPct val="130000"/>
              </a:lnSpc>
            </a:pPr>
            <a:r>
              <a:rPr lang="en-US" sz="1200" dirty="0">
                <a:solidFill>
                  <a:srgbClr val="B0BEC5"/>
                </a:solidFill>
                <a:latin typeface="Liter" pitchFamily="34" charset="0"/>
                <a:ea typeface="Liter" pitchFamily="34" charset="-122"/>
                <a:cs typeface="Liter" pitchFamily="34" charset="-120"/>
              </a:rPr>
              <a:t>Kamera</a:t>
            </a:r>
            <a:endParaRPr lang="en-US" sz="1600" dirty="0"/>
          </a:p>
        </p:txBody>
      </p:sp>
      <p:sp>
        <p:nvSpPr>
          <p:cNvPr id="8" name="Shape 5"/>
          <p:cNvSpPr/>
          <p:nvPr/>
        </p:nvSpPr>
        <p:spPr>
          <a:xfrm>
            <a:off x="3683000" y="3365500"/>
            <a:ext cx="762000" cy="0"/>
          </a:xfrm>
          <a:prstGeom prst="straightConnector1">
            <a:avLst/>
          </a:prstGeom>
          <a:noFill/>
          <a:ln w="25400">
            <a:solidFill>
              <a:srgbClr val="D81B2E"/>
            </a:solidFill>
            <a:prstDash val="solid"/>
            <a:headEnd type="none"/>
            <a:tailEnd type="arrow"/>
          </a:ln>
        </p:spPr>
      </p:sp>
      <p:sp>
        <p:nvSpPr>
          <p:cNvPr id="9" name="Shape 6"/>
          <p:cNvSpPr/>
          <p:nvPr/>
        </p:nvSpPr>
        <p:spPr>
          <a:xfrm>
            <a:off x="4572000" y="2921000"/>
            <a:ext cx="2540000" cy="1016000"/>
          </a:xfrm>
          <a:prstGeom prst="roundRect">
            <a:avLst>
              <a:gd name="adj" fmla="val 8000"/>
            </a:avLst>
          </a:prstGeom>
          <a:solidFill>
            <a:srgbClr val="0F2B46"/>
          </a:solidFill>
          <a:ln/>
        </p:spPr>
      </p:sp>
      <p:sp>
        <p:nvSpPr>
          <p:cNvPr id="10" name="Text 7"/>
          <p:cNvSpPr/>
          <p:nvPr/>
        </p:nvSpPr>
        <p:spPr>
          <a:xfrm>
            <a:off x="4635500" y="3048000"/>
            <a:ext cx="2413000" cy="762000"/>
          </a:xfrm>
          <a:prstGeom prst="rect">
            <a:avLst/>
          </a:prstGeom>
          <a:noFill/>
          <a:ln/>
        </p:spPr>
        <p:txBody>
          <a:bodyPr wrap="square" lIns="0" tIns="0" rIns="0" bIns="0" rtlCol="0" anchor="ctr"/>
          <a:lstStyle/>
          <a:p>
            <a:pPr algn="ctr">
              <a:lnSpc>
                <a:spcPct val="130000"/>
              </a:lnSpc>
            </a:pPr>
            <a:r>
              <a:rPr lang="en-US" sz="1400" b="1" dirty="0">
                <a:solidFill>
                  <a:srgbClr val="FFFFFF"/>
                </a:solidFill>
                <a:latin typeface="Liter" pitchFamily="34" charset="0"/>
                <a:ea typeface="Liter" pitchFamily="34" charset="-122"/>
                <a:cs typeface="Liter" pitchFamily="34" charset="-120"/>
              </a:rPr>
              <a:t>object_detection_node</a:t>
            </a:r>
            <a:endParaRPr lang="en-US" sz="1600" dirty="0"/>
          </a:p>
          <a:p>
            <a:pPr algn="ctr">
              <a:lnSpc>
                <a:spcPct val="130000"/>
              </a:lnSpc>
            </a:pPr>
            <a:r>
              <a:rPr lang="en-US" sz="1200" dirty="0">
                <a:solidFill>
                  <a:srgbClr val="B0BEC5"/>
                </a:solidFill>
                <a:latin typeface="Liter" pitchFamily="34" charset="0"/>
                <a:ea typeface="Liter" pitchFamily="34" charset="-122"/>
                <a:cs typeface="Liter" pitchFamily="34" charset="-120"/>
              </a:rPr>
              <a:t>Identifierar objekt</a:t>
            </a:r>
            <a:endParaRPr lang="en-US" sz="1600" dirty="0"/>
          </a:p>
        </p:txBody>
      </p:sp>
      <p:sp>
        <p:nvSpPr>
          <p:cNvPr id="11" name="Shape 8"/>
          <p:cNvSpPr/>
          <p:nvPr/>
        </p:nvSpPr>
        <p:spPr>
          <a:xfrm>
            <a:off x="7239000" y="3365500"/>
            <a:ext cx="762000" cy="0"/>
          </a:xfrm>
          <a:prstGeom prst="straightConnector1">
            <a:avLst/>
          </a:prstGeom>
          <a:noFill/>
          <a:ln w="25400">
            <a:solidFill>
              <a:srgbClr val="D81B2E"/>
            </a:solidFill>
            <a:prstDash val="solid"/>
            <a:headEnd type="none"/>
            <a:tailEnd type="arrow"/>
          </a:ln>
        </p:spPr>
      </p:sp>
      <p:sp>
        <p:nvSpPr>
          <p:cNvPr id="12" name="Shape 9"/>
          <p:cNvSpPr/>
          <p:nvPr/>
        </p:nvSpPr>
        <p:spPr>
          <a:xfrm>
            <a:off x="8128000" y="2921000"/>
            <a:ext cx="2540000" cy="1016000"/>
          </a:xfrm>
          <a:prstGeom prst="roundRect">
            <a:avLst>
              <a:gd name="adj" fmla="val 8000"/>
            </a:avLst>
          </a:prstGeom>
          <a:solidFill>
            <a:srgbClr val="D81B2E"/>
          </a:solidFill>
          <a:ln/>
        </p:spPr>
      </p:sp>
      <p:sp>
        <p:nvSpPr>
          <p:cNvPr id="13" name="Text 10"/>
          <p:cNvSpPr/>
          <p:nvPr/>
        </p:nvSpPr>
        <p:spPr>
          <a:xfrm>
            <a:off x="8191500" y="3048000"/>
            <a:ext cx="2413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navigation_node</a:t>
            </a:r>
            <a:endParaRPr lang="en-US" sz="1600" dirty="0"/>
          </a:p>
          <a:p>
            <a:pPr algn="ctr">
              <a:lnSpc>
                <a:spcPct val="130000"/>
              </a:lnSpc>
            </a:pPr>
            <a:r>
              <a:rPr lang="en-US" sz="1200" dirty="0">
                <a:solidFill>
                  <a:srgbClr val="B0BEC5"/>
                </a:solidFill>
                <a:latin typeface="Liter" pitchFamily="34" charset="0"/>
                <a:ea typeface="Liter" pitchFamily="34" charset="-122"/>
                <a:cs typeface="Liter" pitchFamily="34" charset="-120"/>
              </a:rPr>
              <a:t>Planerar väg</a:t>
            </a:r>
            <a:endParaRPr lang="en-US" sz="1600" dirty="0"/>
          </a:p>
        </p:txBody>
      </p:sp>
      <p:sp>
        <p:nvSpPr>
          <p:cNvPr id="14" name="Shape 11"/>
          <p:cNvSpPr/>
          <p:nvPr/>
        </p:nvSpPr>
        <p:spPr>
          <a:xfrm>
            <a:off x="10795000" y="3365500"/>
            <a:ext cx="762000" cy="0"/>
          </a:xfrm>
          <a:prstGeom prst="straightConnector1">
            <a:avLst/>
          </a:prstGeom>
          <a:noFill/>
          <a:ln w="25400">
            <a:solidFill>
              <a:srgbClr val="D81B2E"/>
            </a:solidFill>
            <a:prstDash val="solid"/>
            <a:headEnd type="none"/>
            <a:tailEnd type="arrow"/>
          </a:ln>
        </p:spPr>
      </p:sp>
      <p:sp>
        <p:nvSpPr>
          <p:cNvPr id="15" name="Shape 12"/>
          <p:cNvSpPr/>
          <p:nvPr/>
        </p:nvSpPr>
        <p:spPr>
          <a:xfrm>
            <a:off x="11684000" y="2921000"/>
            <a:ext cx="2286000" cy="1016000"/>
          </a:xfrm>
          <a:prstGeom prst="roundRect">
            <a:avLst>
              <a:gd name="adj" fmla="val 8000"/>
            </a:avLst>
          </a:prstGeom>
          <a:solidFill>
            <a:srgbClr val="0F2B46"/>
          </a:solidFill>
          <a:ln/>
        </p:spPr>
      </p:sp>
      <p:sp>
        <p:nvSpPr>
          <p:cNvPr id="16" name="Text 13"/>
          <p:cNvSpPr/>
          <p:nvPr/>
        </p:nvSpPr>
        <p:spPr>
          <a:xfrm>
            <a:off x="11747500" y="3048000"/>
            <a:ext cx="2159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motor_control_node</a:t>
            </a:r>
            <a:endParaRPr lang="en-US" sz="1600" dirty="0"/>
          </a:p>
          <a:p>
            <a:pPr algn="ctr">
              <a:lnSpc>
                <a:spcPct val="130000"/>
              </a:lnSpc>
            </a:pPr>
            <a:r>
              <a:rPr lang="en-US" sz="1200" dirty="0">
                <a:solidFill>
                  <a:srgbClr val="B0BEC5"/>
                </a:solidFill>
                <a:latin typeface="Liter" pitchFamily="34" charset="0"/>
                <a:ea typeface="Liter" pitchFamily="34" charset="-122"/>
                <a:cs typeface="Liter" pitchFamily="34" charset="-120"/>
              </a:rPr>
              <a:t>Kör roboten</a:t>
            </a:r>
            <a:endParaRPr lang="en-US" sz="1600" dirty="0"/>
          </a:p>
        </p:txBody>
      </p:sp>
      <p:sp>
        <p:nvSpPr>
          <p:cNvPr id="17" name="Shape 14"/>
          <p:cNvSpPr/>
          <p:nvPr/>
        </p:nvSpPr>
        <p:spPr>
          <a:xfrm>
            <a:off x="4572000" y="4826000"/>
            <a:ext cx="2540000" cy="1016000"/>
          </a:xfrm>
          <a:prstGeom prst="roundRect">
            <a:avLst>
              <a:gd name="adj" fmla="val 8000"/>
            </a:avLst>
          </a:prstGeom>
          <a:solidFill>
            <a:srgbClr val="6B7B8D"/>
          </a:solidFill>
          <a:ln/>
        </p:spPr>
      </p:sp>
      <p:sp>
        <p:nvSpPr>
          <p:cNvPr id="18" name="Text 15"/>
          <p:cNvSpPr/>
          <p:nvPr/>
        </p:nvSpPr>
        <p:spPr>
          <a:xfrm>
            <a:off x="4635500" y="4953000"/>
            <a:ext cx="2413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lidar_node</a:t>
            </a:r>
            <a:endParaRPr lang="en-US" sz="1600" dirty="0"/>
          </a:p>
          <a:p>
            <a:pPr algn="ctr">
              <a:lnSpc>
                <a:spcPct val="130000"/>
              </a:lnSpc>
            </a:pPr>
            <a:r>
              <a:rPr lang="en-US" sz="1200" dirty="0">
                <a:solidFill>
                  <a:srgbClr val="B0BEC5"/>
                </a:solidFill>
                <a:latin typeface="Liter" pitchFamily="34" charset="0"/>
                <a:ea typeface="Liter" pitchFamily="34" charset="-122"/>
                <a:cs typeface="Liter" pitchFamily="34" charset="-120"/>
              </a:rPr>
              <a:t>Lasersensor</a:t>
            </a:r>
            <a:endParaRPr lang="en-US" sz="1600" dirty="0"/>
          </a:p>
        </p:txBody>
      </p:sp>
      <p:sp>
        <p:nvSpPr>
          <p:cNvPr id="19" name="Shape 16"/>
          <p:cNvSpPr/>
          <p:nvPr/>
        </p:nvSpPr>
        <p:spPr>
          <a:xfrm>
            <a:off x="5842000" y="3937000"/>
            <a:ext cx="0" cy="889000"/>
          </a:xfrm>
          <a:prstGeom prst="straightConnector1">
            <a:avLst/>
          </a:prstGeom>
          <a:noFill/>
          <a:ln w="25400">
            <a:solidFill>
              <a:srgbClr val="6B7B8D"/>
            </a:solidFill>
            <a:prstDash val="solid"/>
            <a:headEnd type="none"/>
            <a:tailEnd type="arrow"/>
          </a:ln>
        </p:spPr>
      </p:sp>
      <p:sp>
        <p:nvSpPr>
          <p:cNvPr id="20" name="Shape 17"/>
          <p:cNvSpPr/>
          <p:nvPr/>
        </p:nvSpPr>
        <p:spPr>
          <a:xfrm>
            <a:off x="5842000" y="4318000"/>
            <a:ext cx="2286000" cy="0"/>
          </a:xfrm>
          <a:prstGeom prst="straightConnector1">
            <a:avLst/>
          </a:prstGeom>
          <a:noFill/>
          <a:ln w="25400">
            <a:solidFill>
              <a:srgbClr val="6B7B8D"/>
            </a:solidFill>
            <a:prstDash val="solid"/>
            <a:headEnd type="none"/>
            <a:tailEnd type="arrow"/>
          </a:ln>
        </p:spPr>
      </p:sp>
      <p:sp>
        <p:nvSpPr>
          <p:cNvPr id="21" name="Text 18"/>
          <p:cNvSpPr/>
          <p:nvPr/>
        </p:nvSpPr>
        <p:spPr>
          <a:xfrm>
            <a:off x="3683000" y="2540000"/>
            <a:ext cx="6350000" cy="254000"/>
          </a:xfrm>
          <a:prstGeom prst="rect">
            <a:avLst/>
          </a:prstGeom>
          <a:noFill/>
          <a:ln/>
        </p:spPr>
        <p:txBody>
          <a:bodyPr wrap="none" lIns="0" tIns="0" rIns="0" bIns="0" rtlCol="0" anchor="ctr"/>
          <a:lstStyle/>
          <a:p>
            <a:pPr algn="ctr">
              <a:lnSpc>
                <a:spcPct val="100000"/>
              </a:lnSpc>
            </a:pPr>
            <a:r>
              <a:rPr lang="en-US" sz="1200" dirty="0">
                <a:solidFill>
                  <a:srgbClr val="D81B2E"/>
                </a:solidFill>
                <a:latin typeface="Quattrocento Sans" pitchFamily="34" charset="0"/>
                <a:ea typeface="Quattrocento Sans" pitchFamily="34" charset="-122"/>
                <a:cs typeface="Quattrocento Sans" pitchFamily="34" charset="-120"/>
              </a:rPr>
              <a:t>bilder → objekt → vägbeskrivning → styrning</a:t>
            </a:r>
            <a:endParaRPr lang="en-US" sz="1600" dirty="0"/>
          </a:p>
        </p:txBody>
      </p:sp>
      <p:sp>
        <p:nvSpPr>
          <p:cNvPr id="22" name="Text 19"/>
          <p:cNvSpPr/>
          <p:nvPr/>
        </p:nvSpPr>
        <p:spPr>
          <a:xfrm>
            <a:off x="4572000" y="5867400"/>
            <a:ext cx="2540000" cy="228600"/>
          </a:xfrm>
          <a:prstGeom prst="rect">
            <a:avLst/>
          </a:prstGeom>
          <a:noFill/>
          <a:ln/>
        </p:spPr>
        <p:txBody>
          <a:bodyPr wrap="none" lIns="0" tIns="0" rIns="0" bIns="0" rtlCol="0" anchor="ctr"/>
          <a:lstStyle/>
          <a:p>
            <a:pPr algn="ctr">
              <a:lnSpc>
                <a:spcPct val="100000"/>
              </a:lnSpc>
            </a:pPr>
            <a:r>
              <a:rPr lang="en-US" sz="1200" dirty="0">
                <a:solidFill>
                  <a:srgbClr val="6B7B8D"/>
                </a:solidFill>
                <a:latin typeface="Quattrocento Sans" pitchFamily="34" charset="0"/>
                <a:ea typeface="Quattrocento Sans" pitchFamily="34" charset="-122"/>
                <a:cs typeface="Quattrocento Sans" pitchFamily="34" charset="-120"/>
              </a:rPr>
              <a:t>avståndsinformation</a:t>
            </a:r>
            <a:endParaRPr lang="en-US" sz="1600" dirty="0"/>
          </a:p>
        </p:txBody>
      </p:sp>
      <p:sp>
        <p:nvSpPr>
          <p:cNvPr id="23" name="Text 20"/>
          <p:cNvSpPr/>
          <p:nvPr/>
        </p:nvSpPr>
        <p:spPr>
          <a:xfrm>
            <a:off x="762000" y="6477000"/>
            <a:ext cx="14732000" cy="508000"/>
          </a:xfrm>
          <a:prstGeom prst="rect">
            <a:avLst/>
          </a:prstGeom>
          <a:noFill/>
          <a:ln/>
        </p:spPr>
        <p:txBody>
          <a:bodyPr wrap="square" lIns="0" tIns="0" rIns="0" bIns="0" rtlCol="0" anchor="ctr"/>
          <a:lstStyle/>
          <a:p>
            <a:pPr algn="ctr">
              <a:lnSpc>
                <a:spcPct val="140000"/>
              </a:lnSpc>
            </a:pPr>
            <a:r>
              <a:rPr lang="en-US" sz="1800" dirty="0">
                <a:solidFill>
                  <a:srgbClr val="6B7B8D"/>
                </a:solidFill>
                <a:latin typeface="Quattrocento Sans" pitchFamily="34" charset="0"/>
                <a:ea typeface="Quattrocento Sans" pitchFamily="34" charset="-122"/>
                <a:cs typeface="Quattrocento Sans" pitchFamily="34" charset="-120"/>
              </a:rPr>
              <a:t>Varje ruta är en </a:t>
            </a:r>
            <a:r>
              <a:rPr lang="en-US" sz="1800" b="1" dirty="0">
                <a:solidFill>
                  <a:srgbClr val="6B7B8D"/>
                </a:solidFill>
                <a:latin typeface="Quattrocento Sans" pitchFamily="34" charset="0"/>
                <a:ea typeface="Quattrocento Sans" pitchFamily="34" charset="-122"/>
                <a:cs typeface="Quattrocento Sans" pitchFamily="34" charset="-120"/>
              </a:rPr>
              <a:t>node</a:t>
            </a:r>
            <a:r>
              <a:rPr lang="en-US" sz="1800" dirty="0">
                <a:solidFill>
                  <a:srgbClr val="6B7B8D"/>
                </a:solidFill>
                <a:latin typeface="Quattrocento Sans" pitchFamily="34" charset="0"/>
                <a:ea typeface="Quattrocento Sans" pitchFamily="34" charset="-122"/>
                <a:cs typeface="Quattrocento Sans" pitchFamily="34" charset="-120"/>
              </a:rPr>
              <a:t>. Pilarna visar hur data flödar mellan noderna.</a:t>
            </a:r>
            <a:endParaRPr lang="en-US" sz="1600" dirty="0"/>
          </a:p>
        </p:txBody>
      </p:sp>
      <p:pic>
        <p:nvPicPr>
          <p:cNvPr id="24"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5" name="Text 21"/>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ett topic?</a:t>
            </a:r>
            <a:endParaRPr lang="en-US" sz="2800" dirty="0"/>
          </a:p>
        </p:txBody>
      </p:sp>
      <p:sp>
        <p:nvSpPr>
          <p:cNvPr id="5" name="Shape 2"/>
          <p:cNvSpPr/>
          <p:nvPr/>
        </p:nvSpPr>
        <p:spPr>
          <a:xfrm>
            <a:off x="762000" y="1524000"/>
            <a:ext cx="14732000" cy="1016000"/>
          </a:xfrm>
          <a:prstGeom prst="roundRect">
            <a:avLst>
              <a:gd name="adj" fmla="val 8000"/>
            </a:avLst>
          </a:prstGeom>
          <a:solidFill>
            <a:srgbClr val="0F2B46"/>
          </a:solidFill>
          <a:ln/>
        </p:spPr>
      </p:sp>
      <p:sp>
        <p:nvSpPr>
          <p:cNvPr id="6" name="Text 3"/>
          <p:cNvSpPr/>
          <p:nvPr/>
        </p:nvSpPr>
        <p:spPr>
          <a:xfrm>
            <a:off x="1270000" y="1651000"/>
            <a:ext cx="13716000" cy="762000"/>
          </a:xfrm>
          <a:prstGeom prst="rect">
            <a:avLst/>
          </a:prstGeom>
          <a:noFill/>
          <a:ln/>
        </p:spPr>
        <p:txBody>
          <a:bodyPr wrap="square" lIns="0" tIns="0" rIns="0" bIns="0" rtlCol="0" anchor="ctr"/>
          <a:lstStyle/>
          <a:p>
            <a:pPr algn="ctr">
              <a:lnSpc>
                <a:spcPct val="140000"/>
              </a:lnSpc>
            </a:pPr>
            <a:r>
              <a:rPr lang="en-US" sz="2200" dirty="0">
                <a:solidFill>
                  <a:srgbClr val="FFFFFF"/>
                </a:solidFill>
                <a:latin typeface="Quattrocento Sans" pitchFamily="34" charset="0"/>
                <a:ea typeface="Quattrocento Sans" pitchFamily="34" charset="-122"/>
                <a:cs typeface="Quattrocento Sans" pitchFamily="34" charset="-120"/>
              </a:rPr>
              <a:t>Ett </a:t>
            </a:r>
            <a:r>
              <a:rPr lang="en-US" sz="2200" b="1" dirty="0">
                <a:solidFill>
                  <a:srgbClr val="FFFFFF"/>
                </a:solidFill>
                <a:latin typeface="Quattrocento Sans" pitchFamily="34" charset="0"/>
                <a:ea typeface="Quattrocento Sans" pitchFamily="34" charset="-122"/>
                <a:cs typeface="Quattrocento Sans" pitchFamily="34" charset="-120"/>
              </a:rPr>
              <a:t>topic</a:t>
            </a:r>
            <a:r>
              <a:rPr lang="en-US" sz="2200" dirty="0">
                <a:solidFill>
                  <a:srgbClr val="FFFFFF"/>
                </a:solidFill>
                <a:latin typeface="Quattrocento Sans" pitchFamily="34" charset="0"/>
                <a:ea typeface="Quattrocento Sans" pitchFamily="34" charset="-122"/>
                <a:cs typeface="Quattrocento Sans" pitchFamily="34" charset="-120"/>
              </a:rPr>
              <a:t> är en kanal där noder skickar data</a:t>
            </a:r>
            <a:endParaRPr lang="en-US" sz="1600" dirty="0"/>
          </a:p>
        </p:txBody>
      </p:sp>
      <p:sp>
        <p:nvSpPr>
          <p:cNvPr id="7" name="Text 4"/>
          <p:cNvSpPr/>
          <p:nvPr/>
        </p:nvSpPr>
        <p:spPr>
          <a:xfrm>
            <a:off x="762000" y="2857500"/>
            <a:ext cx="3810000" cy="3810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ANALOGI:</a:t>
            </a:r>
            <a:endParaRPr lang="en-US" sz="1600" dirty="0"/>
          </a:p>
        </p:txBody>
      </p:sp>
      <p:sp>
        <p:nvSpPr>
          <p:cNvPr id="8" name="Shape 5"/>
          <p:cNvSpPr/>
          <p:nvPr/>
        </p:nvSpPr>
        <p:spPr>
          <a:xfrm>
            <a:off x="762000" y="3365500"/>
            <a:ext cx="6858000" cy="2540000"/>
          </a:xfrm>
          <a:prstGeom prst="roundRect">
            <a:avLst>
              <a:gd name="adj" fmla="val 8000"/>
            </a:avLst>
          </a:prstGeom>
          <a:solidFill>
            <a:srgbClr val="FFFFFF"/>
          </a:solidFill>
          <a:ln w="12700">
            <a:solidFill>
              <a:srgbClr val="D0D5DD"/>
            </a:solidFill>
            <a:prstDash val="solid"/>
          </a:ln>
        </p:spPr>
      </p:sp>
      <p:sp>
        <p:nvSpPr>
          <p:cNvPr id="9" name="Shape 6"/>
          <p:cNvSpPr/>
          <p:nvPr/>
        </p:nvSpPr>
        <p:spPr>
          <a:xfrm>
            <a:off x="1143000" y="3619500"/>
            <a:ext cx="609600" cy="609600"/>
          </a:xfrm>
          <a:custGeom>
            <a:avLst/>
            <a:gdLst/>
            <a:ahLst/>
            <a:cxnLst/>
            <a:rect l="l" t="t" r="r" b="b"/>
            <a:pathLst>
              <a:path w="609600" h="609600">
                <a:moveTo>
                  <a:pt x="589121" y="17859"/>
                </a:moveTo>
                <a:cubicBezTo>
                  <a:pt x="604242" y="13454"/>
                  <a:pt x="612934" y="-2500"/>
                  <a:pt x="608528" y="-17621"/>
                </a:cubicBezTo>
                <a:cubicBezTo>
                  <a:pt x="604123" y="-32742"/>
                  <a:pt x="588169" y="-41434"/>
                  <a:pt x="573048" y="-36909"/>
                </a:cubicBezTo>
                <a:lnTo>
                  <a:pt x="61674" y="112990"/>
                </a:lnTo>
                <a:cubicBezTo>
                  <a:pt x="50483" y="116205"/>
                  <a:pt x="40362" y="121563"/>
                  <a:pt x="31671" y="128588"/>
                </a:cubicBezTo>
                <a:cubicBezTo>
                  <a:pt x="12502" y="142518"/>
                  <a:pt x="0" y="165021"/>
                  <a:pt x="0" y="190500"/>
                </a:cubicBezTo>
                <a:lnTo>
                  <a:pt x="0" y="495300"/>
                </a:lnTo>
                <a:cubicBezTo>
                  <a:pt x="0" y="537329"/>
                  <a:pt x="34171" y="571500"/>
                  <a:pt x="76200" y="571500"/>
                </a:cubicBezTo>
                <a:lnTo>
                  <a:pt x="533400" y="571500"/>
                </a:lnTo>
                <a:cubicBezTo>
                  <a:pt x="575429" y="571500"/>
                  <a:pt x="609600" y="537329"/>
                  <a:pt x="609600" y="495300"/>
                </a:cubicBezTo>
                <a:lnTo>
                  <a:pt x="609600" y="190500"/>
                </a:lnTo>
                <a:cubicBezTo>
                  <a:pt x="609600" y="148471"/>
                  <a:pt x="575429" y="114300"/>
                  <a:pt x="533400" y="114300"/>
                </a:cubicBezTo>
                <a:lnTo>
                  <a:pt x="260152" y="114300"/>
                </a:lnTo>
                <a:lnTo>
                  <a:pt x="589121" y="17859"/>
                </a:lnTo>
                <a:close/>
                <a:moveTo>
                  <a:pt x="438150" y="247650"/>
                </a:moveTo>
                <a:cubicBezTo>
                  <a:pt x="490720" y="247650"/>
                  <a:pt x="533400" y="290330"/>
                  <a:pt x="533400" y="342900"/>
                </a:cubicBezTo>
                <a:cubicBezTo>
                  <a:pt x="533400" y="395470"/>
                  <a:pt x="490720" y="438150"/>
                  <a:pt x="438150" y="438150"/>
                </a:cubicBezTo>
                <a:cubicBezTo>
                  <a:pt x="385580" y="438150"/>
                  <a:pt x="342900" y="395470"/>
                  <a:pt x="342900" y="342900"/>
                </a:cubicBezTo>
                <a:cubicBezTo>
                  <a:pt x="342900" y="290330"/>
                  <a:pt x="385580" y="247650"/>
                  <a:pt x="438150" y="247650"/>
                </a:cubicBezTo>
                <a:close/>
                <a:moveTo>
                  <a:pt x="76200" y="295275"/>
                </a:moveTo>
                <a:cubicBezTo>
                  <a:pt x="76200" y="279440"/>
                  <a:pt x="88940" y="266700"/>
                  <a:pt x="104775" y="266700"/>
                </a:cubicBezTo>
                <a:lnTo>
                  <a:pt x="238125" y="266700"/>
                </a:lnTo>
                <a:cubicBezTo>
                  <a:pt x="253960" y="266700"/>
                  <a:pt x="266700" y="279440"/>
                  <a:pt x="266700" y="295275"/>
                </a:cubicBezTo>
                <a:cubicBezTo>
                  <a:pt x="266700" y="311110"/>
                  <a:pt x="253960" y="323850"/>
                  <a:pt x="238125" y="323850"/>
                </a:cubicBezTo>
                <a:lnTo>
                  <a:pt x="104775" y="323850"/>
                </a:lnTo>
                <a:cubicBezTo>
                  <a:pt x="88940" y="323850"/>
                  <a:pt x="76200" y="311110"/>
                  <a:pt x="76200" y="295275"/>
                </a:cubicBezTo>
                <a:close/>
                <a:moveTo>
                  <a:pt x="76200" y="409575"/>
                </a:moveTo>
                <a:cubicBezTo>
                  <a:pt x="76200" y="393740"/>
                  <a:pt x="88940" y="381000"/>
                  <a:pt x="104775" y="381000"/>
                </a:cubicBezTo>
                <a:lnTo>
                  <a:pt x="238125" y="381000"/>
                </a:lnTo>
                <a:cubicBezTo>
                  <a:pt x="253960" y="381000"/>
                  <a:pt x="266700" y="393740"/>
                  <a:pt x="266700" y="409575"/>
                </a:cubicBezTo>
                <a:cubicBezTo>
                  <a:pt x="266700" y="425410"/>
                  <a:pt x="253960" y="438150"/>
                  <a:pt x="238125" y="438150"/>
                </a:cubicBezTo>
                <a:lnTo>
                  <a:pt x="104775" y="438150"/>
                </a:lnTo>
                <a:cubicBezTo>
                  <a:pt x="88940" y="438150"/>
                  <a:pt x="76200" y="425410"/>
                  <a:pt x="76200" y="409575"/>
                </a:cubicBezTo>
                <a:close/>
              </a:path>
            </a:pathLst>
          </a:custGeom>
          <a:solidFill>
            <a:srgbClr val="D81B2E"/>
          </a:solidFill>
          <a:ln/>
        </p:spPr>
      </p:sp>
      <p:sp>
        <p:nvSpPr>
          <p:cNvPr id="10" name="Text 7"/>
          <p:cNvSpPr/>
          <p:nvPr/>
        </p:nvSpPr>
        <p:spPr>
          <a:xfrm>
            <a:off x="1968500" y="3619500"/>
            <a:ext cx="5334000" cy="4445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Som en radiokanal</a:t>
            </a:r>
            <a:endParaRPr lang="en-US" sz="1600" dirty="0"/>
          </a:p>
        </p:txBody>
      </p:sp>
      <p:sp>
        <p:nvSpPr>
          <p:cNvPr id="11" name="Text 8"/>
          <p:cNvSpPr/>
          <p:nvPr/>
        </p:nvSpPr>
        <p:spPr>
          <a:xfrm>
            <a:off x="1143000" y="4318000"/>
            <a:ext cx="6096000" cy="13970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En node kan </a:t>
            </a:r>
            <a:r>
              <a:rPr lang="en-US" sz="1800" b="1" dirty="0">
                <a:solidFill>
                  <a:srgbClr val="1A2332"/>
                </a:solidFill>
                <a:latin typeface="Quattrocento Sans" pitchFamily="34" charset="0"/>
                <a:ea typeface="Quattrocento Sans" pitchFamily="34" charset="-122"/>
                <a:cs typeface="Quattrocento Sans" pitchFamily="34" charset="-120"/>
              </a:rPr>
              <a:t>skicka</a:t>
            </a:r>
            <a:r>
              <a:rPr lang="en-US" sz="1800" dirty="0">
                <a:solidFill>
                  <a:srgbClr val="1A2332"/>
                </a:solidFill>
                <a:latin typeface="Quattrocento Sans" pitchFamily="34" charset="0"/>
                <a:ea typeface="Quattrocento Sans" pitchFamily="34" charset="-122"/>
                <a:cs typeface="Quattrocento Sans" pitchFamily="34" charset="-120"/>
              </a:rPr>
              <a:t> data på kanalen</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En annan node kan </a:t>
            </a:r>
            <a:r>
              <a:rPr lang="en-US" sz="1800" b="1" dirty="0">
                <a:solidFill>
                  <a:srgbClr val="1A2332"/>
                </a:solidFill>
                <a:latin typeface="Quattrocento Sans" pitchFamily="34" charset="0"/>
                <a:ea typeface="Quattrocento Sans" pitchFamily="34" charset="-122"/>
                <a:cs typeface="Quattrocento Sans" pitchFamily="34" charset="-120"/>
              </a:rPr>
              <a:t>lyssna</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Flera kan lyssna samtidigt</a:t>
            </a:r>
            <a:endParaRPr lang="en-US" sz="1600" dirty="0"/>
          </a:p>
        </p:txBody>
      </p:sp>
      <p:sp>
        <p:nvSpPr>
          <p:cNvPr id="12" name="Shape 9"/>
          <p:cNvSpPr/>
          <p:nvPr/>
        </p:nvSpPr>
        <p:spPr>
          <a:xfrm>
            <a:off x="8001000" y="3365500"/>
            <a:ext cx="7493000" cy="2540000"/>
          </a:xfrm>
          <a:prstGeom prst="roundRect">
            <a:avLst>
              <a:gd name="adj" fmla="val 8000"/>
            </a:avLst>
          </a:prstGeom>
          <a:solidFill>
            <a:srgbClr val="FFFFFF"/>
          </a:solidFill>
          <a:ln w="12700">
            <a:solidFill>
              <a:srgbClr val="D0D5DD"/>
            </a:solidFill>
            <a:prstDash val="solid"/>
          </a:ln>
        </p:spPr>
      </p:sp>
      <p:sp>
        <p:nvSpPr>
          <p:cNvPr id="13" name="Shape 10"/>
          <p:cNvSpPr/>
          <p:nvPr/>
        </p:nvSpPr>
        <p:spPr>
          <a:xfrm>
            <a:off x="8343900" y="3619500"/>
            <a:ext cx="685800" cy="609600"/>
          </a:xfrm>
          <a:custGeom>
            <a:avLst/>
            <a:gdLst/>
            <a:ahLst/>
            <a:cxnLst/>
            <a:rect l="l" t="t" r="r" b="b"/>
            <a:pathLst>
              <a:path w="685800" h="609600">
                <a:moveTo>
                  <a:pt x="457200" y="171450"/>
                </a:moveTo>
                <a:cubicBezTo>
                  <a:pt x="457200" y="287179"/>
                  <a:pt x="354806" y="381000"/>
                  <a:pt x="228600" y="381000"/>
                </a:cubicBezTo>
                <a:cubicBezTo>
                  <a:pt x="196810" y="381000"/>
                  <a:pt x="166568" y="375047"/>
                  <a:pt x="139065" y="364331"/>
                </a:cubicBezTo>
                <a:lnTo>
                  <a:pt x="41910" y="415766"/>
                </a:lnTo>
                <a:cubicBezTo>
                  <a:pt x="30837" y="421600"/>
                  <a:pt x="17264" y="419576"/>
                  <a:pt x="8334" y="410766"/>
                </a:cubicBezTo>
                <a:cubicBezTo>
                  <a:pt x="-595" y="401955"/>
                  <a:pt x="-2619" y="388263"/>
                  <a:pt x="3334" y="377190"/>
                </a:cubicBezTo>
                <a:lnTo>
                  <a:pt x="45720" y="297180"/>
                </a:lnTo>
                <a:cubicBezTo>
                  <a:pt x="17026" y="262176"/>
                  <a:pt x="0" y="218599"/>
                  <a:pt x="0" y="171450"/>
                </a:cubicBezTo>
                <a:cubicBezTo>
                  <a:pt x="0" y="55721"/>
                  <a:pt x="102394" y="-38100"/>
                  <a:pt x="228600" y="-38100"/>
                </a:cubicBezTo>
                <a:cubicBezTo>
                  <a:pt x="354806" y="-38100"/>
                  <a:pt x="457200" y="55721"/>
                  <a:pt x="457200" y="171450"/>
                </a:cubicBezTo>
                <a:close/>
                <a:moveTo>
                  <a:pt x="457200" y="609600"/>
                </a:moveTo>
                <a:cubicBezTo>
                  <a:pt x="345162" y="609600"/>
                  <a:pt x="251936" y="535662"/>
                  <a:pt x="232410" y="438150"/>
                </a:cubicBezTo>
                <a:cubicBezTo>
                  <a:pt x="375285" y="436364"/>
                  <a:pt x="499467" y="334685"/>
                  <a:pt x="513159" y="196810"/>
                </a:cubicBezTo>
                <a:cubicBezTo>
                  <a:pt x="612338" y="219670"/>
                  <a:pt x="685800" y="301943"/>
                  <a:pt x="685800" y="400050"/>
                </a:cubicBezTo>
                <a:cubicBezTo>
                  <a:pt x="685800" y="447199"/>
                  <a:pt x="668774" y="490776"/>
                  <a:pt x="640080" y="525780"/>
                </a:cubicBezTo>
                <a:lnTo>
                  <a:pt x="682466" y="605790"/>
                </a:lnTo>
                <a:cubicBezTo>
                  <a:pt x="688300" y="616863"/>
                  <a:pt x="686276" y="630436"/>
                  <a:pt x="677466" y="639366"/>
                </a:cubicBezTo>
                <a:cubicBezTo>
                  <a:pt x="668655" y="648295"/>
                  <a:pt x="654963" y="650319"/>
                  <a:pt x="643890" y="644366"/>
                </a:cubicBezTo>
                <a:lnTo>
                  <a:pt x="546735" y="592931"/>
                </a:lnTo>
                <a:cubicBezTo>
                  <a:pt x="519232" y="603647"/>
                  <a:pt x="488990" y="609600"/>
                  <a:pt x="457200" y="609600"/>
                </a:cubicBezTo>
                <a:close/>
              </a:path>
            </a:pathLst>
          </a:custGeom>
          <a:solidFill>
            <a:srgbClr val="D81B2E"/>
          </a:solidFill>
          <a:ln/>
        </p:spPr>
      </p:sp>
      <p:sp>
        <p:nvSpPr>
          <p:cNvPr id="14" name="Text 11"/>
          <p:cNvSpPr/>
          <p:nvPr/>
        </p:nvSpPr>
        <p:spPr>
          <a:xfrm>
            <a:off x="9207500" y="3619500"/>
            <a:ext cx="5969000" cy="4445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Som en chattkanal</a:t>
            </a:r>
            <a:endParaRPr lang="en-US" sz="1600" dirty="0"/>
          </a:p>
        </p:txBody>
      </p:sp>
      <p:sp>
        <p:nvSpPr>
          <p:cNvPr id="15" name="Text 12"/>
          <p:cNvSpPr/>
          <p:nvPr/>
        </p:nvSpPr>
        <p:spPr>
          <a:xfrm>
            <a:off x="8382000" y="4318000"/>
            <a:ext cx="6731000" cy="13970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Noder "chattar" med varandra</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Data skickas i </a:t>
            </a:r>
            <a:r>
              <a:rPr lang="en-US" sz="1800" b="1" dirty="0">
                <a:solidFill>
                  <a:srgbClr val="1A2332"/>
                </a:solidFill>
                <a:latin typeface="Quattrocento Sans" pitchFamily="34" charset="0"/>
                <a:ea typeface="Quattrocento Sans" pitchFamily="34" charset="-122"/>
                <a:cs typeface="Quattrocento Sans" pitchFamily="34" charset="-120"/>
              </a:rPr>
              <a:t>real tid</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Kanaler har namn, t.ex. </a:t>
            </a:r>
            <a:r>
              <a:rPr lang="en-US" sz="1800" b="1" dirty="0">
                <a:solidFill>
                  <a:srgbClr val="D81B2E"/>
                </a:solidFill>
                <a:latin typeface="Quattrocento Sans" pitchFamily="34" charset="0"/>
                <a:ea typeface="Quattrocento Sans" pitchFamily="34" charset="-122"/>
                <a:cs typeface="Quattrocento Sans" pitchFamily="34" charset="-120"/>
              </a:rPr>
              <a:t>/cmd_vel</a:t>
            </a:r>
            <a:endParaRPr lang="en-US" sz="1600" dirty="0"/>
          </a:p>
        </p:txBody>
      </p:sp>
      <p:sp>
        <p:nvSpPr>
          <p:cNvPr id="16" name="Shape 13"/>
          <p:cNvSpPr/>
          <p:nvPr/>
        </p:nvSpPr>
        <p:spPr>
          <a:xfrm>
            <a:off x="762000" y="6350000"/>
            <a:ext cx="14732000" cy="889000"/>
          </a:xfrm>
          <a:prstGeom prst="roundRect">
            <a:avLst>
              <a:gd name="adj" fmla="val 8000"/>
            </a:avLst>
          </a:prstGeom>
          <a:solidFill>
            <a:srgbClr val="E8EBF0"/>
          </a:solidFill>
          <a:ln w="12700">
            <a:solidFill>
              <a:srgbClr val="D0D5DD"/>
            </a:solidFill>
            <a:prstDash val="solid"/>
          </a:ln>
        </p:spPr>
      </p:sp>
      <p:sp>
        <p:nvSpPr>
          <p:cNvPr id="17" name="Shape 14"/>
          <p:cNvSpPr/>
          <p:nvPr/>
        </p:nvSpPr>
        <p:spPr>
          <a:xfrm>
            <a:off x="762000" y="6350000"/>
            <a:ext cx="63500" cy="889000"/>
          </a:xfrm>
          <a:prstGeom prst="rect">
            <a:avLst/>
          </a:prstGeom>
          <a:solidFill>
            <a:srgbClr val="D81B2E"/>
          </a:solidFill>
          <a:ln/>
        </p:spPr>
      </p:sp>
      <p:sp>
        <p:nvSpPr>
          <p:cNvPr id="18" name="Text 15"/>
          <p:cNvSpPr/>
          <p:nvPr/>
        </p:nvSpPr>
        <p:spPr>
          <a:xfrm>
            <a:off x="1143000" y="6477000"/>
            <a:ext cx="13970000" cy="635000"/>
          </a:xfrm>
          <a:prstGeom prst="rect">
            <a:avLst/>
          </a:prstGeom>
          <a:noFill/>
          <a:ln/>
        </p:spPr>
        <p:txBody>
          <a:bodyPr wrap="square" lIns="0" tIns="0" rIns="0" bIns="0" rtlCol="0" anchor="ctr"/>
          <a:lstStyle/>
          <a:p>
            <a:pPr>
              <a:lnSpc>
                <a:spcPct val="140000"/>
              </a:lnSpc>
            </a:pPr>
            <a:r>
              <a:rPr lang="en-US" sz="1800" dirty="0">
                <a:solidFill>
                  <a:srgbClr val="1A2332"/>
                </a:solidFill>
                <a:latin typeface="Quattrocento Sans" pitchFamily="34" charset="0"/>
                <a:ea typeface="Quattrocento Sans" pitchFamily="34" charset="-122"/>
                <a:cs typeface="Quattrocento Sans" pitchFamily="34" charset="-120"/>
              </a:rPr>
              <a:t>Topics gör det möjligt för noder att kommunicera utan att känna till varandra direkt.</a:t>
            </a:r>
            <a:endParaRPr lang="en-US" sz="1600" dirty="0"/>
          </a:p>
        </p:txBody>
      </p:sp>
      <p:pic>
        <p:nvPicPr>
          <p:cNvPr id="19"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0" name="Text 16"/>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Publisher och subscriber</a:t>
            </a:r>
            <a:endParaRPr lang="en-US" sz="2800" dirty="0"/>
          </a:p>
        </p:txBody>
      </p:sp>
      <p:sp>
        <p:nvSpPr>
          <p:cNvPr id="5" name="Shape 2"/>
          <p:cNvSpPr/>
          <p:nvPr/>
        </p:nvSpPr>
        <p:spPr>
          <a:xfrm>
            <a:off x="762000" y="1587500"/>
            <a:ext cx="6858000" cy="1651000"/>
          </a:xfrm>
          <a:prstGeom prst="roundRect">
            <a:avLst>
              <a:gd name="adj" fmla="val 8000"/>
            </a:avLst>
          </a:prstGeom>
          <a:solidFill>
            <a:srgbClr val="E8F5EE"/>
          </a:solidFill>
          <a:ln w="25400">
            <a:solidFill>
              <a:srgbClr val="2D8A4E"/>
            </a:solidFill>
            <a:prstDash val="solid"/>
          </a:ln>
        </p:spPr>
      </p:sp>
      <p:sp>
        <p:nvSpPr>
          <p:cNvPr id="6" name="Shape 3"/>
          <p:cNvSpPr/>
          <p:nvPr/>
        </p:nvSpPr>
        <p:spPr>
          <a:xfrm>
            <a:off x="1047750" y="1968500"/>
            <a:ext cx="571500" cy="508000"/>
          </a:xfrm>
          <a:custGeom>
            <a:avLst/>
            <a:gdLst/>
            <a:ahLst/>
            <a:cxnLst/>
            <a:rect l="l" t="t" r="r" b="b"/>
            <a:pathLst>
              <a:path w="571500" h="508000">
                <a:moveTo>
                  <a:pt x="532209" y="-26095"/>
                </a:moveTo>
                <a:cubicBezTo>
                  <a:pt x="541933" y="-29567"/>
                  <a:pt x="552648" y="-27087"/>
                  <a:pt x="559991" y="-19844"/>
                </a:cubicBezTo>
                <a:cubicBezTo>
                  <a:pt x="567333" y="-12601"/>
                  <a:pt x="569714" y="-1786"/>
                  <a:pt x="566241" y="7938"/>
                </a:cubicBezTo>
                <a:lnTo>
                  <a:pt x="389632" y="500955"/>
                </a:lnTo>
                <a:cubicBezTo>
                  <a:pt x="384671" y="514747"/>
                  <a:pt x="371673" y="523875"/>
                  <a:pt x="357088" y="523875"/>
                </a:cubicBezTo>
                <a:cubicBezTo>
                  <a:pt x="342999" y="523875"/>
                  <a:pt x="330299" y="515342"/>
                  <a:pt x="325041" y="502345"/>
                </a:cubicBezTo>
                <a:lnTo>
                  <a:pt x="261342" y="345579"/>
                </a:lnTo>
                <a:cubicBezTo>
                  <a:pt x="256877" y="334665"/>
                  <a:pt x="258862" y="322163"/>
                  <a:pt x="266502" y="313234"/>
                </a:cubicBezTo>
                <a:lnTo>
                  <a:pt x="360263" y="201712"/>
                </a:lnTo>
                <a:cubicBezTo>
                  <a:pt x="365323" y="195659"/>
                  <a:pt x="364927" y="186829"/>
                  <a:pt x="359370" y="181273"/>
                </a:cubicBezTo>
                <a:cubicBezTo>
                  <a:pt x="353814" y="175716"/>
                  <a:pt x="344884" y="175320"/>
                  <a:pt x="338931" y="180380"/>
                </a:cubicBezTo>
                <a:lnTo>
                  <a:pt x="227409" y="273943"/>
                </a:lnTo>
                <a:cubicBezTo>
                  <a:pt x="218380" y="281484"/>
                  <a:pt x="205978" y="283468"/>
                  <a:pt x="195064" y="279102"/>
                </a:cubicBezTo>
                <a:lnTo>
                  <a:pt x="37802" y="215106"/>
                </a:lnTo>
                <a:cubicBezTo>
                  <a:pt x="24805" y="209848"/>
                  <a:pt x="16272" y="197148"/>
                  <a:pt x="16272" y="183059"/>
                </a:cubicBezTo>
                <a:cubicBezTo>
                  <a:pt x="16272" y="168473"/>
                  <a:pt x="25400" y="155476"/>
                  <a:pt x="39191" y="150515"/>
                </a:cubicBezTo>
                <a:lnTo>
                  <a:pt x="532209" y="-26095"/>
                </a:lnTo>
                <a:close/>
              </a:path>
            </a:pathLst>
          </a:custGeom>
          <a:solidFill>
            <a:srgbClr val="2D8A4E"/>
          </a:solidFill>
          <a:ln/>
        </p:spPr>
      </p:sp>
      <p:sp>
        <p:nvSpPr>
          <p:cNvPr id="7" name="Text 4"/>
          <p:cNvSpPr/>
          <p:nvPr/>
        </p:nvSpPr>
        <p:spPr>
          <a:xfrm>
            <a:off x="1778000" y="1841500"/>
            <a:ext cx="5588000" cy="381000"/>
          </a:xfrm>
          <a:prstGeom prst="rect">
            <a:avLst/>
          </a:prstGeom>
          <a:noFill/>
          <a:ln/>
        </p:spPr>
        <p:txBody>
          <a:bodyPr wrap="none" lIns="0" tIns="0" rIns="0" bIns="0" rtlCol="0" anchor="ctr"/>
          <a:lstStyle/>
          <a:p>
            <a:pPr>
              <a:lnSpc>
                <a:spcPct val="100000"/>
              </a:lnSpc>
            </a:pPr>
            <a:r>
              <a:rPr lang="en-US" sz="2200" b="1" dirty="0">
                <a:solidFill>
                  <a:srgbClr val="2D8A4E"/>
                </a:solidFill>
                <a:latin typeface="Liter" pitchFamily="34" charset="0"/>
                <a:ea typeface="Liter" pitchFamily="34" charset="-122"/>
                <a:cs typeface="Liter" pitchFamily="34" charset="-120"/>
              </a:rPr>
              <a:t>Publisher</a:t>
            </a:r>
            <a:endParaRPr lang="en-US" sz="1600" dirty="0"/>
          </a:p>
        </p:txBody>
      </p:sp>
      <p:sp>
        <p:nvSpPr>
          <p:cNvPr id="8" name="Text 5"/>
          <p:cNvSpPr/>
          <p:nvPr/>
        </p:nvSpPr>
        <p:spPr>
          <a:xfrm>
            <a:off x="1778000" y="2286000"/>
            <a:ext cx="5588000" cy="762000"/>
          </a:xfrm>
          <a:prstGeom prst="rect">
            <a:avLst/>
          </a:prstGeom>
          <a:noFill/>
          <a:ln/>
        </p:spPr>
        <p:txBody>
          <a:bodyPr wrap="square" lIns="0" tIns="0" rIns="0" bIns="0" rtlCol="0" anchor="t"/>
          <a:lstStyle/>
          <a:p>
            <a:pPr>
              <a:lnSpc>
                <a:spcPct val="140000"/>
              </a:lnSpc>
            </a:pPr>
            <a:r>
              <a:rPr lang="en-US" sz="1800" dirty="0">
                <a:solidFill>
                  <a:srgbClr val="1A2332"/>
                </a:solidFill>
                <a:latin typeface="Quattrocento Sans" pitchFamily="34" charset="0"/>
                <a:ea typeface="Quattrocento Sans" pitchFamily="34" charset="-122"/>
                <a:cs typeface="Quattrocento Sans" pitchFamily="34" charset="-120"/>
              </a:rPr>
              <a:t>Skickar data till ett topic</a:t>
            </a:r>
            <a:endParaRPr lang="en-US" sz="1600" dirty="0"/>
          </a:p>
          <a:p>
            <a:pPr>
              <a:lnSpc>
                <a:spcPct val="140000"/>
              </a:lnSpc>
            </a:pPr>
            <a:r>
              <a:rPr lang="en-US" sz="1600" dirty="0">
                <a:solidFill>
                  <a:srgbClr val="6B7B8D"/>
                </a:solidFill>
                <a:latin typeface="Quattrocento Sans" pitchFamily="34" charset="0"/>
                <a:ea typeface="Quattrocento Sans" pitchFamily="34" charset="-122"/>
                <a:cs typeface="Quattrocento Sans" pitchFamily="34" charset="-120"/>
              </a:rPr>
              <a:t>= den som "sänder" information</a:t>
            </a:r>
            <a:endParaRPr lang="en-US" sz="1600" dirty="0"/>
          </a:p>
        </p:txBody>
      </p:sp>
      <p:sp>
        <p:nvSpPr>
          <p:cNvPr id="9" name="Shape 6"/>
          <p:cNvSpPr/>
          <p:nvPr/>
        </p:nvSpPr>
        <p:spPr>
          <a:xfrm>
            <a:off x="8001000" y="1587500"/>
            <a:ext cx="7493000" cy="1651000"/>
          </a:xfrm>
          <a:prstGeom prst="roundRect">
            <a:avLst>
              <a:gd name="adj" fmla="val 8000"/>
            </a:avLst>
          </a:prstGeom>
          <a:solidFill>
            <a:srgbClr val="E8EEF5"/>
          </a:solidFill>
          <a:ln w="25400">
            <a:solidFill>
              <a:srgbClr val="0F2B46"/>
            </a:solidFill>
            <a:prstDash val="solid"/>
          </a:ln>
        </p:spPr>
      </p:sp>
      <p:sp>
        <p:nvSpPr>
          <p:cNvPr id="10" name="Shape 7"/>
          <p:cNvSpPr/>
          <p:nvPr/>
        </p:nvSpPr>
        <p:spPr>
          <a:xfrm>
            <a:off x="8350250" y="1968500"/>
            <a:ext cx="444500" cy="508000"/>
          </a:xfrm>
          <a:custGeom>
            <a:avLst/>
            <a:gdLst/>
            <a:ahLst/>
            <a:cxnLst/>
            <a:rect l="l" t="t" r="r" b="b"/>
            <a:pathLst>
              <a:path w="444500" h="508000">
                <a:moveTo>
                  <a:pt x="63500" y="222250"/>
                </a:moveTo>
                <a:cubicBezTo>
                  <a:pt x="63500" y="134541"/>
                  <a:pt x="134541" y="63500"/>
                  <a:pt x="222250" y="63500"/>
                </a:cubicBezTo>
                <a:cubicBezTo>
                  <a:pt x="309959" y="63500"/>
                  <a:pt x="381000" y="134541"/>
                  <a:pt x="381000" y="222250"/>
                </a:cubicBezTo>
                <a:lnTo>
                  <a:pt x="381000" y="259457"/>
                </a:lnTo>
                <a:cubicBezTo>
                  <a:pt x="371078" y="255984"/>
                  <a:pt x="360363" y="254000"/>
                  <a:pt x="349250" y="254000"/>
                </a:cubicBezTo>
                <a:lnTo>
                  <a:pt x="333375" y="254000"/>
                </a:lnTo>
                <a:cubicBezTo>
                  <a:pt x="307082" y="254000"/>
                  <a:pt x="285750" y="275332"/>
                  <a:pt x="285750" y="301625"/>
                </a:cubicBezTo>
                <a:lnTo>
                  <a:pt x="285750" y="428625"/>
                </a:lnTo>
                <a:cubicBezTo>
                  <a:pt x="285750" y="454918"/>
                  <a:pt x="307082" y="476250"/>
                  <a:pt x="333375" y="476250"/>
                </a:cubicBezTo>
                <a:lnTo>
                  <a:pt x="349250" y="476250"/>
                </a:lnTo>
                <a:cubicBezTo>
                  <a:pt x="401836" y="476250"/>
                  <a:pt x="444500" y="433586"/>
                  <a:pt x="444500" y="381000"/>
                </a:cubicBezTo>
                <a:lnTo>
                  <a:pt x="444500" y="222250"/>
                </a:lnTo>
                <a:cubicBezTo>
                  <a:pt x="444500" y="99516"/>
                  <a:pt x="344984" y="0"/>
                  <a:pt x="222250" y="0"/>
                </a:cubicBezTo>
                <a:cubicBezTo>
                  <a:pt x="99516" y="0"/>
                  <a:pt x="0" y="99516"/>
                  <a:pt x="0" y="222250"/>
                </a:cubicBezTo>
                <a:lnTo>
                  <a:pt x="0" y="381000"/>
                </a:lnTo>
                <a:cubicBezTo>
                  <a:pt x="0" y="433586"/>
                  <a:pt x="42664" y="476250"/>
                  <a:pt x="95250" y="476250"/>
                </a:cubicBezTo>
                <a:lnTo>
                  <a:pt x="111125" y="476250"/>
                </a:lnTo>
                <a:cubicBezTo>
                  <a:pt x="137418" y="476250"/>
                  <a:pt x="158750" y="454918"/>
                  <a:pt x="158750" y="428625"/>
                </a:cubicBezTo>
                <a:lnTo>
                  <a:pt x="158750" y="301625"/>
                </a:lnTo>
                <a:cubicBezTo>
                  <a:pt x="158750" y="275332"/>
                  <a:pt x="137418" y="254000"/>
                  <a:pt x="111125" y="254000"/>
                </a:cubicBezTo>
                <a:lnTo>
                  <a:pt x="95250" y="254000"/>
                </a:lnTo>
                <a:cubicBezTo>
                  <a:pt x="84138" y="254000"/>
                  <a:pt x="73422" y="255885"/>
                  <a:pt x="63500" y="259457"/>
                </a:cubicBezTo>
                <a:lnTo>
                  <a:pt x="63500" y="222250"/>
                </a:lnTo>
                <a:close/>
              </a:path>
            </a:pathLst>
          </a:custGeom>
          <a:solidFill>
            <a:srgbClr val="0F2B46"/>
          </a:solidFill>
          <a:ln/>
        </p:spPr>
      </p:sp>
      <p:sp>
        <p:nvSpPr>
          <p:cNvPr id="11" name="Text 8"/>
          <p:cNvSpPr/>
          <p:nvPr/>
        </p:nvSpPr>
        <p:spPr>
          <a:xfrm>
            <a:off x="9017000" y="1841500"/>
            <a:ext cx="6223000" cy="381000"/>
          </a:xfrm>
          <a:prstGeom prst="rect">
            <a:avLst/>
          </a:prstGeom>
          <a:noFill/>
          <a:ln/>
        </p:spPr>
        <p:txBody>
          <a:bodyPr wrap="none" lIns="0" tIns="0" rIns="0" bIns="0" rtlCol="0" anchor="ctr"/>
          <a:lstStyle/>
          <a:p>
            <a:pPr>
              <a:lnSpc>
                <a:spcPct val="100000"/>
              </a:lnSpc>
            </a:pPr>
            <a:r>
              <a:rPr lang="en-US" sz="2200" b="1" dirty="0">
                <a:solidFill>
                  <a:srgbClr val="0F2B46"/>
                </a:solidFill>
                <a:latin typeface="Liter" pitchFamily="34" charset="0"/>
                <a:ea typeface="Liter" pitchFamily="34" charset="-122"/>
                <a:cs typeface="Liter" pitchFamily="34" charset="-120"/>
              </a:rPr>
              <a:t>Subscriber</a:t>
            </a:r>
            <a:endParaRPr lang="en-US" sz="1600" dirty="0"/>
          </a:p>
        </p:txBody>
      </p:sp>
      <p:sp>
        <p:nvSpPr>
          <p:cNvPr id="12" name="Text 9"/>
          <p:cNvSpPr/>
          <p:nvPr/>
        </p:nvSpPr>
        <p:spPr>
          <a:xfrm>
            <a:off x="9017000" y="2286000"/>
            <a:ext cx="6223000" cy="762000"/>
          </a:xfrm>
          <a:prstGeom prst="rect">
            <a:avLst/>
          </a:prstGeom>
          <a:noFill/>
          <a:ln/>
        </p:spPr>
        <p:txBody>
          <a:bodyPr wrap="square" lIns="0" tIns="0" rIns="0" bIns="0" rtlCol="0" anchor="t"/>
          <a:lstStyle/>
          <a:p>
            <a:pPr>
              <a:lnSpc>
                <a:spcPct val="140000"/>
              </a:lnSpc>
            </a:pPr>
            <a:r>
              <a:rPr lang="en-US" sz="1800" dirty="0">
                <a:solidFill>
                  <a:srgbClr val="1A2332"/>
                </a:solidFill>
                <a:latin typeface="Quattrocento Sans" pitchFamily="34" charset="0"/>
                <a:ea typeface="Quattrocento Sans" pitchFamily="34" charset="-122"/>
                <a:cs typeface="Quattrocento Sans" pitchFamily="34" charset="-120"/>
              </a:rPr>
              <a:t>Tar emot data från ett topic</a:t>
            </a:r>
            <a:endParaRPr lang="en-US" sz="1600" dirty="0"/>
          </a:p>
          <a:p>
            <a:pPr>
              <a:lnSpc>
                <a:spcPct val="140000"/>
              </a:lnSpc>
            </a:pPr>
            <a:r>
              <a:rPr lang="en-US" sz="1600" dirty="0">
                <a:solidFill>
                  <a:srgbClr val="6B7B8D"/>
                </a:solidFill>
                <a:latin typeface="Quattrocento Sans" pitchFamily="34" charset="0"/>
                <a:ea typeface="Quattrocento Sans" pitchFamily="34" charset="-122"/>
                <a:cs typeface="Quattrocento Sans" pitchFamily="34" charset="-120"/>
              </a:rPr>
              <a:t>= den som "lyssnar" på information</a:t>
            </a:r>
            <a:endParaRPr lang="en-US" sz="1600" dirty="0"/>
          </a:p>
        </p:txBody>
      </p:sp>
      <p:sp>
        <p:nvSpPr>
          <p:cNvPr id="13" name="Text 10"/>
          <p:cNvSpPr/>
          <p:nvPr/>
        </p:nvSpPr>
        <p:spPr>
          <a:xfrm>
            <a:off x="762000" y="3619500"/>
            <a:ext cx="5080000" cy="3810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EXEMPEL I TURTLESIM:</a:t>
            </a:r>
            <a:endParaRPr lang="en-US" sz="1600" dirty="0"/>
          </a:p>
        </p:txBody>
      </p:sp>
      <p:sp>
        <p:nvSpPr>
          <p:cNvPr id="14" name="Shape 11"/>
          <p:cNvSpPr/>
          <p:nvPr/>
        </p:nvSpPr>
        <p:spPr>
          <a:xfrm>
            <a:off x="762000" y="4127500"/>
            <a:ext cx="14732000" cy="2540000"/>
          </a:xfrm>
          <a:prstGeom prst="roundRect">
            <a:avLst>
              <a:gd name="adj" fmla="val 5000"/>
            </a:avLst>
          </a:prstGeom>
          <a:solidFill>
            <a:srgbClr val="FFFFFF"/>
          </a:solidFill>
          <a:ln w="12700">
            <a:solidFill>
              <a:srgbClr val="D0D5DD"/>
            </a:solidFill>
            <a:prstDash val="solid"/>
          </a:ln>
        </p:spPr>
      </p:sp>
      <p:sp>
        <p:nvSpPr>
          <p:cNvPr id="15" name="Shape 12"/>
          <p:cNvSpPr/>
          <p:nvPr/>
        </p:nvSpPr>
        <p:spPr>
          <a:xfrm>
            <a:off x="1270000" y="4699000"/>
            <a:ext cx="3048000" cy="1016000"/>
          </a:xfrm>
          <a:prstGeom prst="roundRect">
            <a:avLst>
              <a:gd name="adj" fmla="val 8000"/>
            </a:avLst>
          </a:prstGeom>
          <a:solidFill>
            <a:srgbClr val="2D8A4E"/>
          </a:solidFill>
          <a:ln/>
        </p:spPr>
      </p:sp>
      <p:sp>
        <p:nvSpPr>
          <p:cNvPr id="16" name="Text 13"/>
          <p:cNvSpPr/>
          <p:nvPr/>
        </p:nvSpPr>
        <p:spPr>
          <a:xfrm>
            <a:off x="1333500" y="4826000"/>
            <a:ext cx="2921000" cy="7620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teleop_turtle</a:t>
            </a:r>
            <a:endParaRPr lang="en-US" sz="1600" dirty="0"/>
          </a:p>
          <a:p>
            <a:pPr algn="ctr">
              <a:lnSpc>
                <a:spcPct val="130000"/>
              </a:lnSpc>
            </a:pPr>
            <a:r>
              <a:rPr lang="en-US" sz="1300" dirty="0">
                <a:solidFill>
                  <a:srgbClr val="FFFFFF"/>
                </a:solidFill>
                <a:latin typeface="Liter" pitchFamily="34" charset="0"/>
                <a:ea typeface="Liter" pitchFamily="34" charset="-122"/>
                <a:cs typeface="Liter" pitchFamily="34" charset="-120"/>
              </a:rPr>
              <a:t>Publisher</a:t>
            </a:r>
            <a:endParaRPr lang="en-US" sz="1600" dirty="0"/>
          </a:p>
        </p:txBody>
      </p:sp>
      <p:sp>
        <p:nvSpPr>
          <p:cNvPr id="17" name="Shape 14"/>
          <p:cNvSpPr/>
          <p:nvPr/>
        </p:nvSpPr>
        <p:spPr>
          <a:xfrm>
            <a:off x="4572000" y="5080000"/>
            <a:ext cx="1524000" cy="0"/>
          </a:xfrm>
          <a:prstGeom prst="straightConnector1">
            <a:avLst/>
          </a:prstGeom>
          <a:noFill/>
          <a:ln w="38100">
            <a:solidFill>
              <a:srgbClr val="D81B2E"/>
            </a:solidFill>
            <a:prstDash val="solid"/>
            <a:headEnd type="none"/>
            <a:tailEnd type="arrow"/>
          </a:ln>
        </p:spPr>
      </p:sp>
      <p:sp>
        <p:nvSpPr>
          <p:cNvPr id="18" name="Shape 15"/>
          <p:cNvSpPr/>
          <p:nvPr/>
        </p:nvSpPr>
        <p:spPr>
          <a:xfrm>
            <a:off x="6350000" y="4699000"/>
            <a:ext cx="3556000" cy="1016000"/>
          </a:xfrm>
          <a:prstGeom prst="roundRect">
            <a:avLst>
              <a:gd name="adj" fmla="val 8000"/>
            </a:avLst>
          </a:prstGeom>
          <a:solidFill>
            <a:srgbClr val="D81B2E"/>
          </a:solidFill>
          <a:ln/>
        </p:spPr>
      </p:sp>
      <p:sp>
        <p:nvSpPr>
          <p:cNvPr id="19" name="Text 16"/>
          <p:cNvSpPr/>
          <p:nvPr/>
        </p:nvSpPr>
        <p:spPr>
          <a:xfrm>
            <a:off x="6413500" y="4826000"/>
            <a:ext cx="3429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/turtle1/cmd_vel</a:t>
            </a:r>
            <a:endParaRPr lang="en-US" sz="1600" dirty="0"/>
          </a:p>
          <a:p>
            <a:pPr algn="ctr">
              <a:lnSpc>
                <a:spcPct val="130000"/>
              </a:lnSpc>
            </a:pPr>
            <a:r>
              <a:rPr lang="en-US" sz="1300" dirty="0">
                <a:solidFill>
                  <a:srgbClr val="FFFFFF"/>
                </a:solidFill>
                <a:latin typeface="Liter" pitchFamily="34" charset="0"/>
                <a:ea typeface="Liter" pitchFamily="34" charset="-122"/>
                <a:cs typeface="Liter" pitchFamily="34" charset="-120"/>
              </a:rPr>
              <a:t>Topic</a:t>
            </a:r>
            <a:endParaRPr lang="en-US" sz="1600" dirty="0"/>
          </a:p>
        </p:txBody>
      </p:sp>
      <p:sp>
        <p:nvSpPr>
          <p:cNvPr id="20" name="Shape 17"/>
          <p:cNvSpPr/>
          <p:nvPr/>
        </p:nvSpPr>
        <p:spPr>
          <a:xfrm>
            <a:off x="10160000" y="5080000"/>
            <a:ext cx="1524000" cy="0"/>
          </a:xfrm>
          <a:prstGeom prst="straightConnector1">
            <a:avLst/>
          </a:prstGeom>
          <a:noFill/>
          <a:ln w="38100">
            <a:solidFill>
              <a:srgbClr val="0F2B46"/>
            </a:solidFill>
            <a:prstDash val="solid"/>
            <a:headEnd type="none"/>
            <a:tailEnd type="arrow"/>
          </a:ln>
        </p:spPr>
      </p:sp>
      <p:sp>
        <p:nvSpPr>
          <p:cNvPr id="21" name="Shape 18"/>
          <p:cNvSpPr/>
          <p:nvPr/>
        </p:nvSpPr>
        <p:spPr>
          <a:xfrm>
            <a:off x="11938000" y="4699000"/>
            <a:ext cx="3048000" cy="1016000"/>
          </a:xfrm>
          <a:prstGeom prst="roundRect">
            <a:avLst>
              <a:gd name="adj" fmla="val 8000"/>
            </a:avLst>
          </a:prstGeom>
          <a:solidFill>
            <a:srgbClr val="0F2B46"/>
          </a:solidFill>
          <a:ln/>
        </p:spPr>
      </p:sp>
      <p:sp>
        <p:nvSpPr>
          <p:cNvPr id="22" name="Text 19"/>
          <p:cNvSpPr/>
          <p:nvPr/>
        </p:nvSpPr>
        <p:spPr>
          <a:xfrm>
            <a:off x="12001500" y="4826000"/>
            <a:ext cx="2921000" cy="762000"/>
          </a:xfrm>
          <a:prstGeom prst="rect">
            <a:avLst/>
          </a:prstGeom>
          <a:noFill/>
          <a:ln/>
        </p:spPr>
        <p:txBody>
          <a:bodyPr wrap="square" lIns="0" tIns="0" rIns="0" bIns="0" rtlCol="0" anchor="ctr"/>
          <a:lstStyle/>
          <a:p>
            <a:pPr algn="ctr">
              <a:lnSpc>
                <a:spcPct val="130000"/>
              </a:lnSpc>
            </a:pPr>
            <a:r>
              <a:rPr lang="en-US" sz="1600" b="1" dirty="0">
                <a:solidFill>
                  <a:srgbClr val="FFFFFF"/>
                </a:solidFill>
                <a:latin typeface="Liter" pitchFamily="34" charset="0"/>
                <a:ea typeface="Liter" pitchFamily="34" charset="-122"/>
                <a:cs typeface="Liter" pitchFamily="34" charset="-120"/>
              </a:rPr>
              <a:t>turtlesim</a:t>
            </a:r>
            <a:endParaRPr lang="en-US" sz="1600" dirty="0"/>
          </a:p>
          <a:p>
            <a:pPr algn="ctr">
              <a:lnSpc>
                <a:spcPct val="130000"/>
              </a:lnSpc>
            </a:pPr>
            <a:r>
              <a:rPr lang="en-US" sz="1300" dirty="0">
                <a:solidFill>
                  <a:srgbClr val="FFFFFF"/>
                </a:solidFill>
                <a:latin typeface="Liter" pitchFamily="34" charset="0"/>
                <a:ea typeface="Liter" pitchFamily="34" charset="-122"/>
                <a:cs typeface="Liter" pitchFamily="34" charset="-120"/>
              </a:rPr>
              <a:t>Subscriber</a:t>
            </a:r>
            <a:endParaRPr lang="en-US" sz="1600" dirty="0"/>
          </a:p>
        </p:txBody>
      </p:sp>
      <p:sp>
        <p:nvSpPr>
          <p:cNvPr id="23" name="Text 20"/>
          <p:cNvSpPr/>
          <p:nvPr/>
        </p:nvSpPr>
        <p:spPr>
          <a:xfrm>
            <a:off x="4318000" y="5842000"/>
            <a:ext cx="7620000" cy="317500"/>
          </a:xfrm>
          <a:prstGeom prst="rect">
            <a:avLst/>
          </a:prstGeom>
          <a:noFill/>
          <a:ln/>
        </p:spPr>
        <p:txBody>
          <a:bodyPr wrap="none" lIns="0" tIns="0" rIns="0" bIns="0" rtlCol="0" anchor="ctr"/>
          <a:lstStyle/>
          <a:p>
            <a:pPr algn="ct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Hastighetskommandon skickas från tangentbordet till sköldpaddan</a:t>
            </a:r>
            <a:endParaRPr lang="en-US" sz="1600" dirty="0"/>
          </a:p>
        </p:txBody>
      </p:sp>
      <p:pic>
        <p:nvPicPr>
          <p:cNvPr id="24"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5" name="Text 21"/>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ett message?</a:t>
            </a:r>
            <a:endParaRPr lang="en-US" sz="2800" dirty="0"/>
          </a:p>
        </p:txBody>
      </p:sp>
      <p:sp>
        <p:nvSpPr>
          <p:cNvPr id="5" name="Shape 2"/>
          <p:cNvSpPr/>
          <p:nvPr/>
        </p:nvSpPr>
        <p:spPr>
          <a:xfrm>
            <a:off x="762000" y="1524000"/>
            <a:ext cx="14732000" cy="1016000"/>
          </a:xfrm>
          <a:prstGeom prst="roundRect">
            <a:avLst>
              <a:gd name="adj" fmla="val 8000"/>
            </a:avLst>
          </a:prstGeom>
          <a:solidFill>
            <a:srgbClr val="0F2B46"/>
          </a:solidFill>
          <a:ln/>
        </p:spPr>
      </p:sp>
      <p:sp>
        <p:nvSpPr>
          <p:cNvPr id="6" name="Text 3"/>
          <p:cNvSpPr/>
          <p:nvPr/>
        </p:nvSpPr>
        <p:spPr>
          <a:xfrm>
            <a:off x="1270000" y="1651000"/>
            <a:ext cx="13716000" cy="762000"/>
          </a:xfrm>
          <a:prstGeom prst="rect">
            <a:avLst/>
          </a:prstGeom>
          <a:noFill/>
          <a:ln/>
        </p:spPr>
        <p:txBody>
          <a:bodyPr wrap="square" lIns="0" tIns="0" rIns="0" bIns="0" rtlCol="0" anchor="ctr"/>
          <a:lstStyle/>
          <a:p>
            <a:pPr algn="ctr">
              <a:lnSpc>
                <a:spcPct val="140000"/>
              </a:lnSpc>
            </a:pPr>
            <a:r>
              <a:rPr lang="en-US" sz="2200" dirty="0">
                <a:solidFill>
                  <a:srgbClr val="FFFFFF"/>
                </a:solidFill>
                <a:latin typeface="Quattrocento Sans" pitchFamily="34" charset="0"/>
                <a:ea typeface="Quattrocento Sans" pitchFamily="34" charset="-122"/>
                <a:cs typeface="Quattrocento Sans" pitchFamily="34" charset="-120"/>
              </a:rPr>
              <a:t>Ett </a:t>
            </a:r>
            <a:r>
              <a:rPr lang="en-US" sz="2200" b="1" dirty="0">
                <a:solidFill>
                  <a:srgbClr val="FFFFFF"/>
                </a:solidFill>
                <a:latin typeface="Quattrocento Sans" pitchFamily="34" charset="0"/>
                <a:ea typeface="Quattrocento Sans" pitchFamily="34" charset="-122"/>
                <a:cs typeface="Quattrocento Sans" pitchFamily="34" charset="-120"/>
              </a:rPr>
              <a:t>message</a:t>
            </a:r>
            <a:r>
              <a:rPr lang="en-US" sz="2200" dirty="0">
                <a:solidFill>
                  <a:srgbClr val="FFFFFF"/>
                </a:solidFill>
                <a:latin typeface="Quattrocento Sans" pitchFamily="34" charset="0"/>
                <a:ea typeface="Quattrocento Sans" pitchFamily="34" charset="-122"/>
                <a:cs typeface="Quattrocento Sans" pitchFamily="34" charset="-120"/>
              </a:rPr>
              <a:t> är formatet på datan som skickas</a:t>
            </a:r>
            <a:endParaRPr lang="en-US" sz="1600" dirty="0"/>
          </a:p>
        </p:txBody>
      </p:sp>
      <p:sp>
        <p:nvSpPr>
          <p:cNvPr id="7" name="Text 4"/>
          <p:cNvSpPr/>
          <p:nvPr/>
        </p:nvSpPr>
        <p:spPr>
          <a:xfrm>
            <a:off x="762000" y="2857500"/>
            <a:ext cx="6350000" cy="3810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EXEMPEL: TOPIC /turtle1/cmd_vel</a:t>
            </a:r>
            <a:endParaRPr lang="en-US" sz="1600" dirty="0"/>
          </a:p>
        </p:txBody>
      </p:sp>
      <p:sp>
        <p:nvSpPr>
          <p:cNvPr id="8" name="Shape 5"/>
          <p:cNvSpPr/>
          <p:nvPr/>
        </p:nvSpPr>
        <p:spPr>
          <a:xfrm>
            <a:off x="762000" y="3429000"/>
            <a:ext cx="6858000" cy="3556000"/>
          </a:xfrm>
          <a:prstGeom prst="roundRect">
            <a:avLst>
              <a:gd name="adj" fmla="val 5000"/>
            </a:avLst>
          </a:prstGeom>
          <a:solidFill>
            <a:srgbClr val="1A2332"/>
          </a:solidFill>
          <a:ln/>
        </p:spPr>
      </p:sp>
      <p:sp>
        <p:nvSpPr>
          <p:cNvPr id="9" name="Text 6"/>
          <p:cNvSpPr/>
          <p:nvPr/>
        </p:nvSpPr>
        <p:spPr>
          <a:xfrm>
            <a:off x="1079500" y="3556000"/>
            <a:ext cx="6223000" cy="317500"/>
          </a:xfrm>
          <a:prstGeom prst="rect">
            <a:avLst/>
          </a:prstGeom>
          <a:noFill/>
          <a:ln/>
        </p:spPr>
        <p:txBody>
          <a:bodyPr wrap="none" lIns="0" tIns="0" rIns="0" bIns="0" rtlCol="0" anchor="ctr"/>
          <a:lstStyle/>
          <a:p>
            <a:pPr>
              <a:lnSpc>
                <a:spcPct val="100000"/>
              </a:lnSpc>
            </a:pPr>
            <a:r>
              <a:rPr lang="en-US" sz="1400" kern="0" spc="100" dirty="0">
                <a:solidFill>
                  <a:srgbClr val="B0BEC5"/>
                </a:solidFill>
                <a:latin typeface="Liter" pitchFamily="34" charset="0"/>
                <a:ea typeface="Liter" pitchFamily="34" charset="-122"/>
                <a:cs typeface="Liter" pitchFamily="34" charset="-120"/>
              </a:rPr>
              <a:t>MESSAGE-TYP: TWIST</a:t>
            </a:r>
            <a:endParaRPr lang="en-US" sz="1600" dirty="0"/>
          </a:p>
        </p:txBody>
      </p:sp>
      <p:sp>
        <p:nvSpPr>
          <p:cNvPr id="10" name="Text 7"/>
          <p:cNvSpPr/>
          <p:nvPr/>
        </p:nvSpPr>
        <p:spPr>
          <a:xfrm>
            <a:off x="1079500" y="4000500"/>
            <a:ext cx="6223000" cy="2857500"/>
          </a:xfrm>
          <a:prstGeom prst="rect">
            <a:avLst/>
          </a:prstGeom>
          <a:noFill/>
          <a:ln/>
        </p:spPr>
        <p:txBody>
          <a:bodyPr wrap="square" lIns="0" tIns="0" rIns="0" bIns="0" rtlCol="0" anchor="t"/>
          <a:lstStyle/>
          <a:p>
            <a:pPr>
              <a:lnSpc>
                <a:spcPct val="160000"/>
              </a:lnSpc>
            </a:pPr>
            <a:r>
              <a:rPr lang="en-US" sz="1600" dirty="0">
                <a:solidFill>
                  <a:srgbClr val="E8EBF0"/>
                </a:solidFill>
                <a:latin typeface="Liter" pitchFamily="34" charset="0"/>
                <a:ea typeface="Liter" pitchFamily="34" charset="-122"/>
                <a:cs typeface="Liter" pitchFamily="34" charset="-120"/>
              </a:rPr>
              <a:t>geometry_msgs/Twist</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linear:</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x: </a:t>
            </a:r>
            <a:r>
              <a:rPr lang="en-US" sz="1600" dirty="0">
                <a:solidFill>
                  <a:srgbClr val="D81B2E"/>
                </a:solidFill>
                <a:latin typeface="Liter" pitchFamily="34" charset="0"/>
                <a:ea typeface="Liter" pitchFamily="34" charset="-122"/>
                <a:cs typeface="Liter" pitchFamily="34" charset="-120"/>
              </a:rPr>
              <a:t>1.0</a:t>
            </a:r>
            <a:r>
              <a:rPr lang="en-US" sz="1600" dirty="0">
                <a:solidFill>
                  <a:srgbClr val="E8EBF0"/>
                </a:solidFill>
                <a:latin typeface="Liter" pitchFamily="34" charset="0"/>
                <a:ea typeface="Liter" pitchFamily="34" charset="-122"/>
                <a:cs typeface="Liter" pitchFamily="34" charset="-120"/>
              </a:rPr>
              <a:t> </a:t>
            </a:r>
            <a:r>
              <a:rPr lang="en-US" sz="1600" dirty="0">
                <a:solidFill>
                  <a:srgbClr val="6B7B8D"/>
                </a:solidFill>
                <a:latin typeface="Liter" pitchFamily="34" charset="0"/>
                <a:ea typeface="Liter" pitchFamily="34" charset="-122"/>
                <a:cs typeface="Liter" pitchFamily="34" charset="-120"/>
              </a:rPr>
              <a:t># hastighet framåt</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angular:</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z: </a:t>
            </a:r>
            <a:r>
              <a:rPr lang="en-US" sz="1600" dirty="0">
                <a:solidFill>
                  <a:srgbClr val="D81B2E"/>
                </a:solidFill>
                <a:latin typeface="Liter" pitchFamily="34" charset="0"/>
                <a:ea typeface="Liter" pitchFamily="34" charset="-122"/>
                <a:cs typeface="Liter" pitchFamily="34" charset="-120"/>
              </a:rPr>
              <a:t>0.5</a:t>
            </a:r>
            <a:r>
              <a:rPr lang="en-US" sz="1600" dirty="0">
                <a:solidFill>
                  <a:srgbClr val="E8EBF0"/>
                </a:solidFill>
                <a:latin typeface="Liter" pitchFamily="34" charset="0"/>
                <a:ea typeface="Liter" pitchFamily="34" charset="-122"/>
                <a:cs typeface="Liter" pitchFamily="34" charset="-120"/>
              </a:rPr>
              <a:t> </a:t>
            </a:r>
            <a:r>
              <a:rPr lang="en-US" sz="1600" dirty="0">
                <a:solidFill>
                  <a:srgbClr val="6B7B8D"/>
                </a:solidFill>
                <a:latin typeface="Liter" pitchFamily="34" charset="0"/>
                <a:ea typeface="Liter" pitchFamily="34" charset="-122"/>
                <a:cs typeface="Liter" pitchFamily="34" charset="-120"/>
              </a:rPr>
              <a:t># rotationshastighet</a:t>
            </a:r>
            <a:endParaRPr lang="en-US" sz="1600" dirty="0"/>
          </a:p>
          <a:p>
            <a:pPr>
              <a:lnSpc>
                <a:spcPct val="160000"/>
              </a:lnSpc>
            </a:pPr>
            <a:r>
              <a:rPr lang="en-US" sz="1600" dirty="0">
                <a:solidFill>
                  <a:srgbClr val="E8EBF0"/>
                </a:solidFill>
                <a:latin typeface="Liter" pitchFamily="34" charset="0"/>
                <a:ea typeface="Liter" pitchFamily="34" charset="-122"/>
                <a:cs typeface="Liter" pitchFamily="34" charset="-120"/>
              </a:rPr>
              <a:t>}</a:t>
            </a:r>
            <a:endParaRPr lang="en-US" sz="1600" dirty="0"/>
          </a:p>
        </p:txBody>
      </p:sp>
      <p:sp>
        <p:nvSpPr>
          <p:cNvPr id="11" name="Shape 8"/>
          <p:cNvSpPr/>
          <p:nvPr/>
        </p:nvSpPr>
        <p:spPr>
          <a:xfrm>
            <a:off x="8001000" y="3429000"/>
            <a:ext cx="7493000" cy="3556000"/>
          </a:xfrm>
          <a:prstGeom prst="roundRect">
            <a:avLst>
              <a:gd name="adj" fmla="val 8000"/>
            </a:avLst>
          </a:prstGeom>
          <a:solidFill>
            <a:srgbClr val="FFFFFF"/>
          </a:solidFill>
          <a:ln w="12700">
            <a:solidFill>
              <a:srgbClr val="D0D5DD"/>
            </a:solidFill>
            <a:prstDash val="solid"/>
          </a:ln>
        </p:spPr>
      </p:sp>
      <p:sp>
        <p:nvSpPr>
          <p:cNvPr id="12" name="Text 9"/>
          <p:cNvSpPr/>
          <p:nvPr/>
        </p:nvSpPr>
        <p:spPr>
          <a:xfrm>
            <a:off x="8382000" y="3619500"/>
            <a:ext cx="6731000" cy="381000"/>
          </a:xfrm>
          <a:prstGeom prst="rect">
            <a:avLst/>
          </a:prstGeom>
          <a:noFill/>
          <a:ln/>
        </p:spPr>
        <p:txBody>
          <a:bodyPr wrap="none" lIns="0" tIns="0" rIns="0" bIns="0" rtlCol="0" anchor="ctr"/>
          <a:lstStyle/>
          <a:p>
            <a:pPr>
              <a:lnSpc>
                <a:spcPct val="100000"/>
              </a:lnSpc>
            </a:pPr>
            <a:r>
              <a:rPr lang="en-US" sz="2000" b="1" dirty="0">
                <a:solidFill>
                  <a:srgbClr val="0F2B46"/>
                </a:solidFill>
                <a:latin typeface="Liter" pitchFamily="34" charset="0"/>
                <a:ea typeface="Liter" pitchFamily="34" charset="-122"/>
                <a:cs typeface="Liter" pitchFamily="34" charset="-120"/>
              </a:rPr>
              <a:t>Vad betyder detta?</a:t>
            </a:r>
            <a:endParaRPr lang="en-US" sz="1600" dirty="0"/>
          </a:p>
        </p:txBody>
      </p:sp>
      <p:sp>
        <p:nvSpPr>
          <p:cNvPr id="13" name="Text 10"/>
          <p:cNvSpPr/>
          <p:nvPr/>
        </p:nvSpPr>
        <p:spPr>
          <a:xfrm>
            <a:off x="8382000" y="4127500"/>
            <a:ext cx="6731000" cy="2730500"/>
          </a:xfrm>
          <a:prstGeom prst="rect">
            <a:avLst/>
          </a:prstGeom>
          <a:noFill/>
          <a:ln/>
        </p:spPr>
        <p:txBody>
          <a:bodyPr wrap="square" lIns="0" tIns="0" rIns="0" bIns="0" rtlCol="0" anchor="t"/>
          <a:lstStyle/>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a:t>
            </a:r>
            <a:r>
              <a:rPr lang="en-US" sz="1800" b="1" dirty="0">
                <a:solidFill>
                  <a:srgbClr val="1A2332"/>
                </a:solidFill>
                <a:latin typeface="Quattrocento Sans" pitchFamily="34" charset="0"/>
                <a:ea typeface="Quattrocento Sans" pitchFamily="34" charset="-122"/>
                <a:cs typeface="Quattrocento Sans" pitchFamily="34" charset="-120"/>
              </a:rPr>
              <a:t>linear.x</a:t>
            </a:r>
            <a:r>
              <a:rPr lang="en-US" sz="1800" dirty="0">
                <a:solidFill>
                  <a:srgbClr val="1A2332"/>
                </a:solidFill>
                <a:latin typeface="Quattrocento Sans" pitchFamily="34" charset="0"/>
                <a:ea typeface="Quattrocento Sans" pitchFamily="34" charset="-122"/>
                <a:cs typeface="Quattrocento Sans" pitchFamily="34" charset="-120"/>
              </a:rPr>
              <a:t> = hastighet framåt</a:t>
            </a:r>
            <a:endParaRPr lang="en-US" sz="1600" dirty="0"/>
          </a:p>
          <a:p>
            <a:pPr>
              <a:lnSpc>
                <a:spcPct val="150000"/>
              </a:lnSpc>
            </a:pPr>
            <a:r>
              <a:rPr lang="en-US" sz="1800" dirty="0">
                <a:solidFill>
                  <a:srgbClr val="6B7B8D"/>
                </a:solidFill>
                <a:latin typeface="Quattrocento Sans" pitchFamily="34" charset="0"/>
                <a:ea typeface="Quattrocento Sans" pitchFamily="34" charset="-122"/>
                <a:cs typeface="Quattrocento Sans" pitchFamily="34" charset="-120"/>
              </a:rPr>
              <a:t>(positiv = framåt, negativ = bakåt)</a:t>
            </a:r>
            <a:endParaRPr lang="en-US" sz="1600" dirty="0"/>
          </a:p>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 </a:t>
            </a:r>
            <a:r>
              <a:rPr lang="en-US" sz="1800" b="1" dirty="0">
                <a:solidFill>
                  <a:srgbClr val="1A2332"/>
                </a:solidFill>
                <a:latin typeface="Quattrocento Sans" pitchFamily="34" charset="0"/>
                <a:ea typeface="Quattrocento Sans" pitchFamily="34" charset="-122"/>
                <a:cs typeface="Quattrocento Sans" pitchFamily="34" charset="-120"/>
              </a:rPr>
              <a:t>angular.z</a:t>
            </a:r>
            <a:r>
              <a:rPr lang="en-US" sz="1800" dirty="0">
                <a:solidFill>
                  <a:srgbClr val="1A2332"/>
                </a:solidFill>
                <a:latin typeface="Quattrocento Sans" pitchFamily="34" charset="0"/>
                <a:ea typeface="Quattrocento Sans" pitchFamily="34" charset="-122"/>
                <a:cs typeface="Quattrocento Sans" pitchFamily="34" charset="-120"/>
              </a:rPr>
              <a:t> = rotationshastighet</a:t>
            </a:r>
            <a:endParaRPr lang="en-US" sz="1600" dirty="0"/>
          </a:p>
          <a:p>
            <a:pPr>
              <a:lnSpc>
                <a:spcPct val="150000"/>
              </a:lnSpc>
            </a:pPr>
            <a:r>
              <a:rPr lang="en-US" sz="1800" dirty="0">
                <a:solidFill>
                  <a:srgbClr val="6B7B8D"/>
                </a:solidFill>
                <a:latin typeface="Quattrocento Sans" pitchFamily="34" charset="0"/>
                <a:ea typeface="Quattrocento Sans" pitchFamily="34" charset="-122"/>
                <a:cs typeface="Quattrocento Sans" pitchFamily="34" charset="-120"/>
              </a:rPr>
              <a:t>(positiv = vänster, negativ = höger)</a:t>
            </a:r>
            <a:endParaRPr lang="en-US" sz="1600" dirty="0"/>
          </a:p>
          <a:p>
            <a:pPr>
              <a:lnSpc>
                <a:spcPct val="150000"/>
              </a:lnSpc>
              <a:spcBef>
                <a:spcPts val="1200"/>
              </a:spcBef>
            </a:pPr>
            <a:r>
              <a:rPr lang="en-US" sz="1800" dirty="0">
                <a:solidFill>
                  <a:srgbClr val="1A2332"/>
                </a:solidFill>
                <a:latin typeface="Quattrocento Sans" pitchFamily="34" charset="0"/>
                <a:ea typeface="Quattrocento Sans" pitchFamily="34" charset="-122"/>
                <a:cs typeface="Quattrocento Sans" pitchFamily="34" charset="-120"/>
              </a:rPr>
              <a:t>Alla noder måste använda </a:t>
            </a:r>
            <a:r>
              <a:rPr lang="en-US" sz="1800" b="1" dirty="0">
                <a:solidFill>
                  <a:srgbClr val="1A2332"/>
                </a:solidFill>
                <a:latin typeface="Quattrocento Sans" pitchFamily="34" charset="0"/>
                <a:ea typeface="Quattrocento Sans" pitchFamily="34" charset="-122"/>
                <a:cs typeface="Quattrocento Sans" pitchFamily="34" charset="-120"/>
              </a:rPr>
              <a:t>samma message-format</a:t>
            </a:r>
            <a:r>
              <a:rPr lang="en-US" sz="1800" dirty="0">
                <a:solidFill>
                  <a:srgbClr val="1A2332"/>
                </a:solidFill>
                <a:latin typeface="Quattrocento Sans" pitchFamily="34" charset="0"/>
                <a:ea typeface="Quattrocento Sans" pitchFamily="34" charset="-122"/>
                <a:cs typeface="Quattrocento Sans" pitchFamily="34" charset="-120"/>
              </a:rPr>
              <a:t> för att förstå varandra.</a:t>
            </a:r>
            <a:endParaRPr lang="en-US" sz="1600" dirty="0"/>
          </a:p>
        </p:txBody>
      </p:sp>
      <p:pic>
        <p:nvPicPr>
          <p:cNvPr id="14"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15" name="Text 11"/>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en service?</a:t>
            </a:r>
            <a:endParaRPr lang="en-US" sz="2800" dirty="0"/>
          </a:p>
        </p:txBody>
      </p:sp>
      <p:sp>
        <p:nvSpPr>
          <p:cNvPr id="5" name="Shape 2"/>
          <p:cNvSpPr/>
          <p:nvPr/>
        </p:nvSpPr>
        <p:spPr>
          <a:xfrm>
            <a:off x="762000" y="1587500"/>
            <a:ext cx="6858000" cy="3048000"/>
          </a:xfrm>
          <a:prstGeom prst="roundRect">
            <a:avLst>
              <a:gd name="adj" fmla="val 8000"/>
            </a:avLst>
          </a:prstGeom>
          <a:solidFill>
            <a:srgbClr val="E8F5EE"/>
          </a:solidFill>
          <a:ln w="25400">
            <a:solidFill>
              <a:srgbClr val="2D8A4E"/>
            </a:solidFill>
            <a:prstDash val="solid"/>
          </a:ln>
        </p:spPr>
      </p:sp>
      <p:sp>
        <p:nvSpPr>
          <p:cNvPr id="6" name="Shape 3"/>
          <p:cNvSpPr/>
          <p:nvPr/>
        </p:nvSpPr>
        <p:spPr>
          <a:xfrm>
            <a:off x="1079500" y="1841500"/>
            <a:ext cx="508000" cy="508000"/>
          </a:xfrm>
          <a:custGeom>
            <a:avLst/>
            <a:gdLst/>
            <a:ahLst/>
            <a:cxnLst/>
            <a:rect l="l" t="t" r="r" b="b"/>
            <a:pathLst>
              <a:path w="508000" h="508000">
                <a:moveTo>
                  <a:pt x="490934" y="14883"/>
                </a:moveTo>
                <a:cubicBezTo>
                  <a:pt x="503535" y="11212"/>
                  <a:pt x="510778" y="-2084"/>
                  <a:pt x="507107" y="-14684"/>
                </a:cubicBezTo>
                <a:cubicBezTo>
                  <a:pt x="503436" y="-27285"/>
                  <a:pt x="490141" y="-34528"/>
                  <a:pt x="477540" y="-30758"/>
                </a:cubicBezTo>
                <a:lnTo>
                  <a:pt x="51395" y="94159"/>
                </a:lnTo>
                <a:cubicBezTo>
                  <a:pt x="42069" y="96837"/>
                  <a:pt x="33635" y="101302"/>
                  <a:pt x="26392" y="107156"/>
                </a:cubicBezTo>
                <a:cubicBezTo>
                  <a:pt x="10418" y="118765"/>
                  <a:pt x="0" y="137517"/>
                  <a:pt x="0" y="158750"/>
                </a:cubicBezTo>
                <a:lnTo>
                  <a:pt x="0" y="412750"/>
                </a:lnTo>
                <a:cubicBezTo>
                  <a:pt x="0" y="447774"/>
                  <a:pt x="28476" y="476250"/>
                  <a:pt x="63500" y="476250"/>
                </a:cubicBezTo>
                <a:lnTo>
                  <a:pt x="444500" y="476250"/>
                </a:lnTo>
                <a:cubicBezTo>
                  <a:pt x="479524" y="476250"/>
                  <a:pt x="508000" y="447774"/>
                  <a:pt x="508000" y="412750"/>
                </a:cubicBezTo>
                <a:lnTo>
                  <a:pt x="508000" y="158750"/>
                </a:lnTo>
                <a:cubicBezTo>
                  <a:pt x="508000" y="123726"/>
                  <a:pt x="479524" y="95250"/>
                  <a:pt x="444500" y="95250"/>
                </a:cubicBezTo>
                <a:lnTo>
                  <a:pt x="216793" y="95250"/>
                </a:lnTo>
                <a:lnTo>
                  <a:pt x="490934" y="14883"/>
                </a:lnTo>
                <a:close/>
                <a:moveTo>
                  <a:pt x="365125" y="206375"/>
                </a:moveTo>
                <a:cubicBezTo>
                  <a:pt x="408933" y="206375"/>
                  <a:pt x="444500" y="241942"/>
                  <a:pt x="444500" y="285750"/>
                </a:cubicBezTo>
                <a:cubicBezTo>
                  <a:pt x="444500" y="329558"/>
                  <a:pt x="408933" y="365125"/>
                  <a:pt x="365125" y="365125"/>
                </a:cubicBezTo>
                <a:cubicBezTo>
                  <a:pt x="321317" y="365125"/>
                  <a:pt x="285750" y="329558"/>
                  <a:pt x="285750" y="285750"/>
                </a:cubicBezTo>
                <a:cubicBezTo>
                  <a:pt x="285750" y="241942"/>
                  <a:pt x="321317" y="206375"/>
                  <a:pt x="365125" y="206375"/>
                </a:cubicBezTo>
                <a:close/>
                <a:moveTo>
                  <a:pt x="63500" y="246063"/>
                </a:moveTo>
                <a:cubicBezTo>
                  <a:pt x="63500" y="232866"/>
                  <a:pt x="74116" y="222250"/>
                  <a:pt x="87313" y="222250"/>
                </a:cubicBezTo>
                <a:lnTo>
                  <a:pt x="198438" y="222250"/>
                </a:lnTo>
                <a:cubicBezTo>
                  <a:pt x="211634" y="222250"/>
                  <a:pt x="222250" y="232866"/>
                  <a:pt x="222250" y="246063"/>
                </a:cubicBezTo>
                <a:cubicBezTo>
                  <a:pt x="222250" y="259259"/>
                  <a:pt x="211634" y="269875"/>
                  <a:pt x="198438" y="269875"/>
                </a:cubicBezTo>
                <a:lnTo>
                  <a:pt x="87313" y="269875"/>
                </a:lnTo>
                <a:cubicBezTo>
                  <a:pt x="74116" y="269875"/>
                  <a:pt x="63500" y="259259"/>
                  <a:pt x="63500" y="246063"/>
                </a:cubicBezTo>
                <a:close/>
                <a:moveTo>
                  <a:pt x="63500" y="341313"/>
                </a:moveTo>
                <a:cubicBezTo>
                  <a:pt x="63500" y="328116"/>
                  <a:pt x="74116" y="317500"/>
                  <a:pt x="87313" y="317500"/>
                </a:cubicBezTo>
                <a:lnTo>
                  <a:pt x="198438" y="317500"/>
                </a:lnTo>
                <a:cubicBezTo>
                  <a:pt x="211634" y="317500"/>
                  <a:pt x="222250" y="328116"/>
                  <a:pt x="222250" y="341313"/>
                </a:cubicBezTo>
                <a:cubicBezTo>
                  <a:pt x="222250" y="354509"/>
                  <a:pt x="211634" y="365125"/>
                  <a:pt x="198438" y="365125"/>
                </a:cubicBezTo>
                <a:lnTo>
                  <a:pt x="87313" y="365125"/>
                </a:lnTo>
                <a:cubicBezTo>
                  <a:pt x="74116" y="365125"/>
                  <a:pt x="63500" y="354509"/>
                  <a:pt x="63500" y="341313"/>
                </a:cubicBezTo>
                <a:close/>
              </a:path>
            </a:pathLst>
          </a:custGeom>
          <a:solidFill>
            <a:srgbClr val="2D8A4E"/>
          </a:solidFill>
          <a:ln/>
        </p:spPr>
      </p:sp>
      <p:sp>
        <p:nvSpPr>
          <p:cNvPr id="7" name="Text 4"/>
          <p:cNvSpPr/>
          <p:nvPr/>
        </p:nvSpPr>
        <p:spPr>
          <a:xfrm>
            <a:off x="1778000" y="1841500"/>
            <a:ext cx="5588000" cy="444500"/>
          </a:xfrm>
          <a:prstGeom prst="rect">
            <a:avLst/>
          </a:prstGeom>
          <a:noFill/>
          <a:ln/>
        </p:spPr>
        <p:txBody>
          <a:bodyPr wrap="none" lIns="0" tIns="0" rIns="0" bIns="0" rtlCol="0" anchor="ctr"/>
          <a:lstStyle/>
          <a:p>
            <a:pPr>
              <a:lnSpc>
                <a:spcPct val="100000"/>
              </a:lnSpc>
            </a:pPr>
            <a:r>
              <a:rPr lang="en-US" sz="2200" b="1" dirty="0">
                <a:solidFill>
                  <a:srgbClr val="2D8A4E"/>
                </a:solidFill>
                <a:latin typeface="Liter" pitchFamily="34" charset="0"/>
                <a:ea typeface="Liter" pitchFamily="34" charset="-122"/>
                <a:cs typeface="Liter" pitchFamily="34" charset="-120"/>
              </a:rPr>
              <a:t>Topic</a:t>
            </a:r>
            <a:endParaRPr lang="en-US" sz="1600" dirty="0"/>
          </a:p>
        </p:txBody>
      </p:sp>
      <p:sp>
        <p:nvSpPr>
          <p:cNvPr id="8" name="Text 5"/>
          <p:cNvSpPr/>
          <p:nvPr/>
        </p:nvSpPr>
        <p:spPr>
          <a:xfrm>
            <a:off x="1778000" y="2349500"/>
            <a:ext cx="5588000" cy="317500"/>
          </a:xfrm>
          <a:prstGeom prst="rect">
            <a:avLst/>
          </a:prstGeom>
          <a:noFill/>
          <a:ln/>
        </p:spPr>
        <p:txBody>
          <a:bodyPr wrap="none" lIns="0" tIns="0" rIns="0" bIns="0" rtlCol="0" anchor="ctr"/>
          <a:lstStyle/>
          <a:p>
            <a:pPr>
              <a:lnSpc>
                <a:spcPct val="100000"/>
              </a:lnSpc>
            </a:pPr>
            <a:r>
              <a:rPr lang="en-US" sz="1600" dirty="0">
                <a:solidFill>
                  <a:srgbClr val="6B7B8D"/>
                </a:solidFill>
                <a:latin typeface="Quattrocento Sans" pitchFamily="34" charset="0"/>
                <a:ea typeface="Quattrocento Sans" pitchFamily="34" charset="-122"/>
                <a:cs typeface="Quattrocento Sans" pitchFamily="34" charset="-120"/>
              </a:rPr>
              <a:t>Kontinuerlig data</a:t>
            </a:r>
            <a:endParaRPr lang="en-US" sz="1600" dirty="0"/>
          </a:p>
        </p:txBody>
      </p:sp>
      <p:sp>
        <p:nvSpPr>
          <p:cNvPr id="9" name="Text 6"/>
          <p:cNvSpPr/>
          <p:nvPr/>
        </p:nvSpPr>
        <p:spPr>
          <a:xfrm>
            <a:off x="1079500" y="2794000"/>
            <a:ext cx="6223000" cy="16510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Som en </a:t>
            </a:r>
            <a:r>
              <a:rPr lang="en-US" sz="1800" b="1" dirty="0">
                <a:solidFill>
                  <a:srgbClr val="1A2332"/>
                </a:solidFill>
                <a:latin typeface="Quattrocento Sans" pitchFamily="34" charset="0"/>
                <a:ea typeface="Quattrocento Sans" pitchFamily="34" charset="-122"/>
                <a:cs typeface="Quattrocento Sans" pitchFamily="34" charset="-120"/>
              </a:rPr>
              <a:t>radio</a:t>
            </a:r>
            <a:r>
              <a:rPr lang="en-US" sz="1800" dirty="0">
                <a:solidFill>
                  <a:srgbClr val="1A2332"/>
                </a:solidFill>
                <a:latin typeface="Quattrocento Sans" pitchFamily="34" charset="0"/>
                <a:ea typeface="Quattrocento Sans" pitchFamily="34" charset="-122"/>
                <a:cs typeface="Quattrocento Sans" pitchFamily="34" charset="-120"/>
              </a:rPr>
              <a:t> som sänder hela tiden</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Skickar data </a:t>
            </a:r>
            <a:r>
              <a:rPr lang="en-US" sz="1800" b="1" dirty="0">
                <a:solidFill>
                  <a:srgbClr val="1A2332"/>
                </a:solidFill>
                <a:latin typeface="Quattrocento Sans" pitchFamily="34" charset="0"/>
                <a:ea typeface="Quattrocento Sans" pitchFamily="34" charset="-122"/>
                <a:cs typeface="Quattrocento Sans" pitchFamily="34" charset="-120"/>
              </a:rPr>
              <a:t>kontinuerligt</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Exempel: hastighet skickas hela tiden</a:t>
            </a:r>
            <a:endParaRPr lang="en-US" sz="1600" dirty="0"/>
          </a:p>
        </p:txBody>
      </p:sp>
      <p:sp>
        <p:nvSpPr>
          <p:cNvPr id="10" name="Shape 7"/>
          <p:cNvSpPr/>
          <p:nvPr/>
        </p:nvSpPr>
        <p:spPr>
          <a:xfrm>
            <a:off x="8001000" y="1587500"/>
            <a:ext cx="7493000" cy="3048000"/>
          </a:xfrm>
          <a:prstGeom prst="roundRect">
            <a:avLst>
              <a:gd name="adj" fmla="val 8000"/>
            </a:avLst>
          </a:prstGeom>
          <a:solidFill>
            <a:srgbClr val="FFF8E8"/>
          </a:solidFill>
          <a:ln w="25400">
            <a:solidFill>
              <a:srgbClr val="D4A017"/>
            </a:solidFill>
            <a:prstDash val="solid"/>
          </a:ln>
        </p:spPr>
      </p:sp>
      <p:sp>
        <p:nvSpPr>
          <p:cNvPr id="11" name="Shape 8"/>
          <p:cNvSpPr/>
          <p:nvPr/>
        </p:nvSpPr>
        <p:spPr>
          <a:xfrm>
            <a:off x="8318500" y="1841500"/>
            <a:ext cx="508000" cy="508000"/>
          </a:xfrm>
          <a:custGeom>
            <a:avLst/>
            <a:gdLst/>
            <a:ahLst/>
            <a:cxnLst/>
            <a:rect l="l" t="t" r="r" b="b"/>
            <a:pathLst>
              <a:path w="508000" h="508000">
                <a:moveTo>
                  <a:pt x="214313" y="63500"/>
                </a:moveTo>
                <a:cubicBezTo>
                  <a:pt x="201116" y="63500"/>
                  <a:pt x="190500" y="74116"/>
                  <a:pt x="190500" y="87313"/>
                </a:cubicBezTo>
                <a:cubicBezTo>
                  <a:pt x="190500" y="100509"/>
                  <a:pt x="201116" y="111125"/>
                  <a:pt x="214313" y="111125"/>
                </a:cubicBezTo>
                <a:lnTo>
                  <a:pt x="230188" y="111125"/>
                </a:lnTo>
                <a:lnTo>
                  <a:pt x="230188" y="144165"/>
                </a:lnTo>
                <a:cubicBezTo>
                  <a:pt x="123825" y="155476"/>
                  <a:pt x="39886" y="241796"/>
                  <a:pt x="32345" y="349250"/>
                </a:cubicBezTo>
                <a:lnTo>
                  <a:pt x="475754" y="349250"/>
                </a:lnTo>
                <a:cubicBezTo>
                  <a:pt x="468114" y="241796"/>
                  <a:pt x="384175" y="155476"/>
                  <a:pt x="277813" y="144165"/>
                </a:cubicBezTo>
                <a:lnTo>
                  <a:pt x="277813" y="111125"/>
                </a:lnTo>
                <a:lnTo>
                  <a:pt x="293688" y="111125"/>
                </a:lnTo>
                <a:cubicBezTo>
                  <a:pt x="306884" y="111125"/>
                  <a:pt x="317500" y="100509"/>
                  <a:pt x="317500" y="87313"/>
                </a:cubicBezTo>
                <a:cubicBezTo>
                  <a:pt x="317500" y="74116"/>
                  <a:pt x="306884" y="63500"/>
                  <a:pt x="293688" y="63500"/>
                </a:cubicBezTo>
                <a:lnTo>
                  <a:pt x="214313" y="63500"/>
                </a:lnTo>
                <a:close/>
                <a:moveTo>
                  <a:pt x="23812" y="396875"/>
                </a:moveTo>
                <a:cubicBezTo>
                  <a:pt x="10616" y="396875"/>
                  <a:pt x="0" y="407491"/>
                  <a:pt x="0" y="420688"/>
                </a:cubicBezTo>
                <a:cubicBezTo>
                  <a:pt x="0" y="433884"/>
                  <a:pt x="10616" y="444500"/>
                  <a:pt x="23812" y="444500"/>
                </a:cubicBezTo>
                <a:lnTo>
                  <a:pt x="484187" y="444500"/>
                </a:lnTo>
                <a:cubicBezTo>
                  <a:pt x="497384" y="444500"/>
                  <a:pt x="508000" y="433884"/>
                  <a:pt x="508000" y="420688"/>
                </a:cubicBezTo>
                <a:cubicBezTo>
                  <a:pt x="508000" y="407491"/>
                  <a:pt x="497384" y="396875"/>
                  <a:pt x="484187" y="396875"/>
                </a:cubicBezTo>
                <a:lnTo>
                  <a:pt x="23812" y="396875"/>
                </a:lnTo>
                <a:close/>
              </a:path>
            </a:pathLst>
          </a:custGeom>
          <a:solidFill>
            <a:srgbClr val="D4A017"/>
          </a:solidFill>
          <a:ln/>
        </p:spPr>
      </p:sp>
      <p:sp>
        <p:nvSpPr>
          <p:cNvPr id="12" name="Text 9"/>
          <p:cNvSpPr/>
          <p:nvPr/>
        </p:nvSpPr>
        <p:spPr>
          <a:xfrm>
            <a:off x="9017000" y="1841500"/>
            <a:ext cx="6223000" cy="444500"/>
          </a:xfrm>
          <a:prstGeom prst="rect">
            <a:avLst/>
          </a:prstGeom>
          <a:noFill/>
          <a:ln/>
        </p:spPr>
        <p:txBody>
          <a:bodyPr wrap="none" lIns="0" tIns="0" rIns="0" bIns="0" rtlCol="0" anchor="ctr"/>
          <a:lstStyle/>
          <a:p>
            <a:pPr>
              <a:lnSpc>
                <a:spcPct val="100000"/>
              </a:lnSpc>
            </a:pPr>
            <a:r>
              <a:rPr lang="en-US" sz="2200" b="1" dirty="0">
                <a:solidFill>
                  <a:srgbClr val="D4A017"/>
                </a:solidFill>
                <a:latin typeface="Liter" pitchFamily="34" charset="0"/>
                <a:ea typeface="Liter" pitchFamily="34" charset="-122"/>
                <a:cs typeface="Liter" pitchFamily="34" charset="-120"/>
              </a:rPr>
              <a:t>Service</a:t>
            </a:r>
            <a:endParaRPr lang="en-US" sz="1600" dirty="0"/>
          </a:p>
        </p:txBody>
      </p:sp>
      <p:sp>
        <p:nvSpPr>
          <p:cNvPr id="13" name="Text 10"/>
          <p:cNvSpPr/>
          <p:nvPr/>
        </p:nvSpPr>
        <p:spPr>
          <a:xfrm>
            <a:off x="9017000" y="2349500"/>
            <a:ext cx="6223000" cy="317500"/>
          </a:xfrm>
          <a:prstGeom prst="rect">
            <a:avLst/>
          </a:prstGeom>
          <a:noFill/>
          <a:ln/>
        </p:spPr>
        <p:txBody>
          <a:bodyPr wrap="none" lIns="0" tIns="0" rIns="0" bIns="0" rtlCol="0" anchor="ctr"/>
          <a:lstStyle/>
          <a:p>
            <a:pPr>
              <a:lnSpc>
                <a:spcPct val="100000"/>
              </a:lnSpc>
            </a:pPr>
            <a:r>
              <a:rPr lang="en-US" sz="1600" dirty="0">
                <a:solidFill>
                  <a:srgbClr val="6B7B8D"/>
                </a:solidFill>
                <a:latin typeface="Quattrocento Sans" pitchFamily="34" charset="0"/>
                <a:ea typeface="Quattrocento Sans" pitchFamily="34" charset="-122"/>
                <a:cs typeface="Quattrocento Sans" pitchFamily="34" charset="-120"/>
              </a:rPr>
              <a:t>Fråga och svar</a:t>
            </a:r>
            <a:endParaRPr lang="en-US" sz="1600" dirty="0"/>
          </a:p>
        </p:txBody>
      </p:sp>
      <p:sp>
        <p:nvSpPr>
          <p:cNvPr id="14" name="Text 11"/>
          <p:cNvSpPr/>
          <p:nvPr/>
        </p:nvSpPr>
        <p:spPr>
          <a:xfrm>
            <a:off x="8318500" y="2794000"/>
            <a:ext cx="6858000" cy="16510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Som att </a:t>
            </a:r>
            <a:r>
              <a:rPr lang="en-US" sz="1800" b="1" dirty="0">
                <a:solidFill>
                  <a:srgbClr val="1A2332"/>
                </a:solidFill>
                <a:latin typeface="Quattrocento Sans" pitchFamily="34" charset="0"/>
                <a:ea typeface="Quattrocento Sans" pitchFamily="34" charset="-122"/>
                <a:cs typeface="Quattrocento Sans" pitchFamily="34" charset="-120"/>
              </a:rPr>
              <a:t>beställa mat</a:t>
            </a:r>
            <a:r>
              <a:rPr lang="en-US" sz="1800" dirty="0">
                <a:solidFill>
                  <a:srgbClr val="1A2332"/>
                </a:solidFill>
                <a:latin typeface="Quattrocento Sans" pitchFamily="34" charset="0"/>
                <a:ea typeface="Quattrocento Sans" pitchFamily="34" charset="-122"/>
                <a:cs typeface="Quattrocento Sans" pitchFamily="34" charset="-120"/>
              </a:rPr>
              <a:t> på restaurang</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En </a:t>
            </a:r>
            <a:r>
              <a:rPr lang="en-US" sz="1800" b="1" dirty="0">
                <a:solidFill>
                  <a:srgbClr val="1A2332"/>
                </a:solidFill>
                <a:latin typeface="Quattrocento Sans" pitchFamily="34" charset="0"/>
                <a:ea typeface="Quattrocento Sans" pitchFamily="34" charset="-122"/>
                <a:cs typeface="Quattrocento Sans" pitchFamily="34" charset="-120"/>
              </a:rPr>
              <a:t>enskild förfrågan</a:t>
            </a:r>
            <a:r>
              <a:rPr lang="en-US" sz="1800" dirty="0">
                <a:solidFill>
                  <a:srgbClr val="1A2332"/>
                </a:solidFill>
                <a:latin typeface="Quattrocento Sans" pitchFamily="34" charset="0"/>
                <a:ea typeface="Quattrocento Sans" pitchFamily="34" charset="-122"/>
                <a:cs typeface="Quattrocento Sans" pitchFamily="34" charset="-120"/>
              </a:rPr>
              <a:t> med svar</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Exempel: skapa ny sköldpadda</a:t>
            </a:r>
            <a:endParaRPr lang="en-US" sz="1600" dirty="0"/>
          </a:p>
        </p:txBody>
      </p:sp>
      <p:sp>
        <p:nvSpPr>
          <p:cNvPr id="15" name="Text 12"/>
          <p:cNvSpPr/>
          <p:nvPr/>
        </p:nvSpPr>
        <p:spPr>
          <a:xfrm>
            <a:off x="762000" y="5016500"/>
            <a:ext cx="5080000" cy="3810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SERVICE-EXEMPEL I TURTLESIM:</a:t>
            </a:r>
            <a:endParaRPr lang="en-US" sz="1600" dirty="0"/>
          </a:p>
        </p:txBody>
      </p:sp>
      <p:sp>
        <p:nvSpPr>
          <p:cNvPr id="16" name="Shape 13"/>
          <p:cNvSpPr/>
          <p:nvPr/>
        </p:nvSpPr>
        <p:spPr>
          <a:xfrm>
            <a:off x="762000" y="5524500"/>
            <a:ext cx="4699000" cy="1016000"/>
          </a:xfrm>
          <a:prstGeom prst="roundRect">
            <a:avLst>
              <a:gd name="adj" fmla="val 8000"/>
            </a:avLst>
          </a:prstGeom>
          <a:solidFill>
            <a:srgbClr val="FFFFFF"/>
          </a:solidFill>
          <a:ln w="12700">
            <a:solidFill>
              <a:srgbClr val="D0D5DD"/>
            </a:solidFill>
            <a:prstDash val="solid"/>
          </a:ln>
        </p:spPr>
      </p:sp>
      <p:sp>
        <p:nvSpPr>
          <p:cNvPr id="17" name="Shape 14"/>
          <p:cNvSpPr/>
          <p:nvPr/>
        </p:nvSpPr>
        <p:spPr>
          <a:xfrm>
            <a:off x="1041400" y="5778500"/>
            <a:ext cx="355600" cy="406400"/>
          </a:xfrm>
          <a:custGeom>
            <a:avLst/>
            <a:gdLst/>
            <a:ahLst/>
            <a:cxnLst/>
            <a:rect l="l" t="t" r="r" b="b"/>
            <a:pathLst>
              <a:path w="355600" h="406400">
                <a:moveTo>
                  <a:pt x="203200" y="50800"/>
                </a:moveTo>
                <a:cubicBezTo>
                  <a:pt x="203200" y="36751"/>
                  <a:pt x="191849" y="25400"/>
                  <a:pt x="177800" y="25400"/>
                </a:cubicBezTo>
                <a:cubicBezTo>
                  <a:pt x="163751" y="25400"/>
                  <a:pt x="152400" y="36751"/>
                  <a:pt x="152400" y="50800"/>
                </a:cubicBezTo>
                <a:lnTo>
                  <a:pt x="152400" y="177800"/>
                </a:lnTo>
                <a:lnTo>
                  <a:pt x="25400" y="177800"/>
                </a:lnTo>
                <a:cubicBezTo>
                  <a:pt x="11351" y="177800"/>
                  <a:pt x="0" y="189151"/>
                  <a:pt x="0" y="203200"/>
                </a:cubicBezTo>
                <a:cubicBezTo>
                  <a:pt x="0" y="217249"/>
                  <a:pt x="11351" y="228600"/>
                  <a:pt x="25400" y="228600"/>
                </a:cubicBezTo>
                <a:lnTo>
                  <a:pt x="152400" y="228600"/>
                </a:lnTo>
                <a:lnTo>
                  <a:pt x="152400" y="355600"/>
                </a:lnTo>
                <a:cubicBezTo>
                  <a:pt x="152400" y="369649"/>
                  <a:pt x="163751" y="381000"/>
                  <a:pt x="177800" y="381000"/>
                </a:cubicBezTo>
                <a:cubicBezTo>
                  <a:pt x="191849" y="381000"/>
                  <a:pt x="203200" y="369649"/>
                  <a:pt x="203200" y="355600"/>
                </a:cubicBezTo>
                <a:lnTo>
                  <a:pt x="203200" y="228600"/>
                </a:lnTo>
                <a:lnTo>
                  <a:pt x="330200" y="228600"/>
                </a:lnTo>
                <a:cubicBezTo>
                  <a:pt x="344249" y="228600"/>
                  <a:pt x="355600" y="217249"/>
                  <a:pt x="355600" y="203200"/>
                </a:cubicBezTo>
                <a:cubicBezTo>
                  <a:pt x="355600" y="189151"/>
                  <a:pt x="344249" y="177800"/>
                  <a:pt x="330200" y="177800"/>
                </a:cubicBezTo>
                <a:lnTo>
                  <a:pt x="203200" y="177800"/>
                </a:lnTo>
                <a:lnTo>
                  <a:pt x="203200" y="50800"/>
                </a:lnTo>
                <a:close/>
              </a:path>
            </a:pathLst>
          </a:custGeom>
          <a:solidFill>
            <a:srgbClr val="D4A017"/>
          </a:solidFill>
          <a:ln/>
        </p:spPr>
      </p:sp>
      <p:sp>
        <p:nvSpPr>
          <p:cNvPr id="18" name="Text 15"/>
          <p:cNvSpPr/>
          <p:nvPr/>
        </p:nvSpPr>
        <p:spPr>
          <a:xfrm>
            <a:off x="1587500" y="5651500"/>
            <a:ext cx="3619500" cy="762000"/>
          </a:xfrm>
          <a:prstGeom prst="rect">
            <a:avLst/>
          </a:prstGeom>
          <a:noFill/>
          <a:ln/>
        </p:spPr>
        <p:txBody>
          <a:bodyPr wrap="square" lIns="0" tIns="0" rIns="0" bIns="0" rtlCol="0" anchor="ctr"/>
          <a:lstStyle/>
          <a:p>
            <a:pPr>
              <a:lnSpc>
                <a:spcPct val="140000"/>
              </a:lnSpc>
            </a:pPr>
            <a:r>
              <a:rPr lang="en-US" sz="1600" b="1" dirty="0">
                <a:solidFill>
                  <a:srgbClr val="1A2332"/>
                </a:solidFill>
                <a:latin typeface="Quattrocento Sans" pitchFamily="34" charset="0"/>
                <a:ea typeface="Quattrocento Sans" pitchFamily="34" charset="-122"/>
                <a:cs typeface="Quattrocento Sans" pitchFamily="34" charset="-120"/>
              </a:rPr>
              <a:t>Skapa ny sköldpadda</a:t>
            </a:r>
            <a:endParaRPr lang="en-US" sz="1600" dirty="0"/>
          </a:p>
          <a:p>
            <a:pPr>
              <a:lnSpc>
                <a:spcPct val="140000"/>
              </a:lnSpc>
            </a:pPr>
            <a:r>
              <a:rPr lang="en-US" sz="1400" dirty="0">
                <a:solidFill>
                  <a:srgbClr val="6B7B8D"/>
                </a:solidFill>
                <a:latin typeface="Quattrocento Sans" pitchFamily="34" charset="0"/>
                <a:ea typeface="Quattrocento Sans" pitchFamily="34" charset="-122"/>
                <a:cs typeface="Quattrocento Sans" pitchFamily="34" charset="-120"/>
              </a:rPr>
              <a:t>/spawn</a:t>
            </a:r>
            <a:endParaRPr lang="en-US" sz="1600" dirty="0"/>
          </a:p>
        </p:txBody>
      </p:sp>
      <p:sp>
        <p:nvSpPr>
          <p:cNvPr id="19" name="Shape 16"/>
          <p:cNvSpPr/>
          <p:nvPr/>
        </p:nvSpPr>
        <p:spPr>
          <a:xfrm>
            <a:off x="5778500" y="5524500"/>
            <a:ext cx="4699000" cy="1016000"/>
          </a:xfrm>
          <a:prstGeom prst="roundRect">
            <a:avLst>
              <a:gd name="adj" fmla="val 8000"/>
            </a:avLst>
          </a:prstGeom>
          <a:solidFill>
            <a:srgbClr val="FFFFFF"/>
          </a:solidFill>
          <a:ln w="12700">
            <a:solidFill>
              <a:srgbClr val="D0D5DD"/>
            </a:solidFill>
            <a:prstDash val="solid"/>
          </a:ln>
        </p:spPr>
      </p:sp>
      <p:sp>
        <p:nvSpPr>
          <p:cNvPr id="20" name="Shape 17"/>
          <p:cNvSpPr/>
          <p:nvPr/>
        </p:nvSpPr>
        <p:spPr>
          <a:xfrm>
            <a:off x="6007100" y="5778500"/>
            <a:ext cx="457200" cy="406400"/>
          </a:xfrm>
          <a:custGeom>
            <a:avLst/>
            <a:gdLst/>
            <a:ahLst/>
            <a:cxnLst/>
            <a:rect l="l" t="t" r="r" b="b"/>
            <a:pathLst>
              <a:path w="457200" h="406400">
                <a:moveTo>
                  <a:pt x="141684" y="330200"/>
                </a:moveTo>
                <a:lnTo>
                  <a:pt x="239316" y="330200"/>
                </a:lnTo>
                <a:lnTo>
                  <a:pt x="291148" y="278368"/>
                </a:lnTo>
                <a:lnTo>
                  <a:pt x="153432" y="140652"/>
                </a:lnTo>
                <a:lnTo>
                  <a:pt x="52864" y="241221"/>
                </a:lnTo>
                <a:lnTo>
                  <a:pt x="141764" y="330121"/>
                </a:lnTo>
                <a:close/>
                <a:moveTo>
                  <a:pt x="177800" y="381000"/>
                </a:moveTo>
                <a:lnTo>
                  <a:pt x="141684" y="381000"/>
                </a:lnTo>
                <a:cubicBezTo>
                  <a:pt x="128191" y="381000"/>
                  <a:pt x="115253" y="375682"/>
                  <a:pt x="105727" y="366157"/>
                </a:cubicBezTo>
                <a:lnTo>
                  <a:pt x="13494" y="273844"/>
                </a:lnTo>
                <a:cubicBezTo>
                  <a:pt x="4842" y="265192"/>
                  <a:pt x="0" y="253524"/>
                  <a:pt x="0" y="241300"/>
                </a:cubicBezTo>
                <a:cubicBezTo>
                  <a:pt x="0" y="229076"/>
                  <a:pt x="4842" y="217408"/>
                  <a:pt x="13494" y="208756"/>
                </a:cubicBezTo>
                <a:lnTo>
                  <a:pt x="208756" y="13494"/>
                </a:lnTo>
                <a:cubicBezTo>
                  <a:pt x="217408" y="4842"/>
                  <a:pt x="229076" y="0"/>
                  <a:pt x="241300" y="0"/>
                </a:cubicBezTo>
                <a:cubicBezTo>
                  <a:pt x="253524" y="0"/>
                  <a:pt x="265192" y="4842"/>
                  <a:pt x="273844" y="13494"/>
                </a:cubicBezTo>
                <a:lnTo>
                  <a:pt x="418306" y="157956"/>
                </a:lnTo>
                <a:cubicBezTo>
                  <a:pt x="426958" y="166608"/>
                  <a:pt x="431800" y="178276"/>
                  <a:pt x="431800" y="190500"/>
                </a:cubicBezTo>
                <a:cubicBezTo>
                  <a:pt x="431800" y="202724"/>
                  <a:pt x="426958" y="214392"/>
                  <a:pt x="418306" y="223044"/>
                </a:cubicBezTo>
                <a:lnTo>
                  <a:pt x="311150" y="330200"/>
                </a:lnTo>
                <a:lnTo>
                  <a:pt x="406400" y="330200"/>
                </a:lnTo>
                <a:cubicBezTo>
                  <a:pt x="420449" y="330200"/>
                  <a:pt x="431800" y="341551"/>
                  <a:pt x="431800" y="355600"/>
                </a:cubicBezTo>
                <a:cubicBezTo>
                  <a:pt x="431800" y="369649"/>
                  <a:pt x="420449" y="381000"/>
                  <a:pt x="406400" y="381000"/>
                </a:cubicBezTo>
                <a:lnTo>
                  <a:pt x="177800" y="381000"/>
                </a:lnTo>
                <a:close/>
              </a:path>
            </a:pathLst>
          </a:custGeom>
          <a:solidFill>
            <a:srgbClr val="D4A017"/>
          </a:solidFill>
          <a:ln/>
        </p:spPr>
      </p:sp>
      <p:sp>
        <p:nvSpPr>
          <p:cNvPr id="21" name="Text 18"/>
          <p:cNvSpPr/>
          <p:nvPr/>
        </p:nvSpPr>
        <p:spPr>
          <a:xfrm>
            <a:off x="6604000" y="5651500"/>
            <a:ext cx="3619500" cy="762000"/>
          </a:xfrm>
          <a:prstGeom prst="rect">
            <a:avLst/>
          </a:prstGeom>
          <a:noFill/>
          <a:ln/>
        </p:spPr>
        <p:txBody>
          <a:bodyPr wrap="square" lIns="0" tIns="0" rIns="0" bIns="0" rtlCol="0" anchor="ctr"/>
          <a:lstStyle/>
          <a:p>
            <a:pPr>
              <a:lnSpc>
                <a:spcPct val="140000"/>
              </a:lnSpc>
            </a:pPr>
            <a:r>
              <a:rPr lang="en-US" sz="1600" b="1" dirty="0">
                <a:solidFill>
                  <a:srgbClr val="1A2332"/>
                </a:solidFill>
                <a:latin typeface="Quattrocento Sans" pitchFamily="34" charset="0"/>
                <a:ea typeface="Quattrocento Sans" pitchFamily="34" charset="-122"/>
                <a:cs typeface="Quattrocento Sans" pitchFamily="34" charset="-120"/>
              </a:rPr>
              <a:t>Rensa skärmen</a:t>
            </a:r>
            <a:endParaRPr lang="en-US" sz="1600" dirty="0"/>
          </a:p>
          <a:p>
            <a:pPr>
              <a:lnSpc>
                <a:spcPct val="140000"/>
              </a:lnSpc>
            </a:pPr>
            <a:r>
              <a:rPr lang="en-US" sz="1400" dirty="0">
                <a:solidFill>
                  <a:srgbClr val="6B7B8D"/>
                </a:solidFill>
                <a:latin typeface="Quattrocento Sans" pitchFamily="34" charset="0"/>
                <a:ea typeface="Quattrocento Sans" pitchFamily="34" charset="-122"/>
                <a:cs typeface="Quattrocento Sans" pitchFamily="34" charset="-120"/>
              </a:rPr>
              <a:t>/clear</a:t>
            </a:r>
            <a:endParaRPr lang="en-US" sz="1600" dirty="0"/>
          </a:p>
        </p:txBody>
      </p:sp>
      <p:sp>
        <p:nvSpPr>
          <p:cNvPr id="22" name="Shape 19"/>
          <p:cNvSpPr/>
          <p:nvPr/>
        </p:nvSpPr>
        <p:spPr>
          <a:xfrm>
            <a:off x="10795000" y="5524500"/>
            <a:ext cx="4699000" cy="1016000"/>
          </a:xfrm>
          <a:prstGeom prst="roundRect">
            <a:avLst>
              <a:gd name="adj" fmla="val 8000"/>
            </a:avLst>
          </a:prstGeom>
          <a:solidFill>
            <a:srgbClr val="FFFFFF"/>
          </a:solidFill>
          <a:ln w="12700">
            <a:solidFill>
              <a:srgbClr val="D0D5DD"/>
            </a:solidFill>
            <a:prstDash val="solid"/>
          </a:ln>
        </p:spPr>
      </p:sp>
      <p:sp>
        <p:nvSpPr>
          <p:cNvPr id="23" name="Shape 20"/>
          <p:cNvSpPr/>
          <p:nvPr/>
        </p:nvSpPr>
        <p:spPr>
          <a:xfrm>
            <a:off x="11049000" y="5778500"/>
            <a:ext cx="406400" cy="406400"/>
          </a:xfrm>
          <a:custGeom>
            <a:avLst/>
            <a:gdLst/>
            <a:ahLst/>
            <a:cxnLst/>
            <a:rect l="l" t="t" r="r" b="b"/>
            <a:pathLst>
              <a:path w="406400" h="406400">
                <a:moveTo>
                  <a:pt x="406400" y="203200"/>
                </a:moveTo>
                <a:cubicBezTo>
                  <a:pt x="406400" y="203914"/>
                  <a:pt x="406400" y="204629"/>
                  <a:pt x="406400" y="205343"/>
                </a:cubicBezTo>
                <a:cubicBezTo>
                  <a:pt x="406083" y="234315"/>
                  <a:pt x="379730" y="254000"/>
                  <a:pt x="350758" y="254000"/>
                </a:cubicBezTo>
                <a:lnTo>
                  <a:pt x="273050" y="254000"/>
                </a:lnTo>
                <a:cubicBezTo>
                  <a:pt x="252016" y="254000"/>
                  <a:pt x="234950" y="271066"/>
                  <a:pt x="234950" y="292100"/>
                </a:cubicBezTo>
                <a:cubicBezTo>
                  <a:pt x="234950" y="294799"/>
                  <a:pt x="235267" y="297418"/>
                  <a:pt x="235744" y="299958"/>
                </a:cubicBezTo>
                <a:cubicBezTo>
                  <a:pt x="237411" y="308054"/>
                  <a:pt x="240903" y="315833"/>
                  <a:pt x="244316" y="323691"/>
                </a:cubicBezTo>
                <a:cubicBezTo>
                  <a:pt x="249158" y="334645"/>
                  <a:pt x="253921" y="345519"/>
                  <a:pt x="253921" y="357029"/>
                </a:cubicBezTo>
                <a:cubicBezTo>
                  <a:pt x="253921" y="382270"/>
                  <a:pt x="236776" y="405209"/>
                  <a:pt x="211534" y="406241"/>
                </a:cubicBezTo>
                <a:cubicBezTo>
                  <a:pt x="208756" y="406321"/>
                  <a:pt x="205978" y="406400"/>
                  <a:pt x="203121" y="406400"/>
                </a:cubicBezTo>
                <a:cubicBezTo>
                  <a:pt x="90884" y="406400"/>
                  <a:pt x="-79" y="315436"/>
                  <a:pt x="-79" y="203200"/>
                </a:cubicBezTo>
                <a:cubicBezTo>
                  <a:pt x="-79" y="90964"/>
                  <a:pt x="90964" y="0"/>
                  <a:pt x="203200" y="0"/>
                </a:cubicBezTo>
                <a:cubicBezTo>
                  <a:pt x="315436" y="0"/>
                  <a:pt x="406400" y="90964"/>
                  <a:pt x="406400" y="203200"/>
                </a:cubicBezTo>
                <a:close/>
                <a:moveTo>
                  <a:pt x="101600" y="228600"/>
                </a:moveTo>
                <a:cubicBezTo>
                  <a:pt x="101600" y="214581"/>
                  <a:pt x="90219" y="203200"/>
                  <a:pt x="76200" y="203200"/>
                </a:cubicBezTo>
                <a:cubicBezTo>
                  <a:pt x="62181" y="203200"/>
                  <a:pt x="50800" y="214581"/>
                  <a:pt x="50800" y="228600"/>
                </a:cubicBezTo>
                <a:cubicBezTo>
                  <a:pt x="50800" y="242619"/>
                  <a:pt x="62181" y="254000"/>
                  <a:pt x="76200" y="254000"/>
                </a:cubicBezTo>
                <a:cubicBezTo>
                  <a:pt x="90219" y="254000"/>
                  <a:pt x="101600" y="242619"/>
                  <a:pt x="101600" y="228600"/>
                </a:cubicBezTo>
                <a:close/>
                <a:moveTo>
                  <a:pt x="101600" y="152400"/>
                </a:moveTo>
                <a:cubicBezTo>
                  <a:pt x="115619" y="152400"/>
                  <a:pt x="127000" y="141019"/>
                  <a:pt x="127000" y="127000"/>
                </a:cubicBezTo>
                <a:cubicBezTo>
                  <a:pt x="127000" y="112981"/>
                  <a:pt x="115619" y="101600"/>
                  <a:pt x="101600" y="101600"/>
                </a:cubicBezTo>
                <a:cubicBezTo>
                  <a:pt x="87581" y="101600"/>
                  <a:pt x="76200" y="112981"/>
                  <a:pt x="76200" y="127000"/>
                </a:cubicBezTo>
                <a:cubicBezTo>
                  <a:pt x="76200" y="141019"/>
                  <a:pt x="87581" y="152400"/>
                  <a:pt x="101600" y="152400"/>
                </a:cubicBezTo>
                <a:close/>
                <a:moveTo>
                  <a:pt x="228600" y="76200"/>
                </a:moveTo>
                <a:cubicBezTo>
                  <a:pt x="228600" y="62181"/>
                  <a:pt x="217219" y="50800"/>
                  <a:pt x="203200" y="50800"/>
                </a:cubicBezTo>
                <a:cubicBezTo>
                  <a:pt x="189181" y="50800"/>
                  <a:pt x="177800" y="62181"/>
                  <a:pt x="177800" y="76200"/>
                </a:cubicBezTo>
                <a:cubicBezTo>
                  <a:pt x="177800" y="90219"/>
                  <a:pt x="189181" y="101600"/>
                  <a:pt x="203200" y="101600"/>
                </a:cubicBezTo>
                <a:cubicBezTo>
                  <a:pt x="217219" y="101600"/>
                  <a:pt x="228600" y="90219"/>
                  <a:pt x="228600" y="76200"/>
                </a:cubicBezTo>
                <a:close/>
                <a:moveTo>
                  <a:pt x="304800" y="152400"/>
                </a:moveTo>
                <a:cubicBezTo>
                  <a:pt x="318819" y="152400"/>
                  <a:pt x="330200" y="141019"/>
                  <a:pt x="330200" y="127000"/>
                </a:cubicBezTo>
                <a:cubicBezTo>
                  <a:pt x="330200" y="112981"/>
                  <a:pt x="318819" y="101600"/>
                  <a:pt x="304800" y="101600"/>
                </a:cubicBezTo>
                <a:cubicBezTo>
                  <a:pt x="290781" y="101600"/>
                  <a:pt x="279400" y="112981"/>
                  <a:pt x="279400" y="127000"/>
                </a:cubicBezTo>
                <a:cubicBezTo>
                  <a:pt x="279400" y="141019"/>
                  <a:pt x="290781" y="152400"/>
                  <a:pt x="304800" y="152400"/>
                </a:cubicBezTo>
                <a:close/>
              </a:path>
            </a:pathLst>
          </a:custGeom>
          <a:solidFill>
            <a:srgbClr val="D4A017"/>
          </a:solidFill>
          <a:ln/>
        </p:spPr>
      </p:sp>
      <p:sp>
        <p:nvSpPr>
          <p:cNvPr id="24" name="Text 21"/>
          <p:cNvSpPr/>
          <p:nvPr/>
        </p:nvSpPr>
        <p:spPr>
          <a:xfrm>
            <a:off x="11620500" y="5651500"/>
            <a:ext cx="3619500" cy="762000"/>
          </a:xfrm>
          <a:prstGeom prst="rect">
            <a:avLst/>
          </a:prstGeom>
          <a:noFill/>
          <a:ln/>
        </p:spPr>
        <p:txBody>
          <a:bodyPr wrap="square" lIns="0" tIns="0" rIns="0" bIns="0" rtlCol="0" anchor="ctr"/>
          <a:lstStyle/>
          <a:p>
            <a:pPr>
              <a:lnSpc>
                <a:spcPct val="140000"/>
              </a:lnSpc>
            </a:pPr>
            <a:r>
              <a:rPr lang="en-US" sz="1600" b="1" dirty="0">
                <a:solidFill>
                  <a:srgbClr val="1A2332"/>
                </a:solidFill>
                <a:latin typeface="Quattrocento Sans" pitchFamily="34" charset="0"/>
                <a:ea typeface="Quattrocento Sans" pitchFamily="34" charset="-122"/>
                <a:cs typeface="Quattrocento Sans" pitchFamily="34" charset="-120"/>
              </a:rPr>
              <a:t>Ändra bakgrundsfärg</a:t>
            </a:r>
            <a:endParaRPr lang="en-US" sz="1600" dirty="0"/>
          </a:p>
          <a:p>
            <a:pPr>
              <a:lnSpc>
                <a:spcPct val="140000"/>
              </a:lnSpc>
            </a:pPr>
            <a:r>
              <a:rPr lang="en-US" sz="1400" dirty="0">
                <a:solidFill>
                  <a:srgbClr val="6B7B8D"/>
                </a:solidFill>
                <a:latin typeface="Quattrocento Sans" pitchFamily="34" charset="0"/>
                <a:ea typeface="Quattrocento Sans" pitchFamily="34" charset="-122"/>
                <a:cs typeface="Quattrocento Sans" pitchFamily="34" charset="-120"/>
              </a:rPr>
              <a:t>/set_pen</a:t>
            </a:r>
            <a:endParaRPr lang="en-US" sz="1600" dirty="0"/>
          </a:p>
        </p:txBody>
      </p:sp>
      <p:pic>
        <p:nvPicPr>
          <p:cNvPr id="25"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6" name="Text 22"/>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13</a:t>
            </a:r>
            <a:endParaRPr lang="en-US" sz="1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launch?</a:t>
            </a:r>
            <a:endParaRPr lang="en-US" sz="2800" dirty="0"/>
          </a:p>
        </p:txBody>
      </p:sp>
      <p:sp>
        <p:nvSpPr>
          <p:cNvPr id="5" name="Shape 2"/>
          <p:cNvSpPr/>
          <p:nvPr/>
        </p:nvSpPr>
        <p:spPr>
          <a:xfrm>
            <a:off x="762000" y="1524000"/>
            <a:ext cx="14732000" cy="1016000"/>
          </a:xfrm>
          <a:prstGeom prst="roundRect">
            <a:avLst>
              <a:gd name="adj" fmla="val 8000"/>
            </a:avLst>
          </a:prstGeom>
          <a:solidFill>
            <a:srgbClr val="0F2B46"/>
          </a:solidFill>
          <a:ln/>
        </p:spPr>
      </p:sp>
      <p:sp>
        <p:nvSpPr>
          <p:cNvPr id="6" name="Text 3"/>
          <p:cNvSpPr/>
          <p:nvPr/>
        </p:nvSpPr>
        <p:spPr>
          <a:xfrm>
            <a:off x="1270000" y="1651000"/>
            <a:ext cx="13716000" cy="762000"/>
          </a:xfrm>
          <a:prstGeom prst="rect">
            <a:avLst/>
          </a:prstGeom>
          <a:noFill/>
          <a:ln/>
        </p:spPr>
        <p:txBody>
          <a:bodyPr wrap="square" lIns="0" tIns="0" rIns="0" bIns="0" rtlCol="0" anchor="ctr"/>
          <a:lstStyle/>
          <a:p>
            <a:pPr algn="ctr">
              <a:lnSpc>
                <a:spcPct val="140000"/>
              </a:lnSpc>
            </a:pPr>
            <a:r>
              <a:rPr lang="en-US" sz="2200" b="1" dirty="0">
                <a:solidFill>
                  <a:srgbClr val="FFFFFF"/>
                </a:solidFill>
                <a:latin typeface="Quattrocento Sans" pitchFamily="34" charset="0"/>
                <a:ea typeface="Quattrocento Sans" pitchFamily="34" charset="-122"/>
                <a:cs typeface="Quattrocento Sans" pitchFamily="34" charset="-120"/>
              </a:rPr>
              <a:t>Launch</a:t>
            </a:r>
            <a:r>
              <a:rPr lang="en-US" sz="2200" dirty="0">
                <a:solidFill>
                  <a:srgbClr val="FFFFFF"/>
                </a:solidFill>
                <a:latin typeface="Quattrocento Sans" pitchFamily="34" charset="0"/>
                <a:ea typeface="Quattrocento Sans" pitchFamily="34" charset="-122"/>
                <a:cs typeface="Quattrocento Sans" pitchFamily="34" charset="-120"/>
              </a:rPr>
              <a:t> används för att starta flera noder </a:t>
            </a:r>
            <a:r>
              <a:rPr lang="en-US" sz="2200" b="1" dirty="0">
                <a:solidFill>
                  <a:srgbClr val="FFFFFF"/>
                </a:solidFill>
                <a:latin typeface="Quattrocento Sans" pitchFamily="34" charset="0"/>
                <a:ea typeface="Quattrocento Sans" pitchFamily="34" charset="-122"/>
                <a:cs typeface="Quattrocento Sans" pitchFamily="34" charset="-120"/>
              </a:rPr>
              <a:t>samtidigt</a:t>
            </a:r>
            <a:endParaRPr lang="en-US" sz="1600" dirty="0"/>
          </a:p>
        </p:txBody>
      </p:sp>
      <p:sp>
        <p:nvSpPr>
          <p:cNvPr id="7" name="Shape 4"/>
          <p:cNvSpPr/>
          <p:nvPr/>
        </p:nvSpPr>
        <p:spPr>
          <a:xfrm>
            <a:off x="762000" y="2921000"/>
            <a:ext cx="6858000" cy="2540000"/>
          </a:xfrm>
          <a:prstGeom prst="roundRect">
            <a:avLst>
              <a:gd name="adj" fmla="val 8000"/>
            </a:avLst>
          </a:prstGeom>
          <a:solidFill>
            <a:srgbClr val="FFFFFF"/>
          </a:solidFill>
          <a:ln w="12700">
            <a:solidFill>
              <a:srgbClr val="D0D5DD"/>
            </a:solidFill>
            <a:prstDash val="solid"/>
          </a:ln>
        </p:spPr>
      </p:sp>
      <p:sp>
        <p:nvSpPr>
          <p:cNvPr id="8" name="Text 5"/>
          <p:cNvSpPr/>
          <p:nvPr/>
        </p:nvSpPr>
        <p:spPr>
          <a:xfrm>
            <a:off x="1079500" y="3111500"/>
            <a:ext cx="6223000" cy="317500"/>
          </a:xfrm>
          <a:prstGeom prst="rect">
            <a:avLst/>
          </a:prstGeom>
          <a:noFill/>
          <a:ln/>
        </p:spPr>
        <p:txBody>
          <a:bodyPr wrap="none" lIns="0" tIns="0" rIns="0" bIns="0" rtlCol="0" anchor="ctr"/>
          <a:lstStyle/>
          <a:p>
            <a:pPr>
              <a:lnSpc>
                <a:spcPct val="100000"/>
              </a:lnSpc>
            </a:pPr>
            <a:r>
              <a:rPr lang="en-US" sz="1600" b="1" kern="0" spc="100" dirty="0">
                <a:solidFill>
                  <a:srgbClr val="6B7B8D"/>
                </a:solidFill>
                <a:latin typeface="Liter" pitchFamily="34" charset="0"/>
                <a:ea typeface="Liter" pitchFamily="34" charset="-122"/>
                <a:cs typeface="Liter" pitchFamily="34" charset="-120"/>
              </a:rPr>
              <a:t>MANUELL START</a:t>
            </a:r>
            <a:endParaRPr lang="en-US" sz="1600" dirty="0"/>
          </a:p>
        </p:txBody>
      </p:sp>
      <p:sp>
        <p:nvSpPr>
          <p:cNvPr id="9" name="Text 6"/>
          <p:cNvSpPr/>
          <p:nvPr/>
        </p:nvSpPr>
        <p:spPr>
          <a:xfrm>
            <a:off x="1079500" y="3556000"/>
            <a:ext cx="6223000" cy="18415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Öppna terminal 1 → starta turtlesim</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Öppna terminal 2 → starta teleop</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Öppna terminal 3 → starta kamera</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...och så vidare för varje node</a:t>
            </a:r>
            <a:endParaRPr lang="en-US" sz="1600" dirty="0"/>
          </a:p>
        </p:txBody>
      </p:sp>
      <p:sp>
        <p:nvSpPr>
          <p:cNvPr id="10" name="Shape 7"/>
          <p:cNvSpPr/>
          <p:nvPr/>
        </p:nvSpPr>
        <p:spPr>
          <a:xfrm>
            <a:off x="7747000" y="4064000"/>
            <a:ext cx="762000" cy="0"/>
          </a:xfrm>
          <a:prstGeom prst="straightConnector1">
            <a:avLst/>
          </a:prstGeom>
          <a:noFill/>
          <a:ln w="38100">
            <a:solidFill>
              <a:srgbClr val="D81B2E"/>
            </a:solidFill>
            <a:prstDash val="solid"/>
            <a:headEnd type="none"/>
            <a:tailEnd type="arrow"/>
          </a:ln>
        </p:spPr>
      </p:sp>
      <p:sp>
        <p:nvSpPr>
          <p:cNvPr id="11" name="Shape 8"/>
          <p:cNvSpPr/>
          <p:nvPr/>
        </p:nvSpPr>
        <p:spPr>
          <a:xfrm>
            <a:off x="8636000" y="2921000"/>
            <a:ext cx="6858000" cy="2540000"/>
          </a:xfrm>
          <a:prstGeom prst="roundRect">
            <a:avLst>
              <a:gd name="adj" fmla="val 8000"/>
            </a:avLst>
          </a:prstGeom>
          <a:solidFill>
            <a:srgbClr val="E8F5EE"/>
          </a:solidFill>
          <a:ln w="25400">
            <a:solidFill>
              <a:srgbClr val="2D8A4E"/>
            </a:solidFill>
            <a:prstDash val="solid"/>
          </a:ln>
        </p:spPr>
      </p:sp>
      <p:sp>
        <p:nvSpPr>
          <p:cNvPr id="12" name="Text 9"/>
          <p:cNvSpPr/>
          <p:nvPr/>
        </p:nvSpPr>
        <p:spPr>
          <a:xfrm>
            <a:off x="8953500" y="3111500"/>
            <a:ext cx="6223000" cy="317500"/>
          </a:xfrm>
          <a:prstGeom prst="rect">
            <a:avLst/>
          </a:prstGeom>
          <a:noFill/>
          <a:ln/>
        </p:spPr>
        <p:txBody>
          <a:bodyPr wrap="none" lIns="0" tIns="0" rIns="0" bIns="0" rtlCol="0" anchor="ctr"/>
          <a:lstStyle/>
          <a:p>
            <a:pPr>
              <a:lnSpc>
                <a:spcPct val="100000"/>
              </a:lnSpc>
            </a:pPr>
            <a:r>
              <a:rPr lang="en-US" sz="1600" b="1" kern="0" spc="100" dirty="0">
                <a:solidFill>
                  <a:srgbClr val="2D8A4E"/>
                </a:solidFill>
                <a:latin typeface="Liter" pitchFamily="34" charset="0"/>
                <a:ea typeface="Liter" pitchFamily="34" charset="-122"/>
                <a:cs typeface="Liter" pitchFamily="34" charset="-120"/>
              </a:rPr>
              <a:t>LAUNCH-FIL</a:t>
            </a:r>
            <a:endParaRPr lang="en-US" sz="1600" dirty="0"/>
          </a:p>
        </p:txBody>
      </p:sp>
      <p:sp>
        <p:nvSpPr>
          <p:cNvPr id="13" name="Text 10"/>
          <p:cNvSpPr/>
          <p:nvPr/>
        </p:nvSpPr>
        <p:spPr>
          <a:xfrm>
            <a:off x="8953500" y="3556000"/>
            <a:ext cx="6223000" cy="1841500"/>
          </a:xfrm>
          <a:prstGeom prst="rect">
            <a:avLst/>
          </a:prstGeom>
          <a:noFill/>
          <a:ln/>
        </p:spPr>
        <p:txBody>
          <a:bodyPr wrap="square" lIns="0" tIns="0" rIns="0" bIns="0" rtlCol="0" anchor="t"/>
          <a:lstStyle/>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En fil som listar alla noder</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Kör </a:t>
            </a:r>
            <a:r>
              <a:rPr lang="en-US" sz="1800" b="1" dirty="0">
                <a:solidFill>
                  <a:srgbClr val="1A2332"/>
                </a:solidFill>
                <a:latin typeface="Quattrocento Sans" pitchFamily="34" charset="0"/>
                <a:ea typeface="Quattrocento Sans" pitchFamily="34" charset="-122"/>
                <a:cs typeface="Quattrocento Sans" pitchFamily="34" charset="-120"/>
              </a:rPr>
              <a:t>en</a:t>
            </a:r>
            <a:r>
              <a:rPr lang="en-US" sz="1800" dirty="0">
                <a:solidFill>
                  <a:srgbClr val="1A2332"/>
                </a:solidFill>
                <a:latin typeface="Quattrocento Sans" pitchFamily="34" charset="0"/>
                <a:ea typeface="Quattrocento Sans" pitchFamily="34" charset="-122"/>
                <a:cs typeface="Quattrocento Sans" pitchFamily="34" charset="-120"/>
              </a:rPr>
              <a:t> kommando</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Alla noder startar automatiskt</a:t>
            </a:r>
            <a:endParaRPr lang="en-US" sz="1600" dirty="0"/>
          </a:p>
          <a:p>
            <a:pPr>
              <a:lnSpc>
                <a:spcPct val="160000"/>
              </a:lnSpc>
            </a:pPr>
            <a:r>
              <a:rPr lang="en-US" sz="1800" dirty="0">
                <a:solidFill>
                  <a:srgbClr val="1A2332"/>
                </a:solidFill>
                <a:latin typeface="Quattrocento Sans" pitchFamily="34" charset="0"/>
                <a:ea typeface="Quattrocento Sans" pitchFamily="34" charset="-122"/>
                <a:cs typeface="Quattrocento Sans" pitchFamily="34" charset="-120"/>
              </a:rPr>
              <a:t>• Smidigt och reproducerbart</a:t>
            </a:r>
            <a:endParaRPr lang="en-US" sz="1600" dirty="0"/>
          </a:p>
        </p:txBody>
      </p:sp>
      <p:sp>
        <p:nvSpPr>
          <p:cNvPr id="14" name="Shape 11"/>
          <p:cNvSpPr/>
          <p:nvPr/>
        </p:nvSpPr>
        <p:spPr>
          <a:xfrm>
            <a:off x="762000" y="5969000"/>
            <a:ext cx="14732000" cy="1016000"/>
          </a:xfrm>
          <a:prstGeom prst="roundRect">
            <a:avLst>
              <a:gd name="adj" fmla="val 8000"/>
            </a:avLst>
          </a:prstGeom>
          <a:solidFill>
            <a:srgbClr val="E8EBF0"/>
          </a:solidFill>
          <a:ln w="12700">
            <a:solidFill>
              <a:srgbClr val="D0D5DD"/>
            </a:solidFill>
            <a:prstDash val="solid"/>
          </a:ln>
        </p:spPr>
      </p:sp>
      <p:sp>
        <p:nvSpPr>
          <p:cNvPr id="15" name="Shape 12"/>
          <p:cNvSpPr/>
          <p:nvPr/>
        </p:nvSpPr>
        <p:spPr>
          <a:xfrm>
            <a:off x="762000" y="5969000"/>
            <a:ext cx="63500" cy="1016000"/>
          </a:xfrm>
          <a:prstGeom prst="rect">
            <a:avLst/>
          </a:prstGeom>
          <a:solidFill>
            <a:srgbClr val="D81B2E"/>
          </a:solidFill>
          <a:ln/>
        </p:spPr>
      </p:sp>
      <p:sp>
        <p:nvSpPr>
          <p:cNvPr id="16" name="Text 13"/>
          <p:cNvSpPr/>
          <p:nvPr/>
        </p:nvSpPr>
        <p:spPr>
          <a:xfrm>
            <a:off x="1143000" y="6096000"/>
            <a:ext cx="13970000" cy="762000"/>
          </a:xfrm>
          <a:prstGeom prst="rect">
            <a:avLst/>
          </a:prstGeom>
          <a:noFill/>
          <a:ln/>
        </p:spPr>
        <p:txBody>
          <a:bodyPr wrap="square" lIns="0" tIns="0" rIns="0" bIns="0" rtlCol="0" anchor="ctr"/>
          <a:lstStyle/>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I början startar vi noder </a:t>
            </a:r>
            <a:r>
              <a:rPr lang="en-US" sz="1800" b="1" dirty="0">
                <a:solidFill>
                  <a:srgbClr val="1A2332"/>
                </a:solidFill>
                <a:latin typeface="Quattrocento Sans" pitchFamily="34" charset="0"/>
                <a:ea typeface="Quattrocento Sans" pitchFamily="34" charset="-122"/>
                <a:cs typeface="Quattrocento Sans" pitchFamily="34" charset="-120"/>
              </a:rPr>
              <a:t>manuellt</a:t>
            </a:r>
            <a:r>
              <a:rPr lang="en-US" sz="1800" dirty="0">
                <a:solidFill>
                  <a:srgbClr val="1A2332"/>
                </a:solidFill>
                <a:latin typeface="Quattrocento Sans" pitchFamily="34" charset="0"/>
                <a:ea typeface="Quattrocento Sans" pitchFamily="34" charset="-122"/>
                <a:cs typeface="Quattrocento Sans" pitchFamily="34" charset="-120"/>
              </a:rPr>
              <a:t> för att förstå varje del. Senare använder vi </a:t>
            </a:r>
            <a:r>
              <a:rPr lang="en-US" sz="1800" b="1" dirty="0">
                <a:solidFill>
                  <a:srgbClr val="1A2332"/>
                </a:solidFill>
                <a:latin typeface="Quattrocento Sans" pitchFamily="34" charset="0"/>
                <a:ea typeface="Quattrocento Sans" pitchFamily="34" charset="-122"/>
                <a:cs typeface="Quattrocento Sans" pitchFamily="34" charset="-120"/>
              </a:rPr>
              <a:t>launch-filer</a:t>
            </a:r>
            <a:r>
              <a:rPr lang="en-US" sz="1800" dirty="0">
                <a:solidFill>
                  <a:srgbClr val="1A2332"/>
                </a:solidFill>
                <a:latin typeface="Quattrocento Sans" pitchFamily="34" charset="0"/>
                <a:ea typeface="Quattrocento Sans" pitchFamily="34" charset="-122"/>
                <a:cs typeface="Quattrocento Sans" pitchFamily="34" charset="-120"/>
              </a:rPr>
              <a:t> för att starta hela systemet med ett kommando.</a:t>
            </a:r>
            <a:endParaRPr lang="en-US" sz="1600" dirty="0"/>
          </a:p>
        </p:txBody>
      </p:sp>
      <p:pic>
        <p:nvPicPr>
          <p:cNvPr id="17"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18" name="Text 14"/>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14</a:t>
            </a:r>
            <a:endParaRPr lang="en-US" sz="14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Vad är turtlesim?</a:t>
            </a:r>
            <a:endParaRPr lang="en-US" sz="2800" dirty="0"/>
          </a:p>
        </p:txBody>
      </p:sp>
      <p:sp>
        <p:nvSpPr>
          <p:cNvPr id="5" name="Shape 2"/>
          <p:cNvSpPr/>
          <p:nvPr/>
        </p:nvSpPr>
        <p:spPr>
          <a:xfrm>
            <a:off x="762000" y="1524000"/>
            <a:ext cx="14732000" cy="1143000"/>
          </a:xfrm>
          <a:prstGeom prst="roundRect">
            <a:avLst>
              <a:gd name="adj" fmla="val 8000"/>
            </a:avLst>
          </a:prstGeom>
          <a:solidFill>
            <a:srgbClr val="0F2B46"/>
          </a:solidFill>
          <a:ln/>
        </p:spPr>
      </p:sp>
      <p:sp>
        <p:nvSpPr>
          <p:cNvPr id="6" name="Shape 3"/>
          <p:cNvSpPr/>
          <p:nvPr/>
        </p:nvSpPr>
        <p:spPr>
          <a:xfrm>
            <a:off x="1206500" y="1778000"/>
            <a:ext cx="635000" cy="508000"/>
          </a:xfrm>
          <a:custGeom>
            <a:avLst/>
            <a:gdLst/>
            <a:ahLst/>
            <a:cxnLst/>
            <a:rect l="l" t="t" r="r" b="b"/>
            <a:pathLst>
              <a:path w="635000" h="508000">
                <a:moveTo>
                  <a:pt x="444500" y="63500"/>
                </a:moveTo>
                <a:cubicBezTo>
                  <a:pt x="549672" y="63500"/>
                  <a:pt x="635000" y="148828"/>
                  <a:pt x="635000" y="254000"/>
                </a:cubicBezTo>
                <a:cubicBezTo>
                  <a:pt x="635000" y="359172"/>
                  <a:pt x="549672" y="444500"/>
                  <a:pt x="444500" y="444500"/>
                </a:cubicBezTo>
                <a:lnTo>
                  <a:pt x="190500" y="444500"/>
                </a:lnTo>
                <a:cubicBezTo>
                  <a:pt x="85328" y="444500"/>
                  <a:pt x="0" y="359172"/>
                  <a:pt x="0" y="254000"/>
                </a:cubicBezTo>
                <a:cubicBezTo>
                  <a:pt x="0" y="148828"/>
                  <a:pt x="85328" y="63500"/>
                  <a:pt x="190500" y="63500"/>
                </a:cubicBezTo>
                <a:lnTo>
                  <a:pt x="444500" y="63500"/>
                </a:lnTo>
                <a:close/>
                <a:moveTo>
                  <a:pt x="190500" y="174625"/>
                </a:moveTo>
                <a:cubicBezTo>
                  <a:pt x="177304" y="174625"/>
                  <a:pt x="166688" y="185241"/>
                  <a:pt x="166688" y="198438"/>
                </a:cubicBezTo>
                <a:lnTo>
                  <a:pt x="166688" y="230188"/>
                </a:lnTo>
                <a:lnTo>
                  <a:pt x="134938" y="230188"/>
                </a:lnTo>
                <a:cubicBezTo>
                  <a:pt x="121741" y="230188"/>
                  <a:pt x="111125" y="240804"/>
                  <a:pt x="111125" y="254000"/>
                </a:cubicBezTo>
                <a:cubicBezTo>
                  <a:pt x="111125" y="267196"/>
                  <a:pt x="121741" y="277813"/>
                  <a:pt x="134938" y="277813"/>
                </a:cubicBezTo>
                <a:lnTo>
                  <a:pt x="166688" y="277813"/>
                </a:lnTo>
                <a:lnTo>
                  <a:pt x="166688" y="309562"/>
                </a:lnTo>
                <a:cubicBezTo>
                  <a:pt x="166688" y="322759"/>
                  <a:pt x="177304" y="333375"/>
                  <a:pt x="190500" y="333375"/>
                </a:cubicBezTo>
                <a:cubicBezTo>
                  <a:pt x="203696" y="333375"/>
                  <a:pt x="214313" y="322759"/>
                  <a:pt x="214313" y="309562"/>
                </a:cubicBezTo>
                <a:lnTo>
                  <a:pt x="214313" y="277813"/>
                </a:lnTo>
                <a:lnTo>
                  <a:pt x="246063" y="277813"/>
                </a:lnTo>
                <a:cubicBezTo>
                  <a:pt x="259259" y="277813"/>
                  <a:pt x="269875" y="267196"/>
                  <a:pt x="269875" y="254000"/>
                </a:cubicBezTo>
                <a:cubicBezTo>
                  <a:pt x="269875" y="240804"/>
                  <a:pt x="259259" y="230188"/>
                  <a:pt x="246063" y="230188"/>
                </a:cubicBezTo>
                <a:lnTo>
                  <a:pt x="214313" y="230188"/>
                </a:lnTo>
                <a:lnTo>
                  <a:pt x="214313" y="198438"/>
                </a:lnTo>
                <a:cubicBezTo>
                  <a:pt x="214313" y="185241"/>
                  <a:pt x="203696" y="174625"/>
                  <a:pt x="190500" y="174625"/>
                </a:cubicBezTo>
                <a:close/>
                <a:moveTo>
                  <a:pt x="428625" y="269875"/>
                </a:moveTo>
                <a:cubicBezTo>
                  <a:pt x="411102" y="269875"/>
                  <a:pt x="396875" y="284102"/>
                  <a:pt x="396875" y="301625"/>
                </a:cubicBezTo>
                <a:cubicBezTo>
                  <a:pt x="396875" y="319148"/>
                  <a:pt x="411102" y="333375"/>
                  <a:pt x="428625" y="333375"/>
                </a:cubicBezTo>
                <a:cubicBezTo>
                  <a:pt x="446148" y="333375"/>
                  <a:pt x="460375" y="319148"/>
                  <a:pt x="460375" y="301625"/>
                </a:cubicBezTo>
                <a:cubicBezTo>
                  <a:pt x="460375" y="284102"/>
                  <a:pt x="446148" y="269875"/>
                  <a:pt x="428625" y="269875"/>
                </a:cubicBezTo>
                <a:close/>
                <a:moveTo>
                  <a:pt x="492125" y="174625"/>
                </a:moveTo>
                <a:cubicBezTo>
                  <a:pt x="474602" y="174625"/>
                  <a:pt x="460375" y="188852"/>
                  <a:pt x="460375" y="206375"/>
                </a:cubicBezTo>
                <a:cubicBezTo>
                  <a:pt x="460375" y="223898"/>
                  <a:pt x="474602" y="238125"/>
                  <a:pt x="492125" y="238125"/>
                </a:cubicBezTo>
                <a:cubicBezTo>
                  <a:pt x="509648" y="238125"/>
                  <a:pt x="523875" y="223898"/>
                  <a:pt x="523875" y="206375"/>
                </a:cubicBezTo>
                <a:cubicBezTo>
                  <a:pt x="523875" y="188852"/>
                  <a:pt x="509648" y="174625"/>
                  <a:pt x="492125" y="174625"/>
                </a:cubicBezTo>
                <a:close/>
              </a:path>
            </a:pathLst>
          </a:custGeom>
          <a:solidFill>
            <a:srgbClr val="D81B2E"/>
          </a:solidFill>
          <a:ln/>
        </p:spPr>
      </p:sp>
      <p:sp>
        <p:nvSpPr>
          <p:cNvPr id="7" name="Text 4"/>
          <p:cNvSpPr/>
          <p:nvPr/>
        </p:nvSpPr>
        <p:spPr>
          <a:xfrm>
            <a:off x="2032000" y="1714500"/>
            <a:ext cx="13208000" cy="762000"/>
          </a:xfrm>
          <a:prstGeom prst="rect">
            <a:avLst/>
          </a:prstGeom>
          <a:noFill/>
          <a:ln/>
        </p:spPr>
        <p:txBody>
          <a:bodyPr wrap="square" lIns="0" tIns="0" rIns="0" bIns="0" rtlCol="0" anchor="ctr"/>
          <a:lstStyle/>
          <a:p>
            <a:pPr>
              <a:lnSpc>
                <a:spcPct val="140000"/>
              </a:lnSpc>
            </a:pPr>
            <a:r>
              <a:rPr lang="en-US" sz="2000" dirty="0">
                <a:solidFill>
                  <a:srgbClr val="FFFFFF"/>
                </a:solidFill>
                <a:latin typeface="Quattrocento Sans" pitchFamily="34" charset="0"/>
                <a:ea typeface="Quattrocento Sans" pitchFamily="34" charset="-122"/>
                <a:cs typeface="Quattrocento Sans" pitchFamily="34" charset="-120"/>
              </a:rPr>
              <a:t>Turtlesim är en </a:t>
            </a:r>
            <a:r>
              <a:rPr lang="en-US" sz="2000" b="1" dirty="0">
                <a:solidFill>
                  <a:srgbClr val="FFFFFF"/>
                </a:solidFill>
                <a:latin typeface="Quattrocento Sans" pitchFamily="34" charset="0"/>
                <a:ea typeface="Quattrocento Sans" pitchFamily="34" charset="-122"/>
                <a:cs typeface="Quattrocento Sans" pitchFamily="34" charset="-120"/>
              </a:rPr>
              <a:t>enkel simulator</a:t>
            </a:r>
            <a:r>
              <a:rPr lang="en-US" sz="2000" dirty="0">
                <a:solidFill>
                  <a:srgbClr val="FFFFFF"/>
                </a:solidFill>
                <a:latin typeface="Quattrocento Sans" pitchFamily="34" charset="0"/>
                <a:ea typeface="Quattrocento Sans" pitchFamily="34" charset="-122"/>
                <a:cs typeface="Quattrocento Sans" pitchFamily="34" charset="-120"/>
              </a:rPr>
              <a:t> i ROS2 som visar en sköldpadda på skärmen.</a:t>
            </a:r>
            <a:endParaRPr lang="en-US" sz="1600" dirty="0"/>
          </a:p>
        </p:txBody>
      </p:sp>
      <p:sp>
        <p:nvSpPr>
          <p:cNvPr id="8" name="Shape 5"/>
          <p:cNvSpPr/>
          <p:nvPr/>
        </p:nvSpPr>
        <p:spPr>
          <a:xfrm>
            <a:off x="762000" y="3048000"/>
            <a:ext cx="4699000" cy="1651000"/>
          </a:xfrm>
          <a:prstGeom prst="roundRect">
            <a:avLst>
              <a:gd name="adj" fmla="val 8000"/>
            </a:avLst>
          </a:prstGeom>
          <a:solidFill>
            <a:srgbClr val="FFFFFF"/>
          </a:solidFill>
          <a:ln w="12700">
            <a:solidFill>
              <a:srgbClr val="D0D5DD"/>
            </a:solidFill>
            <a:prstDash val="solid"/>
          </a:ln>
        </p:spPr>
      </p:sp>
      <p:sp>
        <p:nvSpPr>
          <p:cNvPr id="9" name="Shape 6"/>
          <p:cNvSpPr/>
          <p:nvPr/>
        </p:nvSpPr>
        <p:spPr>
          <a:xfrm>
            <a:off x="1079500" y="3365500"/>
            <a:ext cx="457200" cy="457200"/>
          </a:xfrm>
          <a:custGeom>
            <a:avLst/>
            <a:gdLst/>
            <a:ahLst/>
            <a:cxnLst/>
            <a:rect l="l" t="t" r="r" b="b"/>
            <a:pathLst>
              <a:path w="457200" h="457200">
                <a:moveTo>
                  <a:pt x="248781" y="8394"/>
                </a:moveTo>
                <a:cubicBezTo>
                  <a:pt x="237619" y="-2768"/>
                  <a:pt x="219492" y="-2768"/>
                  <a:pt x="208330" y="8394"/>
                </a:cubicBezTo>
                <a:lnTo>
                  <a:pt x="151180" y="65544"/>
                </a:lnTo>
                <a:cubicBezTo>
                  <a:pt x="140018" y="76706"/>
                  <a:pt x="140018" y="94833"/>
                  <a:pt x="151180" y="105995"/>
                </a:cubicBezTo>
                <a:cubicBezTo>
                  <a:pt x="162342" y="117157"/>
                  <a:pt x="180469" y="117157"/>
                  <a:pt x="191631" y="105995"/>
                </a:cubicBezTo>
                <a:lnTo>
                  <a:pt x="200025" y="97601"/>
                </a:lnTo>
                <a:lnTo>
                  <a:pt x="200025" y="200025"/>
                </a:lnTo>
                <a:lnTo>
                  <a:pt x="97601" y="200025"/>
                </a:lnTo>
                <a:lnTo>
                  <a:pt x="105995" y="191631"/>
                </a:lnTo>
                <a:cubicBezTo>
                  <a:pt x="117158" y="180469"/>
                  <a:pt x="117158" y="162342"/>
                  <a:pt x="105995" y="151180"/>
                </a:cubicBezTo>
                <a:cubicBezTo>
                  <a:pt x="94833" y="140018"/>
                  <a:pt x="76706" y="140018"/>
                  <a:pt x="65544" y="151180"/>
                </a:cubicBezTo>
                <a:lnTo>
                  <a:pt x="8394" y="208330"/>
                </a:lnTo>
                <a:cubicBezTo>
                  <a:pt x="-2768" y="219492"/>
                  <a:pt x="-2768" y="237619"/>
                  <a:pt x="8394" y="248781"/>
                </a:cubicBezTo>
                <a:lnTo>
                  <a:pt x="65544" y="305931"/>
                </a:lnTo>
                <a:cubicBezTo>
                  <a:pt x="76706" y="317093"/>
                  <a:pt x="94833" y="317093"/>
                  <a:pt x="105995" y="305931"/>
                </a:cubicBezTo>
                <a:cubicBezTo>
                  <a:pt x="117158" y="294769"/>
                  <a:pt x="117158" y="276642"/>
                  <a:pt x="105995" y="265480"/>
                </a:cubicBezTo>
                <a:lnTo>
                  <a:pt x="97601" y="257086"/>
                </a:lnTo>
                <a:lnTo>
                  <a:pt x="200025" y="257086"/>
                </a:lnTo>
                <a:lnTo>
                  <a:pt x="200025" y="359509"/>
                </a:lnTo>
                <a:lnTo>
                  <a:pt x="191631" y="351115"/>
                </a:lnTo>
                <a:cubicBezTo>
                  <a:pt x="180469" y="339953"/>
                  <a:pt x="162342" y="339953"/>
                  <a:pt x="151180" y="351115"/>
                </a:cubicBezTo>
                <a:cubicBezTo>
                  <a:pt x="140018" y="362277"/>
                  <a:pt x="140018" y="380405"/>
                  <a:pt x="151180" y="391567"/>
                </a:cubicBezTo>
                <a:lnTo>
                  <a:pt x="208330" y="448717"/>
                </a:lnTo>
                <a:cubicBezTo>
                  <a:pt x="219492" y="459879"/>
                  <a:pt x="237619" y="459879"/>
                  <a:pt x="248781" y="448717"/>
                </a:cubicBezTo>
                <a:lnTo>
                  <a:pt x="305931" y="391567"/>
                </a:lnTo>
                <a:cubicBezTo>
                  <a:pt x="317093" y="380405"/>
                  <a:pt x="317093" y="362277"/>
                  <a:pt x="305931" y="351115"/>
                </a:cubicBezTo>
                <a:cubicBezTo>
                  <a:pt x="294769" y="339953"/>
                  <a:pt x="276642" y="339953"/>
                  <a:pt x="265480" y="351115"/>
                </a:cubicBezTo>
                <a:lnTo>
                  <a:pt x="257086" y="359509"/>
                </a:lnTo>
                <a:lnTo>
                  <a:pt x="257086" y="257086"/>
                </a:lnTo>
                <a:lnTo>
                  <a:pt x="359509" y="257086"/>
                </a:lnTo>
                <a:lnTo>
                  <a:pt x="351115" y="265480"/>
                </a:lnTo>
                <a:cubicBezTo>
                  <a:pt x="339953" y="276642"/>
                  <a:pt x="339953" y="294769"/>
                  <a:pt x="351115" y="305931"/>
                </a:cubicBezTo>
                <a:cubicBezTo>
                  <a:pt x="362277" y="317093"/>
                  <a:pt x="380405" y="317093"/>
                  <a:pt x="391567" y="305931"/>
                </a:cubicBezTo>
                <a:lnTo>
                  <a:pt x="448717" y="248781"/>
                </a:lnTo>
                <a:cubicBezTo>
                  <a:pt x="459879" y="237619"/>
                  <a:pt x="459879" y="219492"/>
                  <a:pt x="448717" y="208330"/>
                </a:cubicBezTo>
                <a:lnTo>
                  <a:pt x="391567" y="151180"/>
                </a:lnTo>
                <a:cubicBezTo>
                  <a:pt x="380405" y="140018"/>
                  <a:pt x="362277" y="140018"/>
                  <a:pt x="351115" y="151180"/>
                </a:cubicBezTo>
                <a:cubicBezTo>
                  <a:pt x="339953" y="162342"/>
                  <a:pt x="339953" y="180469"/>
                  <a:pt x="351115" y="191631"/>
                </a:cubicBezTo>
                <a:lnTo>
                  <a:pt x="359509" y="200025"/>
                </a:lnTo>
                <a:lnTo>
                  <a:pt x="257086" y="200025"/>
                </a:lnTo>
                <a:lnTo>
                  <a:pt x="257086" y="97601"/>
                </a:lnTo>
                <a:lnTo>
                  <a:pt x="265480" y="105995"/>
                </a:lnTo>
                <a:cubicBezTo>
                  <a:pt x="276642" y="117158"/>
                  <a:pt x="294769" y="117158"/>
                  <a:pt x="305931" y="105995"/>
                </a:cubicBezTo>
                <a:cubicBezTo>
                  <a:pt x="317093" y="94833"/>
                  <a:pt x="317093" y="76706"/>
                  <a:pt x="305931" y="65544"/>
                </a:cubicBezTo>
                <a:lnTo>
                  <a:pt x="248781" y="8394"/>
                </a:lnTo>
                <a:close/>
              </a:path>
            </a:pathLst>
          </a:custGeom>
          <a:solidFill>
            <a:srgbClr val="0F2B46"/>
          </a:solidFill>
          <a:ln/>
        </p:spPr>
      </p:sp>
      <p:sp>
        <p:nvSpPr>
          <p:cNvPr id="10" name="Text 7"/>
          <p:cNvSpPr/>
          <p:nvPr/>
        </p:nvSpPr>
        <p:spPr>
          <a:xfrm>
            <a:off x="1714500" y="3302000"/>
            <a:ext cx="3492500" cy="381000"/>
          </a:xfrm>
          <a:prstGeom prst="rect">
            <a:avLst/>
          </a:prstGeom>
          <a:noFill/>
          <a:ln/>
        </p:spPr>
        <p:txBody>
          <a:bodyPr wrap="none" lIns="0" tIns="0" rIns="0" bIns="0" rtlCol="0" anchor="ctr"/>
          <a:lstStyle/>
          <a:p>
            <a:pPr>
              <a:lnSpc>
                <a:spcPct val="100000"/>
              </a:lnSpc>
            </a:pPr>
            <a:r>
              <a:rPr lang="en-US" sz="1800" b="1" dirty="0">
                <a:solidFill>
                  <a:srgbClr val="1A2332"/>
                </a:solidFill>
                <a:latin typeface="Liter" pitchFamily="34" charset="0"/>
                <a:ea typeface="Liter" pitchFamily="34" charset="-122"/>
                <a:cs typeface="Liter" pitchFamily="34" charset="-120"/>
              </a:rPr>
              <a:t>Styr sköldpaddan</a:t>
            </a:r>
            <a:endParaRPr lang="en-US" sz="1600" dirty="0"/>
          </a:p>
        </p:txBody>
      </p:sp>
      <p:sp>
        <p:nvSpPr>
          <p:cNvPr id="11" name="Text 8"/>
          <p:cNvSpPr/>
          <p:nvPr/>
        </p:nvSpPr>
        <p:spPr>
          <a:xfrm>
            <a:off x="1079500" y="3810000"/>
            <a:ext cx="4127500" cy="698500"/>
          </a:xfrm>
          <a:prstGeom prst="rect">
            <a:avLst/>
          </a:prstGeom>
          <a:noFill/>
          <a:ln/>
        </p:spPr>
        <p:txBody>
          <a:bodyPr wrap="square" lIns="0" tIns="0" rIns="0" bIns="0" rtlCol="0" anchor="t"/>
          <a:lstStyle/>
          <a:p>
            <a:pPr>
              <a:lnSpc>
                <a:spcPct val="140000"/>
              </a:lnSpc>
            </a:pPr>
            <a:r>
              <a:rPr lang="en-US" sz="1600" dirty="0">
                <a:solidFill>
                  <a:srgbClr val="6B7B8D"/>
                </a:solidFill>
                <a:latin typeface="Quattrocento Sans" pitchFamily="34" charset="0"/>
                <a:ea typeface="Quattrocento Sans" pitchFamily="34" charset="-122"/>
                <a:cs typeface="Quattrocento Sans" pitchFamily="34" charset="-120"/>
              </a:rPr>
              <a:t>Flytta den med piltangenterna på tangentbordet</a:t>
            </a:r>
            <a:endParaRPr lang="en-US" sz="1600" dirty="0"/>
          </a:p>
        </p:txBody>
      </p:sp>
      <p:sp>
        <p:nvSpPr>
          <p:cNvPr id="12" name="Shape 9"/>
          <p:cNvSpPr/>
          <p:nvPr/>
        </p:nvSpPr>
        <p:spPr>
          <a:xfrm>
            <a:off x="5778500" y="3048000"/>
            <a:ext cx="4699000" cy="1651000"/>
          </a:xfrm>
          <a:prstGeom prst="roundRect">
            <a:avLst>
              <a:gd name="adj" fmla="val 8000"/>
            </a:avLst>
          </a:prstGeom>
          <a:solidFill>
            <a:srgbClr val="FFFFFF"/>
          </a:solidFill>
          <a:ln w="12700">
            <a:solidFill>
              <a:srgbClr val="D0D5DD"/>
            </a:solidFill>
            <a:prstDash val="solid"/>
          </a:ln>
        </p:spPr>
      </p:sp>
      <p:sp>
        <p:nvSpPr>
          <p:cNvPr id="13" name="Shape 10"/>
          <p:cNvSpPr/>
          <p:nvPr/>
        </p:nvSpPr>
        <p:spPr>
          <a:xfrm>
            <a:off x="6067425" y="3365500"/>
            <a:ext cx="514350" cy="457200"/>
          </a:xfrm>
          <a:custGeom>
            <a:avLst/>
            <a:gdLst/>
            <a:ahLst/>
            <a:cxnLst/>
            <a:rect l="l" t="t" r="r" b="b"/>
            <a:pathLst>
              <a:path w="514350" h="457200">
                <a:moveTo>
                  <a:pt x="257175" y="28575"/>
                </a:moveTo>
                <a:cubicBezTo>
                  <a:pt x="185023" y="28575"/>
                  <a:pt x="127248" y="61436"/>
                  <a:pt x="85189" y="100548"/>
                </a:cubicBezTo>
                <a:cubicBezTo>
                  <a:pt x="43398" y="139392"/>
                  <a:pt x="15448" y="185738"/>
                  <a:pt x="2143" y="217616"/>
                </a:cubicBezTo>
                <a:cubicBezTo>
                  <a:pt x="-804" y="224671"/>
                  <a:pt x="-804" y="232529"/>
                  <a:pt x="2143" y="239584"/>
                </a:cubicBezTo>
                <a:cubicBezTo>
                  <a:pt x="15448" y="271463"/>
                  <a:pt x="43398" y="317897"/>
                  <a:pt x="85189" y="356652"/>
                </a:cubicBezTo>
                <a:cubicBezTo>
                  <a:pt x="127248" y="395674"/>
                  <a:pt x="185023" y="428625"/>
                  <a:pt x="257175" y="428625"/>
                </a:cubicBezTo>
                <a:cubicBezTo>
                  <a:pt x="329327" y="428625"/>
                  <a:pt x="387102" y="395764"/>
                  <a:pt x="429161" y="356652"/>
                </a:cubicBezTo>
                <a:cubicBezTo>
                  <a:pt x="470952" y="317808"/>
                  <a:pt x="498902" y="271463"/>
                  <a:pt x="512207" y="239584"/>
                </a:cubicBezTo>
                <a:cubicBezTo>
                  <a:pt x="515154" y="232529"/>
                  <a:pt x="515154" y="224671"/>
                  <a:pt x="512207" y="217616"/>
                </a:cubicBezTo>
                <a:cubicBezTo>
                  <a:pt x="498902" y="185737"/>
                  <a:pt x="470952" y="139303"/>
                  <a:pt x="429161" y="100548"/>
                </a:cubicBezTo>
                <a:cubicBezTo>
                  <a:pt x="387102" y="61526"/>
                  <a:pt x="329327" y="28575"/>
                  <a:pt x="257175" y="28575"/>
                </a:cubicBezTo>
                <a:close/>
                <a:moveTo>
                  <a:pt x="128588" y="228600"/>
                </a:moveTo>
                <a:cubicBezTo>
                  <a:pt x="128588" y="157631"/>
                  <a:pt x="186206" y="100013"/>
                  <a:pt x="257175" y="100013"/>
                </a:cubicBezTo>
                <a:cubicBezTo>
                  <a:pt x="328144" y="100013"/>
                  <a:pt x="385763" y="157631"/>
                  <a:pt x="385763" y="228600"/>
                </a:cubicBezTo>
                <a:cubicBezTo>
                  <a:pt x="385763" y="299569"/>
                  <a:pt x="328144" y="357188"/>
                  <a:pt x="257175" y="357188"/>
                </a:cubicBezTo>
                <a:cubicBezTo>
                  <a:pt x="186206" y="357188"/>
                  <a:pt x="128588" y="299569"/>
                  <a:pt x="128588" y="228600"/>
                </a:cubicBezTo>
                <a:close/>
                <a:moveTo>
                  <a:pt x="257175" y="171450"/>
                </a:moveTo>
                <a:cubicBezTo>
                  <a:pt x="257175" y="202972"/>
                  <a:pt x="231547" y="228600"/>
                  <a:pt x="200025" y="228600"/>
                </a:cubicBezTo>
                <a:cubicBezTo>
                  <a:pt x="189756" y="228600"/>
                  <a:pt x="180112" y="225921"/>
                  <a:pt x="171718" y="221099"/>
                </a:cubicBezTo>
                <a:cubicBezTo>
                  <a:pt x="170825" y="230832"/>
                  <a:pt x="171629" y="240834"/>
                  <a:pt x="174308" y="250746"/>
                </a:cubicBezTo>
                <a:cubicBezTo>
                  <a:pt x="186541" y="296466"/>
                  <a:pt x="233601" y="323612"/>
                  <a:pt x="279321" y="311378"/>
                </a:cubicBezTo>
                <a:cubicBezTo>
                  <a:pt x="325041" y="299145"/>
                  <a:pt x="352187" y="252085"/>
                  <a:pt x="339953" y="206365"/>
                </a:cubicBezTo>
                <a:cubicBezTo>
                  <a:pt x="329059" y="165556"/>
                  <a:pt x="290393" y="139571"/>
                  <a:pt x="249674" y="143143"/>
                </a:cubicBezTo>
                <a:cubicBezTo>
                  <a:pt x="254407" y="151448"/>
                  <a:pt x="257175" y="161092"/>
                  <a:pt x="257175" y="171450"/>
                </a:cubicBezTo>
                <a:close/>
              </a:path>
            </a:pathLst>
          </a:custGeom>
          <a:solidFill>
            <a:srgbClr val="0F2B46"/>
          </a:solidFill>
          <a:ln/>
        </p:spPr>
      </p:sp>
      <p:sp>
        <p:nvSpPr>
          <p:cNvPr id="14" name="Text 11"/>
          <p:cNvSpPr/>
          <p:nvPr/>
        </p:nvSpPr>
        <p:spPr>
          <a:xfrm>
            <a:off x="6731000" y="3302000"/>
            <a:ext cx="3492500" cy="381000"/>
          </a:xfrm>
          <a:prstGeom prst="rect">
            <a:avLst/>
          </a:prstGeom>
          <a:noFill/>
          <a:ln/>
        </p:spPr>
        <p:txBody>
          <a:bodyPr wrap="none" lIns="0" tIns="0" rIns="0" bIns="0" rtlCol="0" anchor="ctr"/>
          <a:lstStyle/>
          <a:p>
            <a:pPr>
              <a:lnSpc>
                <a:spcPct val="100000"/>
              </a:lnSpc>
            </a:pPr>
            <a:r>
              <a:rPr lang="en-US" sz="1800" b="1" dirty="0">
                <a:solidFill>
                  <a:srgbClr val="1A2332"/>
                </a:solidFill>
                <a:latin typeface="Liter" pitchFamily="34" charset="0"/>
                <a:ea typeface="Liter" pitchFamily="34" charset="-122"/>
                <a:cs typeface="Liter" pitchFamily="34" charset="-120"/>
              </a:rPr>
              <a:t>Se resultat direkt</a:t>
            </a:r>
            <a:endParaRPr lang="en-US" sz="1600" dirty="0"/>
          </a:p>
        </p:txBody>
      </p:sp>
      <p:sp>
        <p:nvSpPr>
          <p:cNvPr id="15" name="Text 12"/>
          <p:cNvSpPr/>
          <p:nvPr/>
        </p:nvSpPr>
        <p:spPr>
          <a:xfrm>
            <a:off x="6096000" y="3810000"/>
            <a:ext cx="4127500" cy="698500"/>
          </a:xfrm>
          <a:prstGeom prst="rect">
            <a:avLst/>
          </a:prstGeom>
          <a:noFill/>
          <a:ln/>
        </p:spPr>
        <p:txBody>
          <a:bodyPr wrap="square" lIns="0" tIns="0" rIns="0" bIns="0" rtlCol="0" anchor="t"/>
          <a:lstStyle/>
          <a:p>
            <a:pPr>
              <a:lnSpc>
                <a:spcPct val="140000"/>
              </a:lnSpc>
            </a:pPr>
            <a:r>
              <a:rPr lang="en-US" sz="1600" dirty="0">
                <a:solidFill>
                  <a:srgbClr val="6B7B8D"/>
                </a:solidFill>
                <a:latin typeface="Quattrocento Sans" pitchFamily="34" charset="0"/>
                <a:ea typeface="Quattrocento Sans" pitchFamily="34" charset="-122"/>
                <a:cs typeface="Quattrocento Sans" pitchFamily="34" charset="-120"/>
              </a:rPr>
              <a:t>Allt som händer syns visuellt på skärmen</a:t>
            </a:r>
            <a:endParaRPr lang="en-US" sz="1600" dirty="0"/>
          </a:p>
        </p:txBody>
      </p:sp>
      <p:sp>
        <p:nvSpPr>
          <p:cNvPr id="16" name="Shape 13"/>
          <p:cNvSpPr/>
          <p:nvPr/>
        </p:nvSpPr>
        <p:spPr>
          <a:xfrm>
            <a:off x="10795000" y="3048000"/>
            <a:ext cx="4699000" cy="1651000"/>
          </a:xfrm>
          <a:prstGeom prst="roundRect">
            <a:avLst>
              <a:gd name="adj" fmla="val 8000"/>
            </a:avLst>
          </a:prstGeom>
          <a:solidFill>
            <a:srgbClr val="FFFFFF"/>
          </a:solidFill>
          <a:ln w="12700">
            <a:solidFill>
              <a:srgbClr val="D0D5DD"/>
            </a:solidFill>
            <a:prstDash val="solid"/>
          </a:ln>
        </p:spPr>
      </p:sp>
      <p:sp>
        <p:nvSpPr>
          <p:cNvPr id="17" name="Shape 14"/>
          <p:cNvSpPr/>
          <p:nvPr/>
        </p:nvSpPr>
        <p:spPr>
          <a:xfrm>
            <a:off x="11083925" y="3365500"/>
            <a:ext cx="514350" cy="457200"/>
          </a:xfrm>
          <a:custGeom>
            <a:avLst/>
            <a:gdLst/>
            <a:ahLst/>
            <a:cxnLst/>
            <a:rect l="l" t="t" r="r" b="b"/>
            <a:pathLst>
              <a:path w="514350" h="457200">
                <a:moveTo>
                  <a:pt x="42863" y="174843"/>
                </a:moveTo>
                <a:lnTo>
                  <a:pt x="229672" y="251728"/>
                </a:lnTo>
                <a:cubicBezTo>
                  <a:pt x="238423" y="255300"/>
                  <a:pt x="247710" y="257175"/>
                  <a:pt x="257175" y="257175"/>
                </a:cubicBezTo>
                <a:cubicBezTo>
                  <a:pt x="266640" y="257175"/>
                  <a:pt x="275927" y="255300"/>
                  <a:pt x="284678" y="251728"/>
                </a:cubicBezTo>
                <a:lnTo>
                  <a:pt x="501134" y="162610"/>
                </a:lnTo>
                <a:cubicBezTo>
                  <a:pt x="509171" y="159306"/>
                  <a:pt x="514350" y="151537"/>
                  <a:pt x="514350" y="142875"/>
                </a:cubicBezTo>
                <a:cubicBezTo>
                  <a:pt x="514350" y="134213"/>
                  <a:pt x="509171" y="126444"/>
                  <a:pt x="501134" y="123140"/>
                </a:cubicBezTo>
                <a:lnTo>
                  <a:pt x="284678" y="34022"/>
                </a:lnTo>
                <a:cubicBezTo>
                  <a:pt x="275927" y="30450"/>
                  <a:pt x="266640" y="28575"/>
                  <a:pt x="257175" y="28575"/>
                </a:cubicBezTo>
                <a:cubicBezTo>
                  <a:pt x="247710" y="28575"/>
                  <a:pt x="238423" y="30450"/>
                  <a:pt x="229672" y="34022"/>
                </a:cubicBezTo>
                <a:lnTo>
                  <a:pt x="13216" y="123140"/>
                </a:lnTo>
                <a:cubicBezTo>
                  <a:pt x="5179" y="126444"/>
                  <a:pt x="0" y="134213"/>
                  <a:pt x="0" y="142875"/>
                </a:cubicBezTo>
                <a:lnTo>
                  <a:pt x="0" y="407194"/>
                </a:lnTo>
                <a:cubicBezTo>
                  <a:pt x="0" y="419070"/>
                  <a:pt x="9555" y="428625"/>
                  <a:pt x="21431" y="428625"/>
                </a:cubicBezTo>
                <a:cubicBezTo>
                  <a:pt x="33308" y="428625"/>
                  <a:pt x="42863" y="419070"/>
                  <a:pt x="42863" y="407194"/>
                </a:cubicBezTo>
                <a:lnTo>
                  <a:pt x="42863" y="174843"/>
                </a:lnTo>
                <a:close/>
                <a:moveTo>
                  <a:pt x="85725" y="238869"/>
                </a:moveTo>
                <a:lnTo>
                  <a:pt x="85725" y="342900"/>
                </a:lnTo>
                <a:cubicBezTo>
                  <a:pt x="85725" y="390227"/>
                  <a:pt x="162520" y="428625"/>
                  <a:pt x="257175" y="428625"/>
                </a:cubicBezTo>
                <a:cubicBezTo>
                  <a:pt x="351830" y="428625"/>
                  <a:pt x="428625" y="390227"/>
                  <a:pt x="428625" y="342900"/>
                </a:cubicBezTo>
                <a:lnTo>
                  <a:pt x="428625" y="238780"/>
                </a:lnTo>
                <a:lnTo>
                  <a:pt x="301020" y="291376"/>
                </a:lnTo>
                <a:cubicBezTo>
                  <a:pt x="287089" y="297091"/>
                  <a:pt x="272266" y="300037"/>
                  <a:pt x="257175" y="300037"/>
                </a:cubicBezTo>
                <a:cubicBezTo>
                  <a:pt x="242084" y="300037"/>
                  <a:pt x="227261" y="297091"/>
                  <a:pt x="213330" y="291376"/>
                </a:cubicBezTo>
                <a:lnTo>
                  <a:pt x="85725" y="238780"/>
                </a:lnTo>
                <a:close/>
              </a:path>
            </a:pathLst>
          </a:custGeom>
          <a:solidFill>
            <a:srgbClr val="0F2B46"/>
          </a:solidFill>
          <a:ln/>
        </p:spPr>
      </p:sp>
      <p:sp>
        <p:nvSpPr>
          <p:cNvPr id="18" name="Text 15"/>
          <p:cNvSpPr/>
          <p:nvPr/>
        </p:nvSpPr>
        <p:spPr>
          <a:xfrm>
            <a:off x="11747500" y="3302000"/>
            <a:ext cx="3492500" cy="381000"/>
          </a:xfrm>
          <a:prstGeom prst="rect">
            <a:avLst/>
          </a:prstGeom>
          <a:noFill/>
          <a:ln/>
        </p:spPr>
        <p:txBody>
          <a:bodyPr wrap="none" lIns="0" tIns="0" rIns="0" bIns="0" rtlCol="0" anchor="ctr"/>
          <a:lstStyle/>
          <a:p>
            <a:pPr>
              <a:lnSpc>
                <a:spcPct val="100000"/>
              </a:lnSpc>
            </a:pPr>
            <a:r>
              <a:rPr lang="en-US" sz="1800" b="1" dirty="0">
                <a:solidFill>
                  <a:srgbClr val="1A2332"/>
                </a:solidFill>
                <a:latin typeface="Liter" pitchFamily="34" charset="0"/>
                <a:ea typeface="Liter" pitchFamily="34" charset="-122"/>
                <a:cs typeface="Liter" pitchFamily="34" charset="-120"/>
              </a:rPr>
              <a:t>Lär dig ROS2</a:t>
            </a:r>
            <a:endParaRPr lang="en-US" sz="1600" dirty="0"/>
          </a:p>
        </p:txBody>
      </p:sp>
      <p:sp>
        <p:nvSpPr>
          <p:cNvPr id="19" name="Text 16"/>
          <p:cNvSpPr/>
          <p:nvPr/>
        </p:nvSpPr>
        <p:spPr>
          <a:xfrm>
            <a:off x="11112500" y="3810000"/>
            <a:ext cx="4127500" cy="698500"/>
          </a:xfrm>
          <a:prstGeom prst="rect">
            <a:avLst/>
          </a:prstGeom>
          <a:noFill/>
          <a:ln/>
        </p:spPr>
        <p:txBody>
          <a:bodyPr wrap="square" lIns="0" tIns="0" rIns="0" bIns="0" rtlCol="0" anchor="t"/>
          <a:lstStyle/>
          <a:p>
            <a:pPr>
              <a:lnSpc>
                <a:spcPct val="140000"/>
              </a:lnSpc>
            </a:pPr>
            <a:r>
              <a:rPr lang="en-US" sz="1600" dirty="0">
                <a:solidFill>
                  <a:srgbClr val="6B7B8D"/>
                </a:solidFill>
                <a:latin typeface="Quattrocento Sans" pitchFamily="34" charset="0"/>
                <a:ea typeface="Quattrocento Sans" pitchFamily="34" charset="-122"/>
                <a:cs typeface="Quattrocento Sans" pitchFamily="34" charset="-120"/>
              </a:rPr>
              <a:t>Samma principer som i riktiga robotar</a:t>
            </a:r>
            <a:endParaRPr lang="en-US" sz="1600" dirty="0"/>
          </a:p>
        </p:txBody>
      </p:sp>
      <p:sp>
        <p:nvSpPr>
          <p:cNvPr id="20" name="Shape 17"/>
          <p:cNvSpPr/>
          <p:nvPr/>
        </p:nvSpPr>
        <p:spPr>
          <a:xfrm>
            <a:off x="762000" y="5207000"/>
            <a:ext cx="14732000" cy="1143000"/>
          </a:xfrm>
          <a:prstGeom prst="roundRect">
            <a:avLst>
              <a:gd name="adj" fmla="val 8000"/>
            </a:avLst>
          </a:prstGeom>
          <a:solidFill>
            <a:srgbClr val="E8EBF0"/>
          </a:solidFill>
          <a:ln w="12700">
            <a:solidFill>
              <a:srgbClr val="D0D5DD"/>
            </a:solidFill>
            <a:prstDash val="solid"/>
          </a:ln>
        </p:spPr>
      </p:sp>
      <p:sp>
        <p:nvSpPr>
          <p:cNvPr id="21" name="Shape 18"/>
          <p:cNvSpPr/>
          <p:nvPr/>
        </p:nvSpPr>
        <p:spPr>
          <a:xfrm>
            <a:off x="762000" y="5207000"/>
            <a:ext cx="63500" cy="1143000"/>
          </a:xfrm>
          <a:prstGeom prst="rect">
            <a:avLst/>
          </a:prstGeom>
          <a:solidFill>
            <a:srgbClr val="D81B2E"/>
          </a:solidFill>
          <a:ln/>
        </p:spPr>
      </p:sp>
      <p:sp>
        <p:nvSpPr>
          <p:cNvPr id="22" name="Text 19"/>
          <p:cNvSpPr/>
          <p:nvPr/>
        </p:nvSpPr>
        <p:spPr>
          <a:xfrm>
            <a:off x="1143000" y="5334000"/>
            <a:ext cx="13970000" cy="889000"/>
          </a:xfrm>
          <a:prstGeom prst="rect">
            <a:avLst/>
          </a:prstGeom>
          <a:noFill/>
          <a:ln/>
        </p:spPr>
        <p:txBody>
          <a:bodyPr wrap="square" lIns="0" tIns="0" rIns="0" bIns="0" rtlCol="0" anchor="ctr"/>
          <a:lstStyle/>
          <a:p>
            <a:pPr>
              <a:lnSpc>
                <a:spcPct val="150000"/>
              </a:lnSpc>
            </a:pPr>
            <a:r>
              <a:rPr lang="en-US" sz="1800" b="1" dirty="0">
                <a:solidFill>
                  <a:srgbClr val="1A2332"/>
                </a:solidFill>
                <a:latin typeface="Quattrocento Sans" pitchFamily="34" charset="0"/>
                <a:ea typeface="Quattrocento Sans" pitchFamily="34" charset="-122"/>
                <a:cs typeface="Quattrocento Sans" pitchFamily="34" charset="-120"/>
              </a:rPr>
              <a:t>Ingen fysisk robot behövs!</a:t>
            </a:r>
            <a:r>
              <a:rPr lang="en-US" sz="1800" dirty="0">
                <a:solidFill>
                  <a:srgbClr val="1A2332"/>
                </a:solidFill>
                <a:latin typeface="Quattrocento Sans" pitchFamily="34" charset="0"/>
                <a:ea typeface="Quattrocento Sans" pitchFamily="34" charset="-122"/>
                <a:cs typeface="Quattrocento Sans" pitchFamily="34" charset="-120"/>
              </a:rPr>
              <a:t> Turtlesim låter oss lära oss alla ROS2-koncept direkt på datorn. Det är vårt virtuella robotlabb.</a:t>
            </a:r>
            <a:endParaRPr lang="en-US" sz="1600" dirty="0"/>
          </a:p>
        </p:txBody>
      </p:sp>
      <p:pic>
        <p:nvPicPr>
          <p:cNvPr id="23"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4" name="Text 20"/>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15</a:t>
            </a:r>
            <a:endParaRPr lang="en-US" sz="14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Varför börjar vi med turtlesim?</a:t>
            </a:r>
            <a:endParaRPr lang="en-US" sz="2800" dirty="0"/>
          </a:p>
        </p:txBody>
      </p:sp>
      <p:sp>
        <p:nvSpPr>
          <p:cNvPr id="5" name="Shape 2"/>
          <p:cNvSpPr/>
          <p:nvPr/>
        </p:nvSpPr>
        <p:spPr>
          <a:xfrm>
            <a:off x="762000" y="1651000"/>
            <a:ext cx="4699000" cy="2032000"/>
          </a:xfrm>
          <a:prstGeom prst="roundRect">
            <a:avLst>
              <a:gd name="adj" fmla="val 8000"/>
            </a:avLst>
          </a:prstGeom>
          <a:solidFill>
            <a:srgbClr val="FFFFFF"/>
          </a:solidFill>
          <a:ln w="12700">
            <a:solidFill>
              <a:srgbClr val="D0D5DD"/>
            </a:solidFill>
            <a:prstDash val="solid"/>
          </a:ln>
        </p:spPr>
      </p:sp>
      <p:sp>
        <p:nvSpPr>
          <p:cNvPr id="6" name="Text 3"/>
          <p:cNvSpPr/>
          <p:nvPr/>
        </p:nvSpPr>
        <p:spPr>
          <a:xfrm>
            <a:off x="1016000" y="1841500"/>
            <a:ext cx="698500" cy="508000"/>
          </a:xfrm>
          <a:prstGeom prst="rect">
            <a:avLst/>
          </a:prstGeom>
          <a:noFill/>
          <a:ln/>
        </p:spPr>
        <p:txBody>
          <a:bodyPr wrap="none" lIns="0" tIns="0" rIns="0" bIns="0" rtlCol="0" anchor="ctr"/>
          <a:lstStyle/>
          <a:p>
            <a:pPr algn="ctr">
              <a:lnSpc>
                <a:spcPct val="100000"/>
              </a:lnSpc>
            </a:pPr>
            <a:r>
              <a:rPr lang="en-US" sz="2800" b="1" dirty="0">
                <a:solidFill>
                  <a:srgbClr val="D81B2E"/>
                </a:solidFill>
                <a:latin typeface="Liter" pitchFamily="34" charset="0"/>
                <a:ea typeface="Liter" pitchFamily="34" charset="-122"/>
                <a:cs typeface="Liter" pitchFamily="34" charset="-120"/>
              </a:rPr>
              <a:t>01</a:t>
            </a:r>
            <a:endParaRPr lang="en-US" sz="1600" dirty="0"/>
          </a:p>
        </p:txBody>
      </p:sp>
      <p:sp>
        <p:nvSpPr>
          <p:cNvPr id="7" name="Text 4"/>
          <p:cNvSpPr/>
          <p:nvPr/>
        </p:nvSpPr>
        <p:spPr>
          <a:xfrm>
            <a:off x="1778000" y="1879600"/>
            <a:ext cx="3429000" cy="3810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Enkelt att starta</a:t>
            </a:r>
            <a:endParaRPr lang="en-US" sz="1600" dirty="0"/>
          </a:p>
        </p:txBody>
      </p:sp>
      <p:sp>
        <p:nvSpPr>
          <p:cNvPr id="8" name="Text 5"/>
          <p:cNvSpPr/>
          <p:nvPr/>
        </p:nvSpPr>
        <p:spPr>
          <a:xfrm>
            <a:off x="1016000" y="2413000"/>
            <a:ext cx="4191000" cy="1143000"/>
          </a:xfrm>
          <a:prstGeom prst="rect">
            <a:avLst/>
          </a:prstGeom>
          <a:noFill/>
          <a:ln/>
        </p:spPr>
        <p:txBody>
          <a:bodyPr wrap="square" lIns="0" tIns="0" rIns="0" bIns="0" rtlCol="0" anchor="t"/>
          <a:lstStyle/>
          <a:p>
            <a:pPr>
              <a:lnSpc>
                <a:spcPct val="150000"/>
              </a:lnSpc>
            </a:pPr>
            <a:r>
              <a:rPr lang="en-US" sz="1600" dirty="0">
                <a:solidFill>
                  <a:srgbClr val="6B7B8D"/>
                </a:solidFill>
                <a:latin typeface="Quattrocento Sans" pitchFamily="34" charset="0"/>
                <a:ea typeface="Quattrocento Sans" pitchFamily="34" charset="-122"/>
                <a:cs typeface="Quattrocento Sans" pitchFamily="34" charset="-120"/>
              </a:rPr>
              <a:t>Bara ett kommando så är simulatorn igång. Ingen komplicerad installation eller konfiguration.</a:t>
            </a:r>
            <a:endParaRPr lang="en-US" sz="1600" dirty="0"/>
          </a:p>
        </p:txBody>
      </p:sp>
      <p:sp>
        <p:nvSpPr>
          <p:cNvPr id="9" name="Shape 6"/>
          <p:cNvSpPr/>
          <p:nvPr/>
        </p:nvSpPr>
        <p:spPr>
          <a:xfrm>
            <a:off x="5778500" y="1651000"/>
            <a:ext cx="4699000" cy="2032000"/>
          </a:xfrm>
          <a:prstGeom prst="roundRect">
            <a:avLst>
              <a:gd name="adj" fmla="val 8000"/>
            </a:avLst>
          </a:prstGeom>
          <a:solidFill>
            <a:srgbClr val="FFFFFF"/>
          </a:solidFill>
          <a:ln w="12700">
            <a:solidFill>
              <a:srgbClr val="D0D5DD"/>
            </a:solidFill>
            <a:prstDash val="solid"/>
          </a:ln>
        </p:spPr>
      </p:sp>
      <p:sp>
        <p:nvSpPr>
          <p:cNvPr id="10" name="Text 7"/>
          <p:cNvSpPr/>
          <p:nvPr/>
        </p:nvSpPr>
        <p:spPr>
          <a:xfrm>
            <a:off x="6032500" y="1841500"/>
            <a:ext cx="698500" cy="508000"/>
          </a:xfrm>
          <a:prstGeom prst="rect">
            <a:avLst/>
          </a:prstGeom>
          <a:noFill/>
          <a:ln/>
        </p:spPr>
        <p:txBody>
          <a:bodyPr wrap="none" lIns="0" tIns="0" rIns="0" bIns="0" rtlCol="0" anchor="ctr"/>
          <a:lstStyle/>
          <a:p>
            <a:pPr algn="ctr">
              <a:lnSpc>
                <a:spcPct val="100000"/>
              </a:lnSpc>
            </a:pPr>
            <a:r>
              <a:rPr lang="en-US" sz="2800" b="1" dirty="0">
                <a:solidFill>
                  <a:srgbClr val="D81B2E"/>
                </a:solidFill>
                <a:latin typeface="Liter" pitchFamily="34" charset="0"/>
                <a:ea typeface="Liter" pitchFamily="34" charset="-122"/>
                <a:cs typeface="Liter" pitchFamily="34" charset="-120"/>
              </a:rPr>
              <a:t>02</a:t>
            </a:r>
            <a:endParaRPr lang="en-US" sz="1600" dirty="0"/>
          </a:p>
        </p:txBody>
      </p:sp>
      <p:sp>
        <p:nvSpPr>
          <p:cNvPr id="11" name="Text 8"/>
          <p:cNvSpPr/>
          <p:nvPr/>
        </p:nvSpPr>
        <p:spPr>
          <a:xfrm>
            <a:off x="6794500" y="1879600"/>
            <a:ext cx="3429000" cy="3810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Visuellt</a:t>
            </a:r>
            <a:endParaRPr lang="en-US" sz="1600" dirty="0"/>
          </a:p>
        </p:txBody>
      </p:sp>
      <p:sp>
        <p:nvSpPr>
          <p:cNvPr id="12" name="Text 9"/>
          <p:cNvSpPr/>
          <p:nvPr/>
        </p:nvSpPr>
        <p:spPr>
          <a:xfrm>
            <a:off x="6032500" y="2413000"/>
            <a:ext cx="4191000" cy="1143000"/>
          </a:xfrm>
          <a:prstGeom prst="rect">
            <a:avLst/>
          </a:prstGeom>
          <a:noFill/>
          <a:ln/>
        </p:spPr>
        <p:txBody>
          <a:bodyPr wrap="square" lIns="0" tIns="0" rIns="0" bIns="0" rtlCol="0" anchor="t"/>
          <a:lstStyle/>
          <a:p>
            <a:pPr>
              <a:lnSpc>
                <a:spcPct val="150000"/>
              </a:lnSpc>
            </a:pPr>
            <a:r>
              <a:rPr lang="en-US" sz="1600" dirty="0">
                <a:solidFill>
                  <a:srgbClr val="6B7B8D"/>
                </a:solidFill>
                <a:latin typeface="Quattrocento Sans" pitchFamily="34" charset="0"/>
                <a:ea typeface="Quattrocento Sans" pitchFamily="34" charset="-122"/>
                <a:cs typeface="Quattrocento Sans" pitchFamily="34" charset="-120"/>
              </a:rPr>
              <a:t>Vi ser direkt vad kommandon gör. Sköldpaddan rör sig på skärmen när vi trycker på tangenterna.</a:t>
            </a:r>
            <a:endParaRPr lang="en-US" sz="1600" dirty="0"/>
          </a:p>
        </p:txBody>
      </p:sp>
      <p:sp>
        <p:nvSpPr>
          <p:cNvPr id="13" name="Shape 10"/>
          <p:cNvSpPr/>
          <p:nvPr/>
        </p:nvSpPr>
        <p:spPr>
          <a:xfrm>
            <a:off x="10795000" y="1651000"/>
            <a:ext cx="4699000" cy="2032000"/>
          </a:xfrm>
          <a:prstGeom prst="roundRect">
            <a:avLst>
              <a:gd name="adj" fmla="val 8000"/>
            </a:avLst>
          </a:prstGeom>
          <a:solidFill>
            <a:srgbClr val="FFFFFF"/>
          </a:solidFill>
          <a:ln w="12700">
            <a:solidFill>
              <a:srgbClr val="D0D5DD"/>
            </a:solidFill>
            <a:prstDash val="solid"/>
          </a:ln>
        </p:spPr>
      </p:sp>
      <p:sp>
        <p:nvSpPr>
          <p:cNvPr id="14" name="Text 11"/>
          <p:cNvSpPr/>
          <p:nvPr/>
        </p:nvSpPr>
        <p:spPr>
          <a:xfrm>
            <a:off x="11049000" y="1841500"/>
            <a:ext cx="698500" cy="508000"/>
          </a:xfrm>
          <a:prstGeom prst="rect">
            <a:avLst/>
          </a:prstGeom>
          <a:noFill/>
          <a:ln/>
        </p:spPr>
        <p:txBody>
          <a:bodyPr wrap="none" lIns="0" tIns="0" rIns="0" bIns="0" rtlCol="0" anchor="ctr"/>
          <a:lstStyle/>
          <a:p>
            <a:pPr algn="ctr">
              <a:lnSpc>
                <a:spcPct val="100000"/>
              </a:lnSpc>
            </a:pPr>
            <a:r>
              <a:rPr lang="en-US" sz="2800" b="1" dirty="0">
                <a:solidFill>
                  <a:srgbClr val="D81B2E"/>
                </a:solidFill>
                <a:latin typeface="Liter" pitchFamily="34" charset="0"/>
                <a:ea typeface="Liter" pitchFamily="34" charset="-122"/>
                <a:cs typeface="Liter" pitchFamily="34" charset="-120"/>
              </a:rPr>
              <a:t>03</a:t>
            </a:r>
            <a:endParaRPr lang="en-US" sz="1600" dirty="0"/>
          </a:p>
        </p:txBody>
      </p:sp>
      <p:sp>
        <p:nvSpPr>
          <p:cNvPr id="15" name="Text 12"/>
          <p:cNvSpPr/>
          <p:nvPr/>
        </p:nvSpPr>
        <p:spPr>
          <a:xfrm>
            <a:off x="11811000" y="1879600"/>
            <a:ext cx="3429000" cy="3810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Ingen robot behövs</a:t>
            </a:r>
            <a:endParaRPr lang="en-US" sz="1600" dirty="0"/>
          </a:p>
        </p:txBody>
      </p:sp>
      <p:sp>
        <p:nvSpPr>
          <p:cNvPr id="16" name="Text 13"/>
          <p:cNvSpPr/>
          <p:nvPr/>
        </p:nvSpPr>
        <p:spPr>
          <a:xfrm>
            <a:off x="11049000" y="2413000"/>
            <a:ext cx="4191000" cy="1016000"/>
          </a:xfrm>
          <a:prstGeom prst="rect">
            <a:avLst/>
          </a:prstGeom>
          <a:noFill/>
          <a:ln/>
        </p:spPr>
        <p:txBody>
          <a:bodyPr wrap="square" lIns="0" tIns="0" rIns="0" bIns="0" rtlCol="0" anchor="t"/>
          <a:lstStyle/>
          <a:p>
            <a:pPr>
              <a:lnSpc>
                <a:spcPct val="150000"/>
              </a:lnSpc>
            </a:pPr>
            <a:r>
              <a:rPr lang="en-US" sz="1600" dirty="0">
                <a:solidFill>
                  <a:srgbClr val="6B7B8D"/>
                </a:solidFill>
                <a:latin typeface="Quattrocento Sans" pitchFamily="34" charset="0"/>
                <a:ea typeface="Quattrocento Sans" pitchFamily="34" charset="-122"/>
                <a:cs typeface="Quattrocento Sans" pitchFamily="34" charset="-120"/>
              </a:rPr>
              <a:t>Ingen hårdvara att skada eller felsöka. Perfekt för att experimentera och lära sig.</a:t>
            </a:r>
            <a:endParaRPr lang="en-US" sz="1600" dirty="0"/>
          </a:p>
        </p:txBody>
      </p:sp>
      <p:sp>
        <p:nvSpPr>
          <p:cNvPr id="17" name="Shape 14"/>
          <p:cNvSpPr/>
          <p:nvPr/>
        </p:nvSpPr>
        <p:spPr>
          <a:xfrm>
            <a:off x="762000" y="4064000"/>
            <a:ext cx="6858000" cy="2032000"/>
          </a:xfrm>
          <a:prstGeom prst="roundRect">
            <a:avLst>
              <a:gd name="adj" fmla="val 8000"/>
            </a:avLst>
          </a:prstGeom>
          <a:solidFill>
            <a:srgbClr val="FFFFFF"/>
          </a:solidFill>
          <a:ln w="12700">
            <a:solidFill>
              <a:srgbClr val="D0D5DD"/>
            </a:solidFill>
            <a:prstDash val="solid"/>
          </a:ln>
        </p:spPr>
      </p:sp>
      <p:sp>
        <p:nvSpPr>
          <p:cNvPr id="18" name="Text 15"/>
          <p:cNvSpPr/>
          <p:nvPr/>
        </p:nvSpPr>
        <p:spPr>
          <a:xfrm>
            <a:off x="1016000" y="4254500"/>
            <a:ext cx="698500" cy="508000"/>
          </a:xfrm>
          <a:prstGeom prst="rect">
            <a:avLst/>
          </a:prstGeom>
          <a:noFill/>
          <a:ln/>
        </p:spPr>
        <p:txBody>
          <a:bodyPr wrap="none" lIns="0" tIns="0" rIns="0" bIns="0" rtlCol="0" anchor="ctr"/>
          <a:lstStyle/>
          <a:p>
            <a:pPr algn="ctr">
              <a:lnSpc>
                <a:spcPct val="100000"/>
              </a:lnSpc>
            </a:pPr>
            <a:r>
              <a:rPr lang="en-US" sz="2800" b="1" dirty="0">
                <a:solidFill>
                  <a:srgbClr val="D81B2E"/>
                </a:solidFill>
                <a:latin typeface="Liter" pitchFamily="34" charset="0"/>
                <a:ea typeface="Liter" pitchFamily="34" charset="-122"/>
                <a:cs typeface="Liter" pitchFamily="34" charset="-120"/>
              </a:rPr>
              <a:t>04</a:t>
            </a:r>
            <a:endParaRPr lang="en-US" sz="1600" dirty="0"/>
          </a:p>
        </p:txBody>
      </p:sp>
      <p:sp>
        <p:nvSpPr>
          <p:cNvPr id="19" name="Text 16"/>
          <p:cNvSpPr/>
          <p:nvPr/>
        </p:nvSpPr>
        <p:spPr>
          <a:xfrm>
            <a:off x="1778000" y="4292600"/>
            <a:ext cx="5588000" cy="381000"/>
          </a:xfrm>
          <a:prstGeom prst="rect">
            <a:avLst/>
          </a:prstGeom>
          <a:noFill/>
          <a:ln/>
        </p:spPr>
        <p:txBody>
          <a:bodyPr wrap="none" lIns="0" tIns="0" rIns="0" bIns="0" rtlCol="0" anchor="ctr"/>
          <a:lstStyle/>
          <a:p>
            <a:pPr>
              <a:lnSpc>
                <a:spcPct val="100000"/>
              </a:lnSpc>
            </a:pPr>
            <a:r>
              <a:rPr lang="en-US" sz="2000" b="1" dirty="0">
                <a:solidFill>
                  <a:srgbClr val="1A2332"/>
                </a:solidFill>
                <a:latin typeface="Liter" pitchFamily="34" charset="0"/>
                <a:ea typeface="Liter" pitchFamily="34" charset="-122"/>
                <a:cs typeface="Liter" pitchFamily="34" charset="-120"/>
              </a:rPr>
              <a:t>Direkt feedback</a:t>
            </a:r>
            <a:endParaRPr lang="en-US" sz="1600" dirty="0"/>
          </a:p>
        </p:txBody>
      </p:sp>
      <p:sp>
        <p:nvSpPr>
          <p:cNvPr id="20" name="Text 17"/>
          <p:cNvSpPr/>
          <p:nvPr/>
        </p:nvSpPr>
        <p:spPr>
          <a:xfrm>
            <a:off x="1016000" y="4826000"/>
            <a:ext cx="6350000" cy="1016000"/>
          </a:xfrm>
          <a:prstGeom prst="rect">
            <a:avLst/>
          </a:prstGeom>
          <a:noFill/>
          <a:ln/>
        </p:spPr>
        <p:txBody>
          <a:bodyPr wrap="square" lIns="0" tIns="0" rIns="0" bIns="0" rtlCol="0" anchor="t"/>
          <a:lstStyle/>
          <a:p>
            <a:pPr>
              <a:lnSpc>
                <a:spcPct val="150000"/>
              </a:lnSpc>
            </a:pPr>
            <a:r>
              <a:rPr lang="en-US" sz="1600" dirty="0">
                <a:solidFill>
                  <a:srgbClr val="6B7B8D"/>
                </a:solidFill>
                <a:latin typeface="Quattrocento Sans" pitchFamily="34" charset="0"/>
                <a:ea typeface="Quattrocento Sans" pitchFamily="34" charset="-122"/>
                <a:cs typeface="Quattrocento Sans" pitchFamily="34" charset="-120"/>
              </a:rPr>
              <a:t>Eleverna ser direkt vad kommandon gör. Det skapar en intuitiv förståelse för hur ROS2 fungerar.</a:t>
            </a:r>
            <a:endParaRPr lang="en-US" sz="1600" dirty="0"/>
          </a:p>
        </p:txBody>
      </p:sp>
      <p:sp>
        <p:nvSpPr>
          <p:cNvPr id="21" name="Shape 18"/>
          <p:cNvSpPr/>
          <p:nvPr/>
        </p:nvSpPr>
        <p:spPr>
          <a:xfrm>
            <a:off x="8001000" y="4064000"/>
            <a:ext cx="7493000" cy="2032000"/>
          </a:xfrm>
          <a:prstGeom prst="roundRect">
            <a:avLst>
              <a:gd name="adj" fmla="val 8000"/>
            </a:avLst>
          </a:prstGeom>
          <a:solidFill>
            <a:srgbClr val="0F2B46"/>
          </a:solidFill>
          <a:ln/>
        </p:spPr>
      </p:sp>
      <p:sp>
        <p:nvSpPr>
          <p:cNvPr id="22" name="Text 19"/>
          <p:cNvSpPr/>
          <p:nvPr/>
        </p:nvSpPr>
        <p:spPr>
          <a:xfrm>
            <a:off x="8255000" y="4254500"/>
            <a:ext cx="698500" cy="508000"/>
          </a:xfrm>
          <a:prstGeom prst="rect">
            <a:avLst/>
          </a:prstGeom>
          <a:noFill/>
          <a:ln/>
        </p:spPr>
        <p:txBody>
          <a:bodyPr wrap="none" lIns="0" tIns="0" rIns="0" bIns="0" rtlCol="0" anchor="ctr"/>
          <a:lstStyle/>
          <a:p>
            <a:pPr algn="ctr">
              <a:lnSpc>
                <a:spcPct val="100000"/>
              </a:lnSpc>
            </a:pPr>
            <a:r>
              <a:rPr lang="en-US" sz="2800" b="1" dirty="0">
                <a:solidFill>
                  <a:srgbClr val="D81B2E"/>
                </a:solidFill>
                <a:latin typeface="Liter" pitchFamily="34" charset="0"/>
                <a:ea typeface="Liter" pitchFamily="34" charset="-122"/>
                <a:cs typeface="Liter" pitchFamily="34" charset="-120"/>
              </a:rPr>
              <a:t>05</a:t>
            </a:r>
            <a:endParaRPr lang="en-US" sz="1600" dirty="0"/>
          </a:p>
        </p:txBody>
      </p:sp>
      <p:sp>
        <p:nvSpPr>
          <p:cNvPr id="23" name="Text 20"/>
          <p:cNvSpPr/>
          <p:nvPr/>
        </p:nvSpPr>
        <p:spPr>
          <a:xfrm>
            <a:off x="9017000" y="4292600"/>
            <a:ext cx="6223000" cy="381000"/>
          </a:xfrm>
          <a:prstGeom prst="rect">
            <a:avLst/>
          </a:prstGeom>
          <a:noFill/>
          <a:ln/>
        </p:spPr>
        <p:txBody>
          <a:bodyPr wrap="none" lIns="0" tIns="0" rIns="0" bIns="0" rtlCol="0" anchor="ctr"/>
          <a:lstStyle/>
          <a:p>
            <a:pPr>
              <a:lnSpc>
                <a:spcPct val="100000"/>
              </a:lnSpc>
            </a:pPr>
            <a:r>
              <a:rPr lang="en-US" sz="2000" b="1" dirty="0">
                <a:solidFill>
                  <a:srgbClr val="FFFFFF"/>
                </a:solidFill>
                <a:latin typeface="Liter" pitchFamily="34" charset="0"/>
                <a:ea typeface="Liter" pitchFamily="34" charset="-122"/>
                <a:cs typeface="Liter" pitchFamily="34" charset="-120"/>
              </a:rPr>
              <a:t>Samma principer</a:t>
            </a:r>
            <a:endParaRPr lang="en-US" sz="1600" dirty="0"/>
          </a:p>
        </p:txBody>
      </p:sp>
      <p:sp>
        <p:nvSpPr>
          <p:cNvPr id="24" name="Text 21"/>
          <p:cNvSpPr/>
          <p:nvPr/>
        </p:nvSpPr>
        <p:spPr>
          <a:xfrm>
            <a:off x="8255000" y="4826000"/>
            <a:ext cx="6985000" cy="1016000"/>
          </a:xfrm>
          <a:prstGeom prst="rect">
            <a:avLst/>
          </a:prstGeom>
          <a:noFill/>
          <a:ln/>
        </p:spPr>
        <p:txBody>
          <a:bodyPr wrap="square" lIns="0" tIns="0" rIns="0" bIns="0" rtlCol="0" anchor="t"/>
          <a:lstStyle/>
          <a:p>
            <a:pPr>
              <a:lnSpc>
                <a:spcPct val="150000"/>
              </a:lnSpc>
            </a:pPr>
            <a:r>
              <a:rPr lang="en-US" sz="1600" dirty="0">
                <a:solidFill>
                  <a:srgbClr val="B0BEC5"/>
                </a:solidFill>
                <a:latin typeface="Quattrocento Sans" pitchFamily="34" charset="0"/>
                <a:ea typeface="Quattrocento Sans" pitchFamily="34" charset="-122"/>
                <a:cs typeface="Quattrocento Sans" pitchFamily="34" charset="-120"/>
              </a:rPr>
              <a:t>Allt vi lär oss med turtlesim gäller för riktiga robotar. Noder, topics, messages — allt är detsamma.</a:t>
            </a:r>
            <a:endParaRPr lang="en-US" sz="1600" dirty="0"/>
          </a:p>
        </p:txBody>
      </p:sp>
      <p:pic>
        <p:nvPicPr>
          <p:cNvPr id="25"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6" name="Text 22"/>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16</a:t>
            </a:r>
            <a:endParaRPr lang="en-US" sz="1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Turtlesim som första robotsystem</a:t>
            </a:r>
            <a:endParaRPr lang="en-US" sz="2800" dirty="0"/>
          </a:p>
        </p:txBody>
      </p:sp>
      <p:sp>
        <p:nvSpPr>
          <p:cNvPr id="5" name="Shape 2"/>
          <p:cNvSpPr/>
          <p:nvPr/>
        </p:nvSpPr>
        <p:spPr>
          <a:xfrm>
            <a:off x="762000" y="1651000"/>
            <a:ext cx="14732000" cy="4318000"/>
          </a:xfrm>
          <a:prstGeom prst="roundRect">
            <a:avLst>
              <a:gd name="adj" fmla="val 5000"/>
            </a:avLst>
          </a:prstGeom>
          <a:solidFill>
            <a:srgbClr val="FFFFFF"/>
          </a:solidFill>
          <a:ln w="12700">
            <a:solidFill>
              <a:srgbClr val="D0D5DD"/>
            </a:solidFill>
            <a:prstDash val="solid"/>
          </a:ln>
        </p:spPr>
      </p:sp>
      <p:sp>
        <p:nvSpPr>
          <p:cNvPr id="6" name="Text 3"/>
          <p:cNvSpPr/>
          <p:nvPr/>
        </p:nvSpPr>
        <p:spPr>
          <a:xfrm>
            <a:off x="1079500" y="1841500"/>
            <a:ext cx="5080000" cy="317500"/>
          </a:xfrm>
          <a:prstGeom prst="rect">
            <a:avLst/>
          </a:prstGeom>
          <a:noFill/>
          <a:ln/>
        </p:spPr>
        <p:txBody>
          <a:bodyPr wrap="none" lIns="0" tIns="0" rIns="0" bIns="0" rtlCol="0" anchor="ctr"/>
          <a:lstStyle/>
          <a:p>
            <a:pPr>
              <a:lnSpc>
                <a:spcPct val="100000"/>
              </a:lnSpc>
            </a:pPr>
            <a:r>
              <a:rPr lang="en-US" sz="1400" b="1" kern="0" spc="100" dirty="0">
                <a:solidFill>
                  <a:srgbClr val="6B7B8D"/>
                </a:solidFill>
                <a:latin typeface="Liter" pitchFamily="34" charset="0"/>
                <a:ea typeface="Liter" pitchFamily="34" charset="-122"/>
                <a:cs typeface="Liter" pitchFamily="34" charset="-120"/>
              </a:rPr>
              <a:t>DATAFLÖDE I TURTLESIM:</a:t>
            </a:r>
            <a:endParaRPr lang="en-US" sz="1600" dirty="0"/>
          </a:p>
        </p:txBody>
      </p:sp>
      <p:sp>
        <p:nvSpPr>
          <p:cNvPr id="7" name="Shape 4"/>
          <p:cNvSpPr/>
          <p:nvPr/>
        </p:nvSpPr>
        <p:spPr>
          <a:xfrm>
            <a:off x="1270000" y="2667000"/>
            <a:ext cx="3048000" cy="1143000"/>
          </a:xfrm>
          <a:prstGeom prst="roundRect">
            <a:avLst>
              <a:gd name="adj" fmla="val 8000"/>
            </a:avLst>
          </a:prstGeom>
          <a:solidFill>
            <a:srgbClr val="2D8A4E"/>
          </a:solidFill>
          <a:ln/>
        </p:spPr>
      </p:sp>
      <p:sp>
        <p:nvSpPr>
          <p:cNvPr id="8" name="Shape 5"/>
          <p:cNvSpPr/>
          <p:nvPr/>
        </p:nvSpPr>
        <p:spPr>
          <a:xfrm>
            <a:off x="1495425" y="2857500"/>
            <a:ext cx="514350" cy="457200"/>
          </a:xfrm>
          <a:custGeom>
            <a:avLst/>
            <a:gdLst/>
            <a:ahLst/>
            <a:cxnLst/>
            <a:rect l="l" t="t" r="r" b="b"/>
            <a:pathLst>
              <a:path w="514350" h="457200">
                <a:moveTo>
                  <a:pt x="57150" y="57150"/>
                </a:moveTo>
                <a:cubicBezTo>
                  <a:pt x="25628" y="57150"/>
                  <a:pt x="0" y="82778"/>
                  <a:pt x="0" y="114300"/>
                </a:cubicBezTo>
                <a:lnTo>
                  <a:pt x="0" y="342900"/>
                </a:lnTo>
                <a:cubicBezTo>
                  <a:pt x="0" y="374422"/>
                  <a:pt x="25628" y="400050"/>
                  <a:pt x="57150" y="400050"/>
                </a:cubicBezTo>
                <a:lnTo>
                  <a:pt x="457200" y="400050"/>
                </a:lnTo>
                <a:cubicBezTo>
                  <a:pt x="488722" y="400050"/>
                  <a:pt x="514350" y="374422"/>
                  <a:pt x="514350" y="342900"/>
                </a:cubicBezTo>
                <a:lnTo>
                  <a:pt x="514350" y="114300"/>
                </a:lnTo>
                <a:cubicBezTo>
                  <a:pt x="514350" y="82778"/>
                  <a:pt x="488722" y="57150"/>
                  <a:pt x="457200" y="57150"/>
                </a:cubicBezTo>
                <a:lnTo>
                  <a:pt x="57150" y="57150"/>
                </a:lnTo>
                <a:close/>
                <a:moveTo>
                  <a:pt x="71438" y="114300"/>
                </a:moveTo>
                <a:lnTo>
                  <a:pt x="100013" y="114300"/>
                </a:lnTo>
                <a:cubicBezTo>
                  <a:pt x="107871" y="114300"/>
                  <a:pt x="114300" y="120729"/>
                  <a:pt x="114300" y="128588"/>
                </a:cubicBezTo>
                <a:lnTo>
                  <a:pt x="114300" y="157163"/>
                </a:lnTo>
                <a:cubicBezTo>
                  <a:pt x="114300" y="165021"/>
                  <a:pt x="107871" y="171450"/>
                  <a:pt x="100013" y="171450"/>
                </a:cubicBezTo>
                <a:lnTo>
                  <a:pt x="71438" y="171450"/>
                </a:lnTo>
                <a:cubicBezTo>
                  <a:pt x="63579" y="171450"/>
                  <a:pt x="57150" y="165021"/>
                  <a:pt x="57150" y="157163"/>
                </a:cubicBezTo>
                <a:lnTo>
                  <a:pt x="57150" y="128588"/>
                </a:lnTo>
                <a:cubicBezTo>
                  <a:pt x="57150" y="120729"/>
                  <a:pt x="63579" y="114300"/>
                  <a:pt x="71438" y="114300"/>
                </a:cubicBezTo>
                <a:close/>
                <a:moveTo>
                  <a:pt x="57150" y="214313"/>
                </a:moveTo>
                <a:cubicBezTo>
                  <a:pt x="57150" y="206454"/>
                  <a:pt x="63579" y="200025"/>
                  <a:pt x="71438" y="200025"/>
                </a:cubicBezTo>
                <a:lnTo>
                  <a:pt x="100013" y="200025"/>
                </a:lnTo>
                <a:cubicBezTo>
                  <a:pt x="107871" y="200025"/>
                  <a:pt x="114300" y="206454"/>
                  <a:pt x="114300" y="214313"/>
                </a:cubicBezTo>
                <a:lnTo>
                  <a:pt x="114300" y="242888"/>
                </a:lnTo>
                <a:cubicBezTo>
                  <a:pt x="114300" y="250746"/>
                  <a:pt x="107871" y="257175"/>
                  <a:pt x="100013" y="257175"/>
                </a:cubicBezTo>
                <a:lnTo>
                  <a:pt x="71438" y="257175"/>
                </a:lnTo>
                <a:cubicBezTo>
                  <a:pt x="63579" y="257175"/>
                  <a:pt x="57150" y="250746"/>
                  <a:pt x="57150" y="242888"/>
                </a:cubicBezTo>
                <a:lnTo>
                  <a:pt x="57150" y="214313"/>
                </a:lnTo>
                <a:close/>
                <a:moveTo>
                  <a:pt x="157163" y="114300"/>
                </a:moveTo>
                <a:lnTo>
                  <a:pt x="185738" y="114300"/>
                </a:lnTo>
                <a:cubicBezTo>
                  <a:pt x="193596" y="114300"/>
                  <a:pt x="200025" y="120729"/>
                  <a:pt x="200025" y="128588"/>
                </a:cubicBezTo>
                <a:lnTo>
                  <a:pt x="200025" y="157163"/>
                </a:lnTo>
                <a:cubicBezTo>
                  <a:pt x="200025" y="165021"/>
                  <a:pt x="193596" y="171450"/>
                  <a:pt x="185738" y="171450"/>
                </a:cubicBezTo>
                <a:lnTo>
                  <a:pt x="157163" y="171450"/>
                </a:lnTo>
                <a:cubicBezTo>
                  <a:pt x="149304" y="171450"/>
                  <a:pt x="142875" y="165021"/>
                  <a:pt x="142875" y="157163"/>
                </a:cubicBezTo>
                <a:lnTo>
                  <a:pt x="142875" y="128588"/>
                </a:lnTo>
                <a:cubicBezTo>
                  <a:pt x="142875" y="120729"/>
                  <a:pt x="149304" y="114300"/>
                  <a:pt x="157163" y="114300"/>
                </a:cubicBezTo>
                <a:close/>
                <a:moveTo>
                  <a:pt x="142875" y="214313"/>
                </a:moveTo>
                <a:cubicBezTo>
                  <a:pt x="142875" y="206454"/>
                  <a:pt x="149304" y="200025"/>
                  <a:pt x="157163" y="200025"/>
                </a:cubicBezTo>
                <a:lnTo>
                  <a:pt x="185738" y="200025"/>
                </a:lnTo>
                <a:cubicBezTo>
                  <a:pt x="193596" y="200025"/>
                  <a:pt x="200025" y="206454"/>
                  <a:pt x="200025" y="214313"/>
                </a:cubicBezTo>
                <a:lnTo>
                  <a:pt x="200025" y="242888"/>
                </a:lnTo>
                <a:cubicBezTo>
                  <a:pt x="200025" y="250746"/>
                  <a:pt x="193596" y="257175"/>
                  <a:pt x="185738" y="257175"/>
                </a:cubicBezTo>
                <a:lnTo>
                  <a:pt x="157163" y="257175"/>
                </a:lnTo>
                <a:cubicBezTo>
                  <a:pt x="149304" y="257175"/>
                  <a:pt x="142875" y="250746"/>
                  <a:pt x="142875" y="242888"/>
                </a:cubicBezTo>
                <a:lnTo>
                  <a:pt x="142875" y="214313"/>
                </a:lnTo>
                <a:close/>
                <a:moveTo>
                  <a:pt x="157163" y="285750"/>
                </a:moveTo>
                <a:lnTo>
                  <a:pt x="357188" y="285750"/>
                </a:lnTo>
                <a:cubicBezTo>
                  <a:pt x="365046" y="285750"/>
                  <a:pt x="371475" y="292179"/>
                  <a:pt x="371475" y="300038"/>
                </a:cubicBezTo>
                <a:lnTo>
                  <a:pt x="371475" y="328613"/>
                </a:lnTo>
                <a:cubicBezTo>
                  <a:pt x="371475" y="336471"/>
                  <a:pt x="365046" y="342900"/>
                  <a:pt x="357188" y="342900"/>
                </a:cubicBezTo>
                <a:lnTo>
                  <a:pt x="157163" y="342900"/>
                </a:lnTo>
                <a:cubicBezTo>
                  <a:pt x="149304" y="342900"/>
                  <a:pt x="142875" y="336471"/>
                  <a:pt x="142875" y="328613"/>
                </a:cubicBezTo>
                <a:lnTo>
                  <a:pt x="142875" y="300038"/>
                </a:lnTo>
                <a:cubicBezTo>
                  <a:pt x="142875" y="292179"/>
                  <a:pt x="149304" y="285750"/>
                  <a:pt x="157163" y="285750"/>
                </a:cubicBezTo>
                <a:close/>
                <a:moveTo>
                  <a:pt x="228600" y="128588"/>
                </a:moveTo>
                <a:cubicBezTo>
                  <a:pt x="228600" y="120729"/>
                  <a:pt x="235029" y="114300"/>
                  <a:pt x="242888" y="114300"/>
                </a:cubicBezTo>
                <a:lnTo>
                  <a:pt x="271463" y="114300"/>
                </a:lnTo>
                <a:cubicBezTo>
                  <a:pt x="279321" y="114300"/>
                  <a:pt x="285750" y="120729"/>
                  <a:pt x="285750" y="128588"/>
                </a:cubicBezTo>
                <a:lnTo>
                  <a:pt x="285750" y="157163"/>
                </a:lnTo>
                <a:cubicBezTo>
                  <a:pt x="285750" y="165021"/>
                  <a:pt x="279321" y="171450"/>
                  <a:pt x="271463" y="171450"/>
                </a:cubicBezTo>
                <a:lnTo>
                  <a:pt x="242888" y="171450"/>
                </a:lnTo>
                <a:cubicBezTo>
                  <a:pt x="235029" y="171450"/>
                  <a:pt x="228600" y="165021"/>
                  <a:pt x="228600" y="157163"/>
                </a:cubicBezTo>
                <a:lnTo>
                  <a:pt x="228600" y="128588"/>
                </a:lnTo>
                <a:close/>
                <a:moveTo>
                  <a:pt x="242888" y="200025"/>
                </a:moveTo>
                <a:lnTo>
                  <a:pt x="271463" y="200025"/>
                </a:lnTo>
                <a:cubicBezTo>
                  <a:pt x="279321" y="200025"/>
                  <a:pt x="285750" y="206454"/>
                  <a:pt x="285750" y="214313"/>
                </a:cubicBezTo>
                <a:lnTo>
                  <a:pt x="285750" y="242888"/>
                </a:lnTo>
                <a:cubicBezTo>
                  <a:pt x="285750" y="250746"/>
                  <a:pt x="279321" y="257175"/>
                  <a:pt x="271463" y="257175"/>
                </a:cubicBezTo>
                <a:lnTo>
                  <a:pt x="242888" y="257175"/>
                </a:lnTo>
                <a:cubicBezTo>
                  <a:pt x="235029" y="257175"/>
                  <a:pt x="228600" y="250746"/>
                  <a:pt x="228600" y="242888"/>
                </a:cubicBezTo>
                <a:lnTo>
                  <a:pt x="228600" y="214313"/>
                </a:lnTo>
                <a:cubicBezTo>
                  <a:pt x="228600" y="206454"/>
                  <a:pt x="235029" y="200025"/>
                  <a:pt x="242888" y="200025"/>
                </a:cubicBezTo>
                <a:close/>
                <a:moveTo>
                  <a:pt x="314325" y="128588"/>
                </a:moveTo>
                <a:cubicBezTo>
                  <a:pt x="314325" y="120729"/>
                  <a:pt x="320754" y="114300"/>
                  <a:pt x="328613" y="114300"/>
                </a:cubicBezTo>
                <a:lnTo>
                  <a:pt x="357188" y="114300"/>
                </a:lnTo>
                <a:cubicBezTo>
                  <a:pt x="365046" y="114300"/>
                  <a:pt x="371475" y="120729"/>
                  <a:pt x="371475" y="128588"/>
                </a:cubicBezTo>
                <a:lnTo>
                  <a:pt x="371475" y="157163"/>
                </a:lnTo>
                <a:cubicBezTo>
                  <a:pt x="371475" y="165021"/>
                  <a:pt x="365046" y="171450"/>
                  <a:pt x="357188" y="171450"/>
                </a:cubicBezTo>
                <a:lnTo>
                  <a:pt x="328613" y="171450"/>
                </a:lnTo>
                <a:cubicBezTo>
                  <a:pt x="320754" y="171450"/>
                  <a:pt x="314325" y="165021"/>
                  <a:pt x="314325" y="157163"/>
                </a:cubicBezTo>
                <a:lnTo>
                  <a:pt x="314325" y="128588"/>
                </a:lnTo>
                <a:close/>
                <a:moveTo>
                  <a:pt x="328613" y="200025"/>
                </a:moveTo>
                <a:lnTo>
                  <a:pt x="357188" y="200025"/>
                </a:lnTo>
                <a:cubicBezTo>
                  <a:pt x="365046" y="200025"/>
                  <a:pt x="371475" y="206454"/>
                  <a:pt x="371475" y="214313"/>
                </a:cubicBezTo>
                <a:lnTo>
                  <a:pt x="371475" y="242888"/>
                </a:lnTo>
                <a:cubicBezTo>
                  <a:pt x="371475" y="250746"/>
                  <a:pt x="365046" y="257175"/>
                  <a:pt x="357188" y="257175"/>
                </a:cubicBezTo>
                <a:lnTo>
                  <a:pt x="328613" y="257175"/>
                </a:lnTo>
                <a:cubicBezTo>
                  <a:pt x="320754" y="257175"/>
                  <a:pt x="314325" y="250746"/>
                  <a:pt x="314325" y="242888"/>
                </a:cubicBezTo>
                <a:lnTo>
                  <a:pt x="314325" y="214313"/>
                </a:lnTo>
                <a:cubicBezTo>
                  <a:pt x="314325" y="206454"/>
                  <a:pt x="320754" y="200025"/>
                  <a:pt x="328613" y="200025"/>
                </a:cubicBezTo>
                <a:close/>
                <a:moveTo>
                  <a:pt x="400050" y="128588"/>
                </a:moveTo>
                <a:cubicBezTo>
                  <a:pt x="400050" y="120729"/>
                  <a:pt x="406479" y="114300"/>
                  <a:pt x="414338" y="114300"/>
                </a:cubicBezTo>
                <a:lnTo>
                  <a:pt x="442913" y="114300"/>
                </a:lnTo>
                <a:cubicBezTo>
                  <a:pt x="450771" y="114300"/>
                  <a:pt x="457200" y="120729"/>
                  <a:pt x="457200" y="128588"/>
                </a:cubicBezTo>
                <a:lnTo>
                  <a:pt x="457200" y="157163"/>
                </a:lnTo>
                <a:cubicBezTo>
                  <a:pt x="457200" y="165021"/>
                  <a:pt x="450771" y="171450"/>
                  <a:pt x="442913" y="171450"/>
                </a:cubicBezTo>
                <a:lnTo>
                  <a:pt x="414338" y="171450"/>
                </a:lnTo>
                <a:cubicBezTo>
                  <a:pt x="406479" y="171450"/>
                  <a:pt x="400050" y="165021"/>
                  <a:pt x="400050" y="157163"/>
                </a:cubicBezTo>
                <a:lnTo>
                  <a:pt x="400050" y="128588"/>
                </a:lnTo>
                <a:close/>
                <a:moveTo>
                  <a:pt x="414338" y="200025"/>
                </a:moveTo>
                <a:lnTo>
                  <a:pt x="442913" y="200025"/>
                </a:lnTo>
                <a:cubicBezTo>
                  <a:pt x="450771" y="200025"/>
                  <a:pt x="457200" y="206454"/>
                  <a:pt x="457200" y="214313"/>
                </a:cubicBezTo>
                <a:lnTo>
                  <a:pt x="457200" y="242888"/>
                </a:lnTo>
                <a:cubicBezTo>
                  <a:pt x="457200" y="250746"/>
                  <a:pt x="450771" y="257175"/>
                  <a:pt x="442913" y="257175"/>
                </a:cubicBezTo>
                <a:lnTo>
                  <a:pt x="414338" y="257175"/>
                </a:lnTo>
                <a:cubicBezTo>
                  <a:pt x="406479" y="257175"/>
                  <a:pt x="400050" y="250746"/>
                  <a:pt x="400050" y="242888"/>
                </a:cubicBezTo>
                <a:lnTo>
                  <a:pt x="400050" y="214313"/>
                </a:lnTo>
                <a:cubicBezTo>
                  <a:pt x="400050" y="206454"/>
                  <a:pt x="406479" y="200025"/>
                  <a:pt x="414338" y="200025"/>
                </a:cubicBezTo>
                <a:close/>
              </a:path>
            </a:pathLst>
          </a:custGeom>
          <a:solidFill>
            <a:srgbClr val="FFFFFF"/>
          </a:solidFill>
          <a:ln/>
        </p:spPr>
      </p:sp>
      <p:sp>
        <p:nvSpPr>
          <p:cNvPr id="9" name="Text 6"/>
          <p:cNvSpPr/>
          <p:nvPr/>
        </p:nvSpPr>
        <p:spPr>
          <a:xfrm>
            <a:off x="2095500" y="2794000"/>
            <a:ext cx="2032000" cy="889000"/>
          </a:xfrm>
          <a:prstGeom prst="rect">
            <a:avLst/>
          </a:prstGeom>
          <a:noFill/>
          <a:ln/>
        </p:spPr>
        <p:txBody>
          <a:bodyPr wrap="square" lIns="0" tIns="0" rIns="0" bIns="0" rtlCol="0" anchor="ctr"/>
          <a:lstStyle/>
          <a:p>
            <a:pPr>
              <a:lnSpc>
                <a:spcPct val="130000"/>
              </a:lnSpc>
            </a:pPr>
            <a:r>
              <a:rPr lang="en-US" sz="1500" b="1" dirty="0">
                <a:solidFill>
                  <a:srgbClr val="FFFFFF"/>
                </a:solidFill>
                <a:latin typeface="Liter" pitchFamily="34" charset="0"/>
                <a:ea typeface="Liter" pitchFamily="34" charset="-122"/>
                <a:cs typeface="Liter" pitchFamily="34" charset="-120"/>
              </a:rPr>
              <a:t>turtle_teleop</a:t>
            </a:r>
            <a:endParaRPr lang="en-US" sz="1600" dirty="0"/>
          </a:p>
          <a:p>
            <a:pPr>
              <a:lnSpc>
                <a:spcPct val="130000"/>
              </a:lnSpc>
            </a:pPr>
            <a:r>
              <a:rPr lang="en-US" sz="1500" b="1" dirty="0">
                <a:solidFill>
                  <a:srgbClr val="FFFFFF"/>
                </a:solidFill>
                <a:latin typeface="Liter" pitchFamily="34" charset="0"/>
                <a:ea typeface="Liter" pitchFamily="34" charset="-122"/>
                <a:cs typeface="Liter" pitchFamily="34" charset="-120"/>
              </a:rPr>
              <a:t>_key</a:t>
            </a:r>
            <a:endParaRPr lang="en-US" sz="1600" dirty="0"/>
          </a:p>
          <a:p>
            <a:pPr>
              <a:lnSpc>
                <a:spcPct val="130000"/>
              </a:lnSpc>
            </a:pPr>
            <a:r>
              <a:rPr lang="en-US" sz="1200" dirty="0">
                <a:solidFill>
                  <a:srgbClr val="FFFFFF"/>
                </a:solidFill>
                <a:latin typeface="Liter" pitchFamily="34" charset="0"/>
                <a:ea typeface="Liter" pitchFamily="34" charset="-122"/>
                <a:cs typeface="Liter" pitchFamily="34" charset="-120"/>
              </a:rPr>
              <a:t>Publisher</a:t>
            </a:r>
            <a:endParaRPr lang="en-US" sz="1600" dirty="0"/>
          </a:p>
        </p:txBody>
      </p:sp>
      <p:sp>
        <p:nvSpPr>
          <p:cNvPr id="10" name="Shape 7"/>
          <p:cNvSpPr/>
          <p:nvPr/>
        </p:nvSpPr>
        <p:spPr>
          <a:xfrm>
            <a:off x="4572000" y="3175000"/>
            <a:ext cx="1778000" cy="0"/>
          </a:xfrm>
          <a:prstGeom prst="straightConnector1">
            <a:avLst/>
          </a:prstGeom>
          <a:noFill/>
          <a:ln w="38100">
            <a:solidFill>
              <a:srgbClr val="D81B2E"/>
            </a:solidFill>
            <a:prstDash val="solid"/>
            <a:headEnd type="none"/>
            <a:tailEnd type="arrow"/>
          </a:ln>
        </p:spPr>
      </p:sp>
      <p:sp>
        <p:nvSpPr>
          <p:cNvPr id="11" name="Shape 8"/>
          <p:cNvSpPr/>
          <p:nvPr/>
        </p:nvSpPr>
        <p:spPr>
          <a:xfrm>
            <a:off x="6604000" y="2667000"/>
            <a:ext cx="3556000" cy="1143000"/>
          </a:xfrm>
          <a:prstGeom prst="roundRect">
            <a:avLst>
              <a:gd name="adj" fmla="val 8000"/>
            </a:avLst>
          </a:prstGeom>
          <a:solidFill>
            <a:srgbClr val="D81B2E"/>
          </a:solidFill>
          <a:ln/>
        </p:spPr>
      </p:sp>
      <p:sp>
        <p:nvSpPr>
          <p:cNvPr id="12" name="Text 9"/>
          <p:cNvSpPr/>
          <p:nvPr/>
        </p:nvSpPr>
        <p:spPr>
          <a:xfrm>
            <a:off x="6731000" y="2857500"/>
            <a:ext cx="3302000" cy="762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/turtle1/cmd_vel</a:t>
            </a:r>
            <a:endParaRPr lang="en-US" sz="1600" dirty="0"/>
          </a:p>
          <a:p>
            <a:pPr algn="ctr">
              <a:lnSpc>
                <a:spcPct val="130000"/>
              </a:lnSpc>
            </a:pPr>
            <a:r>
              <a:rPr lang="en-US" sz="1200" dirty="0">
                <a:solidFill>
                  <a:srgbClr val="FFFFFF"/>
                </a:solidFill>
                <a:latin typeface="Liter" pitchFamily="34" charset="0"/>
                <a:ea typeface="Liter" pitchFamily="34" charset="-122"/>
                <a:cs typeface="Liter" pitchFamily="34" charset="-120"/>
              </a:rPr>
              <a:t>Topic</a:t>
            </a:r>
            <a:endParaRPr lang="en-US" sz="1600" dirty="0"/>
          </a:p>
        </p:txBody>
      </p:sp>
      <p:sp>
        <p:nvSpPr>
          <p:cNvPr id="13" name="Shape 10"/>
          <p:cNvSpPr/>
          <p:nvPr/>
        </p:nvSpPr>
        <p:spPr>
          <a:xfrm>
            <a:off x="10414000" y="3175000"/>
            <a:ext cx="1778000" cy="0"/>
          </a:xfrm>
          <a:prstGeom prst="straightConnector1">
            <a:avLst/>
          </a:prstGeom>
          <a:noFill/>
          <a:ln w="38100">
            <a:solidFill>
              <a:srgbClr val="0F2B46"/>
            </a:solidFill>
            <a:prstDash val="solid"/>
            <a:headEnd type="none"/>
            <a:tailEnd type="arrow"/>
          </a:ln>
        </p:spPr>
      </p:sp>
      <p:sp>
        <p:nvSpPr>
          <p:cNvPr id="14" name="Shape 11"/>
          <p:cNvSpPr/>
          <p:nvPr/>
        </p:nvSpPr>
        <p:spPr>
          <a:xfrm>
            <a:off x="12446000" y="2667000"/>
            <a:ext cx="2540000" cy="1143000"/>
          </a:xfrm>
          <a:prstGeom prst="roundRect">
            <a:avLst>
              <a:gd name="adj" fmla="val 8000"/>
            </a:avLst>
          </a:prstGeom>
          <a:solidFill>
            <a:srgbClr val="0F2B46"/>
          </a:solidFill>
          <a:ln/>
        </p:spPr>
      </p:sp>
      <p:sp>
        <p:nvSpPr>
          <p:cNvPr id="15" name="Shape 12"/>
          <p:cNvSpPr/>
          <p:nvPr/>
        </p:nvSpPr>
        <p:spPr>
          <a:xfrm>
            <a:off x="12700000" y="2857500"/>
            <a:ext cx="457200" cy="457200"/>
          </a:xfrm>
          <a:custGeom>
            <a:avLst/>
            <a:gdLst/>
            <a:ahLst/>
            <a:cxnLst/>
            <a:rect l="l" t="t" r="r" b="b"/>
            <a:pathLst>
              <a:path w="457200" h="457200"/>
            </a:pathLst>
          </a:custGeom>
          <a:solidFill>
            <a:srgbClr val="FFFFFF"/>
          </a:solidFill>
          <a:ln/>
        </p:spPr>
      </p:sp>
      <p:sp>
        <p:nvSpPr>
          <p:cNvPr id="16" name="Text 13"/>
          <p:cNvSpPr/>
          <p:nvPr/>
        </p:nvSpPr>
        <p:spPr>
          <a:xfrm>
            <a:off x="13271500" y="2794000"/>
            <a:ext cx="1587500" cy="889000"/>
          </a:xfrm>
          <a:prstGeom prst="rect">
            <a:avLst/>
          </a:prstGeom>
          <a:noFill/>
          <a:ln/>
        </p:spPr>
        <p:txBody>
          <a:bodyPr wrap="square" lIns="0" tIns="0" rIns="0" bIns="0" rtlCol="0" anchor="ctr"/>
          <a:lstStyle/>
          <a:p>
            <a:pPr>
              <a:lnSpc>
                <a:spcPct val="130000"/>
              </a:lnSpc>
            </a:pPr>
            <a:r>
              <a:rPr lang="en-US" sz="1500" b="1" dirty="0">
                <a:solidFill>
                  <a:srgbClr val="FFFFFF"/>
                </a:solidFill>
                <a:latin typeface="Liter" pitchFamily="34" charset="0"/>
                <a:ea typeface="Liter" pitchFamily="34" charset="-122"/>
                <a:cs typeface="Liter" pitchFamily="34" charset="-120"/>
              </a:rPr>
              <a:t>turtlesim</a:t>
            </a:r>
            <a:endParaRPr lang="en-US" sz="1600" dirty="0"/>
          </a:p>
          <a:p>
            <a:pPr>
              <a:lnSpc>
                <a:spcPct val="130000"/>
              </a:lnSpc>
            </a:pPr>
            <a:r>
              <a:rPr lang="en-US" sz="1200" dirty="0">
                <a:solidFill>
                  <a:srgbClr val="FFFFFF"/>
                </a:solidFill>
                <a:latin typeface="Liter" pitchFamily="34" charset="0"/>
                <a:ea typeface="Liter" pitchFamily="34" charset="-122"/>
                <a:cs typeface="Liter" pitchFamily="34" charset="-120"/>
              </a:rPr>
              <a:t>Subscriber</a:t>
            </a:r>
            <a:endParaRPr lang="en-US" sz="1600" dirty="0"/>
          </a:p>
        </p:txBody>
      </p:sp>
      <p:sp>
        <p:nvSpPr>
          <p:cNvPr id="17" name="Text 14"/>
          <p:cNvSpPr/>
          <p:nvPr/>
        </p:nvSpPr>
        <p:spPr>
          <a:xfrm>
            <a:off x="6604000" y="4000500"/>
            <a:ext cx="3556000" cy="317500"/>
          </a:xfrm>
          <a:prstGeom prst="rect">
            <a:avLst/>
          </a:prstGeom>
          <a:noFill/>
          <a:ln/>
        </p:spPr>
        <p:txBody>
          <a:bodyPr wrap="none" lIns="0" tIns="0" rIns="0" bIns="0" rtlCol="0" anchor="ctr"/>
          <a:lstStyle/>
          <a:p>
            <a:pPr algn="ctr">
              <a:lnSpc>
                <a:spcPct val="100000"/>
              </a:lnSpc>
            </a:pPr>
            <a:r>
              <a:rPr lang="en-US" sz="1400" dirty="0">
                <a:solidFill>
                  <a:srgbClr val="6B7B8D"/>
                </a:solidFill>
                <a:latin typeface="Quattrocento Sans" pitchFamily="34" charset="0"/>
                <a:ea typeface="Quattrocento Sans" pitchFamily="34" charset="-122"/>
                <a:cs typeface="Quattrocento Sans" pitchFamily="34" charset="-120"/>
              </a:rPr>
              <a:t>← Skickar tillbaka position →</a:t>
            </a:r>
            <a:endParaRPr lang="en-US" sz="1600" dirty="0"/>
          </a:p>
        </p:txBody>
      </p:sp>
      <p:sp>
        <p:nvSpPr>
          <p:cNvPr id="18" name="Shape 15"/>
          <p:cNvSpPr/>
          <p:nvPr/>
        </p:nvSpPr>
        <p:spPr>
          <a:xfrm>
            <a:off x="6604000" y="4445000"/>
            <a:ext cx="3556000" cy="889000"/>
          </a:xfrm>
          <a:prstGeom prst="roundRect">
            <a:avLst>
              <a:gd name="adj" fmla="val 8000"/>
            </a:avLst>
          </a:prstGeom>
          <a:solidFill>
            <a:srgbClr val="6B7B8D"/>
          </a:solidFill>
          <a:ln/>
        </p:spPr>
      </p:sp>
      <p:sp>
        <p:nvSpPr>
          <p:cNvPr id="19" name="Text 16"/>
          <p:cNvSpPr/>
          <p:nvPr/>
        </p:nvSpPr>
        <p:spPr>
          <a:xfrm>
            <a:off x="6731000" y="4572000"/>
            <a:ext cx="3302000" cy="6350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/turtle1/pose</a:t>
            </a:r>
            <a:endParaRPr lang="en-US" sz="1600" dirty="0"/>
          </a:p>
          <a:p>
            <a:pPr algn="ctr">
              <a:lnSpc>
                <a:spcPct val="130000"/>
              </a:lnSpc>
            </a:pPr>
            <a:r>
              <a:rPr lang="en-US" sz="1200" dirty="0">
                <a:solidFill>
                  <a:srgbClr val="FFFFFF"/>
                </a:solidFill>
                <a:latin typeface="Liter" pitchFamily="34" charset="0"/>
                <a:ea typeface="Liter" pitchFamily="34" charset="-122"/>
                <a:cs typeface="Liter" pitchFamily="34" charset="-120"/>
              </a:rPr>
              <a:t>Sköldpaddans position</a:t>
            </a:r>
            <a:endParaRPr lang="en-US" sz="1600" dirty="0"/>
          </a:p>
        </p:txBody>
      </p:sp>
      <p:sp>
        <p:nvSpPr>
          <p:cNvPr id="20" name="Shape 17"/>
          <p:cNvSpPr/>
          <p:nvPr/>
        </p:nvSpPr>
        <p:spPr>
          <a:xfrm>
            <a:off x="762000" y="6350000"/>
            <a:ext cx="14732000" cy="1270000"/>
          </a:xfrm>
          <a:prstGeom prst="roundRect">
            <a:avLst>
              <a:gd name="adj" fmla="val 8000"/>
            </a:avLst>
          </a:prstGeom>
          <a:solidFill>
            <a:srgbClr val="E8EBF0"/>
          </a:solidFill>
          <a:ln w="12700">
            <a:solidFill>
              <a:srgbClr val="D0D5DD"/>
            </a:solidFill>
            <a:prstDash val="solid"/>
          </a:ln>
        </p:spPr>
      </p:sp>
      <p:sp>
        <p:nvSpPr>
          <p:cNvPr id="21" name="Shape 18"/>
          <p:cNvSpPr/>
          <p:nvPr/>
        </p:nvSpPr>
        <p:spPr>
          <a:xfrm>
            <a:off x="762000" y="6350000"/>
            <a:ext cx="63500" cy="1270000"/>
          </a:xfrm>
          <a:prstGeom prst="rect">
            <a:avLst/>
          </a:prstGeom>
          <a:solidFill>
            <a:srgbClr val="D81B2E"/>
          </a:solidFill>
          <a:ln/>
        </p:spPr>
      </p:sp>
      <p:sp>
        <p:nvSpPr>
          <p:cNvPr id="22" name="Text 19"/>
          <p:cNvSpPr/>
          <p:nvPr/>
        </p:nvSpPr>
        <p:spPr>
          <a:xfrm>
            <a:off x="1143000" y="6477000"/>
            <a:ext cx="13970000" cy="1016000"/>
          </a:xfrm>
          <a:prstGeom prst="rect">
            <a:avLst/>
          </a:prstGeom>
          <a:noFill/>
          <a:ln/>
        </p:spPr>
        <p:txBody>
          <a:bodyPr wrap="square" lIns="0" tIns="0" rIns="0" bIns="0" rtlCol="0" anchor="ctr"/>
          <a:lstStyle/>
          <a:p>
            <a:pPr>
              <a:lnSpc>
                <a:spcPct val="160000"/>
              </a:lnSpc>
            </a:pPr>
            <a:r>
              <a:rPr lang="en-US" sz="1800" b="1" dirty="0">
                <a:solidFill>
                  <a:srgbClr val="1A2332"/>
                </a:solidFill>
                <a:latin typeface="Quattrocento Sans" pitchFamily="34" charset="0"/>
                <a:ea typeface="Quattrocento Sans" pitchFamily="34" charset="-122"/>
                <a:cs typeface="Quattrocento Sans" pitchFamily="34" charset="-120"/>
              </a:rPr>
              <a:t>cmd_vel</a:t>
            </a:r>
            <a:r>
              <a:rPr lang="en-US" sz="1800" dirty="0">
                <a:solidFill>
                  <a:srgbClr val="1A2332"/>
                </a:solidFill>
                <a:latin typeface="Quattrocento Sans" pitchFamily="34" charset="0"/>
                <a:ea typeface="Quattrocento Sans" pitchFamily="34" charset="-122"/>
                <a:cs typeface="Quattrocento Sans" pitchFamily="34" charset="-120"/>
              </a:rPr>
              <a:t> = kommando till sköldpaddan (hastighet och rotation)</a:t>
            </a:r>
            <a:endParaRPr lang="en-US" sz="1600" dirty="0"/>
          </a:p>
          <a:p>
            <a:pPr>
              <a:lnSpc>
                <a:spcPct val="160000"/>
              </a:lnSpc>
            </a:pPr>
            <a:r>
              <a:rPr lang="en-US" sz="1800" b="1" dirty="0">
                <a:solidFill>
                  <a:srgbClr val="1A2332"/>
                </a:solidFill>
                <a:latin typeface="Quattrocento Sans" pitchFamily="34" charset="0"/>
                <a:ea typeface="Quattrocento Sans" pitchFamily="34" charset="-122"/>
                <a:cs typeface="Quattrocento Sans" pitchFamily="34" charset="-120"/>
              </a:rPr>
              <a:t>pose</a:t>
            </a:r>
            <a:r>
              <a:rPr lang="en-US" sz="1800" dirty="0">
                <a:solidFill>
                  <a:srgbClr val="1A2332"/>
                </a:solidFill>
                <a:latin typeface="Quattrocento Sans" pitchFamily="34" charset="0"/>
                <a:ea typeface="Quattrocento Sans" pitchFamily="34" charset="-122"/>
                <a:cs typeface="Quattrocento Sans" pitchFamily="34" charset="-120"/>
              </a:rPr>
              <a:t> = sköldpaddans aktuella position och riktning</a:t>
            </a:r>
            <a:endParaRPr lang="en-US" sz="1600" dirty="0"/>
          </a:p>
        </p:txBody>
      </p:sp>
      <p:pic>
        <p:nvPicPr>
          <p:cNvPr id="23"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4" name="Text 20"/>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17</a:t>
            </a:r>
            <a:endParaRPr lang="en-US" sz="14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Vår utvecklingsmiljö</a:t>
            </a:r>
            <a:endParaRPr lang="en-US" sz="2800" dirty="0"/>
          </a:p>
        </p:txBody>
      </p:sp>
      <p:sp>
        <p:nvSpPr>
          <p:cNvPr id="5" name="Shape 2"/>
          <p:cNvSpPr/>
          <p:nvPr/>
        </p:nvSpPr>
        <p:spPr>
          <a:xfrm>
            <a:off x="762000" y="1587500"/>
            <a:ext cx="14732000" cy="2032000"/>
          </a:xfrm>
          <a:prstGeom prst="roundRect">
            <a:avLst>
              <a:gd name="adj" fmla="val 5000"/>
            </a:avLst>
          </a:prstGeom>
          <a:solidFill>
            <a:srgbClr val="FFFFFF"/>
          </a:solidFill>
          <a:ln w="12700">
            <a:solidFill>
              <a:srgbClr val="D0D5DD"/>
            </a:solidFill>
            <a:prstDash val="solid"/>
          </a:ln>
        </p:spPr>
      </p:sp>
      <p:sp>
        <p:nvSpPr>
          <p:cNvPr id="6" name="Shape 3"/>
          <p:cNvSpPr/>
          <p:nvPr/>
        </p:nvSpPr>
        <p:spPr>
          <a:xfrm>
            <a:off x="1270000" y="1968500"/>
            <a:ext cx="2540000" cy="1270000"/>
          </a:xfrm>
          <a:prstGeom prst="roundRect">
            <a:avLst>
              <a:gd name="adj" fmla="val 8000"/>
            </a:avLst>
          </a:prstGeom>
          <a:solidFill>
            <a:srgbClr val="E8EEF5"/>
          </a:solidFill>
          <a:ln w="25400">
            <a:solidFill>
              <a:srgbClr val="0078D4"/>
            </a:solidFill>
            <a:prstDash val="solid"/>
          </a:ln>
        </p:spPr>
      </p:sp>
      <p:sp>
        <p:nvSpPr>
          <p:cNvPr id="7" name="Shape 4"/>
          <p:cNvSpPr/>
          <p:nvPr/>
        </p:nvSpPr>
        <p:spPr>
          <a:xfrm>
            <a:off x="2190750" y="2095500"/>
            <a:ext cx="444500" cy="508000"/>
          </a:xfrm>
          <a:custGeom>
            <a:avLst/>
            <a:gdLst/>
            <a:ahLst/>
            <a:cxnLst/>
            <a:rect l="l" t="t" r="r" b="b"/>
            <a:pathLst>
              <a:path w="444500" h="508000">
                <a:moveTo>
                  <a:pt x="0" y="92968"/>
                </a:moveTo>
                <a:lnTo>
                  <a:pt x="182166" y="67866"/>
                </a:lnTo>
                <a:lnTo>
                  <a:pt x="182166" y="243880"/>
                </a:lnTo>
                <a:lnTo>
                  <a:pt x="0" y="243880"/>
                </a:lnTo>
                <a:lnTo>
                  <a:pt x="0" y="92968"/>
                </a:lnTo>
                <a:close/>
                <a:moveTo>
                  <a:pt x="0" y="415032"/>
                </a:moveTo>
                <a:lnTo>
                  <a:pt x="182166" y="440134"/>
                </a:lnTo>
                <a:lnTo>
                  <a:pt x="182166" y="266303"/>
                </a:lnTo>
                <a:lnTo>
                  <a:pt x="0" y="266303"/>
                </a:lnTo>
                <a:lnTo>
                  <a:pt x="0" y="415032"/>
                </a:lnTo>
                <a:close/>
                <a:moveTo>
                  <a:pt x="202208" y="442813"/>
                </a:moveTo>
                <a:lnTo>
                  <a:pt x="444500" y="476250"/>
                </a:lnTo>
                <a:lnTo>
                  <a:pt x="444500" y="266303"/>
                </a:lnTo>
                <a:lnTo>
                  <a:pt x="202208" y="266303"/>
                </a:lnTo>
                <a:lnTo>
                  <a:pt x="202208" y="442813"/>
                </a:lnTo>
                <a:close/>
                <a:moveTo>
                  <a:pt x="202208" y="65187"/>
                </a:moveTo>
                <a:lnTo>
                  <a:pt x="202208" y="243880"/>
                </a:lnTo>
                <a:lnTo>
                  <a:pt x="444500" y="243880"/>
                </a:lnTo>
                <a:lnTo>
                  <a:pt x="444500" y="31750"/>
                </a:lnTo>
                <a:lnTo>
                  <a:pt x="202208" y="65187"/>
                </a:lnTo>
                <a:close/>
              </a:path>
            </a:pathLst>
          </a:custGeom>
          <a:solidFill>
            <a:srgbClr val="0078D4"/>
          </a:solidFill>
          <a:ln/>
        </p:spPr>
      </p:sp>
      <p:sp>
        <p:nvSpPr>
          <p:cNvPr id="8" name="Text 5"/>
          <p:cNvSpPr/>
          <p:nvPr/>
        </p:nvSpPr>
        <p:spPr>
          <a:xfrm>
            <a:off x="1397000" y="2667000"/>
            <a:ext cx="2286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Windows</a:t>
            </a:r>
            <a:endParaRPr lang="en-US" sz="1600" dirty="0"/>
          </a:p>
        </p:txBody>
      </p:sp>
      <p:sp>
        <p:nvSpPr>
          <p:cNvPr id="9" name="Shape 6"/>
          <p:cNvSpPr/>
          <p:nvPr/>
        </p:nvSpPr>
        <p:spPr>
          <a:xfrm>
            <a:off x="4064000" y="2540000"/>
            <a:ext cx="1016000" cy="0"/>
          </a:xfrm>
          <a:prstGeom prst="straightConnector1">
            <a:avLst/>
          </a:prstGeom>
          <a:noFill/>
          <a:ln w="25400">
            <a:solidFill>
              <a:srgbClr val="D81B2E"/>
            </a:solidFill>
            <a:prstDash val="solid"/>
            <a:headEnd type="none"/>
            <a:tailEnd type="arrow"/>
          </a:ln>
        </p:spPr>
      </p:sp>
      <p:sp>
        <p:nvSpPr>
          <p:cNvPr id="10" name="Shape 7"/>
          <p:cNvSpPr/>
          <p:nvPr/>
        </p:nvSpPr>
        <p:spPr>
          <a:xfrm>
            <a:off x="5334000" y="1968500"/>
            <a:ext cx="2540000" cy="1270000"/>
          </a:xfrm>
          <a:prstGeom prst="roundRect">
            <a:avLst>
              <a:gd name="adj" fmla="val 8000"/>
            </a:avLst>
          </a:prstGeom>
          <a:solidFill>
            <a:srgbClr val="E8EEF5"/>
          </a:solidFill>
          <a:ln w="25400">
            <a:solidFill>
              <a:srgbClr val="0F2B46"/>
            </a:solidFill>
            <a:prstDash val="solid"/>
          </a:ln>
        </p:spPr>
      </p:sp>
      <p:sp>
        <p:nvSpPr>
          <p:cNvPr id="11" name="Shape 8"/>
          <p:cNvSpPr/>
          <p:nvPr/>
        </p:nvSpPr>
        <p:spPr>
          <a:xfrm>
            <a:off x="6191250" y="2095500"/>
            <a:ext cx="571500" cy="508000"/>
          </a:xfrm>
          <a:custGeom>
            <a:avLst/>
            <a:gdLst/>
            <a:ahLst/>
            <a:cxnLst/>
            <a:rect l="l" t="t" r="r" b="b"/>
            <a:pathLst>
              <a:path w="571500" h="508000">
                <a:moveTo>
                  <a:pt x="465534" y="74414"/>
                </a:moveTo>
                <a:cubicBezTo>
                  <a:pt x="465534" y="54471"/>
                  <a:pt x="457597" y="35421"/>
                  <a:pt x="443508" y="21332"/>
                </a:cubicBezTo>
                <a:cubicBezTo>
                  <a:pt x="429419" y="7243"/>
                  <a:pt x="410369" y="-695"/>
                  <a:pt x="390426" y="-695"/>
                </a:cubicBezTo>
                <a:cubicBezTo>
                  <a:pt x="370483" y="-695"/>
                  <a:pt x="351433" y="7243"/>
                  <a:pt x="337344" y="21332"/>
                </a:cubicBezTo>
                <a:cubicBezTo>
                  <a:pt x="323255" y="35421"/>
                  <a:pt x="315317" y="54471"/>
                  <a:pt x="315317" y="74414"/>
                </a:cubicBezTo>
                <a:cubicBezTo>
                  <a:pt x="315317" y="94357"/>
                  <a:pt x="323255" y="113407"/>
                  <a:pt x="337245" y="127496"/>
                </a:cubicBezTo>
                <a:cubicBezTo>
                  <a:pt x="351234" y="141585"/>
                  <a:pt x="370384" y="149423"/>
                  <a:pt x="390327" y="149423"/>
                </a:cubicBezTo>
                <a:cubicBezTo>
                  <a:pt x="410270" y="149423"/>
                  <a:pt x="429320" y="141486"/>
                  <a:pt x="443409" y="127496"/>
                </a:cubicBezTo>
                <a:cubicBezTo>
                  <a:pt x="457498" y="113506"/>
                  <a:pt x="465336" y="94357"/>
                  <a:pt x="465336" y="74414"/>
                </a:cubicBezTo>
                <a:lnTo>
                  <a:pt x="465435" y="74414"/>
                </a:lnTo>
                <a:close/>
                <a:moveTo>
                  <a:pt x="152995" y="238820"/>
                </a:moveTo>
                <a:cubicBezTo>
                  <a:pt x="152995" y="197421"/>
                  <a:pt x="119385" y="163810"/>
                  <a:pt x="77986" y="163810"/>
                </a:cubicBezTo>
                <a:cubicBezTo>
                  <a:pt x="36587" y="163810"/>
                  <a:pt x="2977" y="197421"/>
                  <a:pt x="2977" y="238820"/>
                </a:cubicBezTo>
                <a:cubicBezTo>
                  <a:pt x="2977" y="280218"/>
                  <a:pt x="36587" y="313829"/>
                  <a:pt x="77986" y="313829"/>
                </a:cubicBezTo>
                <a:cubicBezTo>
                  <a:pt x="119385" y="313829"/>
                  <a:pt x="152995" y="280218"/>
                  <a:pt x="152995" y="238820"/>
                </a:cubicBezTo>
                <a:close/>
                <a:moveTo>
                  <a:pt x="56555" y="343297"/>
                </a:moveTo>
                <a:cubicBezTo>
                  <a:pt x="75009" y="389830"/>
                  <a:pt x="107156" y="429617"/>
                  <a:pt x="148828" y="457498"/>
                </a:cubicBezTo>
                <a:cubicBezTo>
                  <a:pt x="190500" y="485378"/>
                  <a:pt x="239613" y="499765"/>
                  <a:pt x="289719" y="498872"/>
                </a:cubicBezTo>
                <a:cubicBezTo>
                  <a:pt x="275134" y="480417"/>
                  <a:pt x="266998" y="457696"/>
                  <a:pt x="266700" y="434181"/>
                </a:cubicBezTo>
                <a:cubicBezTo>
                  <a:pt x="259953" y="433288"/>
                  <a:pt x="253504" y="432098"/>
                  <a:pt x="247352" y="430808"/>
                </a:cubicBezTo>
                <a:cubicBezTo>
                  <a:pt x="220762" y="425152"/>
                  <a:pt x="195858" y="413643"/>
                  <a:pt x="174327" y="397073"/>
                </a:cubicBezTo>
                <a:cubicBezTo>
                  <a:pt x="152797" y="380504"/>
                  <a:pt x="135334" y="359271"/>
                  <a:pt x="123031" y="335062"/>
                </a:cubicBezTo>
                <a:cubicBezTo>
                  <a:pt x="102295" y="344884"/>
                  <a:pt x="78879" y="347762"/>
                  <a:pt x="56455" y="343198"/>
                </a:cubicBezTo>
                <a:lnTo>
                  <a:pt x="56555" y="343297"/>
                </a:lnTo>
                <a:close/>
                <a:moveTo>
                  <a:pt x="448568" y="432395"/>
                </a:moveTo>
                <a:cubicBezTo>
                  <a:pt x="448568" y="390997"/>
                  <a:pt x="414957" y="357386"/>
                  <a:pt x="373559" y="357386"/>
                </a:cubicBezTo>
                <a:cubicBezTo>
                  <a:pt x="332160" y="357386"/>
                  <a:pt x="298549" y="390997"/>
                  <a:pt x="298549" y="432395"/>
                </a:cubicBezTo>
                <a:cubicBezTo>
                  <a:pt x="298549" y="473794"/>
                  <a:pt x="332160" y="507405"/>
                  <a:pt x="373559" y="507405"/>
                </a:cubicBezTo>
                <a:cubicBezTo>
                  <a:pt x="414957" y="507405"/>
                  <a:pt x="448568" y="473794"/>
                  <a:pt x="448568" y="432395"/>
                </a:cubicBezTo>
                <a:close/>
                <a:moveTo>
                  <a:pt x="440531" y="348853"/>
                </a:moveTo>
                <a:cubicBezTo>
                  <a:pt x="458887" y="363538"/>
                  <a:pt x="471884" y="383778"/>
                  <a:pt x="477441" y="406598"/>
                </a:cubicBezTo>
                <a:cubicBezTo>
                  <a:pt x="510480" y="365621"/>
                  <a:pt x="529630" y="315119"/>
                  <a:pt x="531813" y="262533"/>
                </a:cubicBezTo>
                <a:cubicBezTo>
                  <a:pt x="533995" y="209947"/>
                  <a:pt x="519410" y="157956"/>
                  <a:pt x="489942" y="114300"/>
                </a:cubicBezTo>
                <a:cubicBezTo>
                  <a:pt x="481409" y="135632"/>
                  <a:pt x="466130" y="153591"/>
                  <a:pt x="446484" y="165497"/>
                </a:cubicBezTo>
                <a:cubicBezTo>
                  <a:pt x="461764" y="193873"/>
                  <a:pt x="469205" y="225822"/>
                  <a:pt x="468213" y="257969"/>
                </a:cubicBezTo>
                <a:cubicBezTo>
                  <a:pt x="467221" y="290116"/>
                  <a:pt x="457597" y="321469"/>
                  <a:pt x="440432" y="348853"/>
                </a:cubicBezTo>
                <a:lnTo>
                  <a:pt x="440531" y="348853"/>
                </a:lnTo>
                <a:close/>
                <a:moveTo>
                  <a:pt x="100310" y="134342"/>
                </a:moveTo>
                <a:cubicBezTo>
                  <a:pt x="112613" y="137021"/>
                  <a:pt x="124420" y="141784"/>
                  <a:pt x="135136" y="148530"/>
                </a:cubicBezTo>
                <a:cubicBezTo>
                  <a:pt x="151606" y="124520"/>
                  <a:pt x="173732" y="104775"/>
                  <a:pt x="199430" y="90984"/>
                </a:cubicBezTo>
                <a:cubicBezTo>
                  <a:pt x="225127" y="77192"/>
                  <a:pt x="253802" y="69850"/>
                  <a:pt x="282972" y="69453"/>
                </a:cubicBezTo>
                <a:cubicBezTo>
                  <a:pt x="283170" y="63599"/>
                  <a:pt x="283865" y="57646"/>
                  <a:pt x="284956" y="51891"/>
                </a:cubicBezTo>
                <a:cubicBezTo>
                  <a:pt x="288528" y="35322"/>
                  <a:pt x="295970" y="19844"/>
                  <a:pt x="306586" y="6747"/>
                </a:cubicBezTo>
                <a:cubicBezTo>
                  <a:pt x="259259" y="2977"/>
                  <a:pt x="211931" y="12700"/>
                  <a:pt x="170061" y="35024"/>
                </a:cubicBezTo>
                <a:cubicBezTo>
                  <a:pt x="128191" y="57348"/>
                  <a:pt x="93563" y="90984"/>
                  <a:pt x="70247" y="132358"/>
                </a:cubicBezTo>
                <a:cubicBezTo>
                  <a:pt x="72926" y="132159"/>
                  <a:pt x="75505" y="132060"/>
                  <a:pt x="78184" y="132060"/>
                </a:cubicBezTo>
                <a:cubicBezTo>
                  <a:pt x="85626" y="132060"/>
                  <a:pt x="93067" y="132854"/>
                  <a:pt x="100409" y="134342"/>
                </a:cubicBezTo>
                <a:lnTo>
                  <a:pt x="100310" y="134342"/>
                </a:lnTo>
                <a:close/>
              </a:path>
            </a:pathLst>
          </a:custGeom>
          <a:solidFill>
            <a:srgbClr val="0F2B46"/>
          </a:solidFill>
          <a:ln/>
        </p:spPr>
      </p:sp>
      <p:sp>
        <p:nvSpPr>
          <p:cNvPr id="12" name="Text 9"/>
          <p:cNvSpPr/>
          <p:nvPr/>
        </p:nvSpPr>
        <p:spPr>
          <a:xfrm>
            <a:off x="5461000" y="2667000"/>
            <a:ext cx="2286000" cy="444500"/>
          </a:xfrm>
          <a:prstGeom prst="rect">
            <a:avLst/>
          </a:prstGeom>
          <a:noFill/>
          <a:ln/>
        </p:spPr>
        <p:txBody>
          <a:bodyPr wrap="none" lIns="0" tIns="0" rIns="0" bIns="0" rtlCol="0" anchor="ctr"/>
          <a:lstStyle/>
          <a:p>
            <a:pPr algn="ctr">
              <a:lnSpc>
                <a:spcPct val="100000"/>
              </a:lnSpc>
            </a:pPr>
            <a:r>
              <a:rPr lang="en-US" sz="1600" b="1" dirty="0">
                <a:solidFill>
                  <a:srgbClr val="1A2332"/>
                </a:solidFill>
                <a:latin typeface="Liter" pitchFamily="34" charset="0"/>
                <a:ea typeface="Liter" pitchFamily="34" charset="-122"/>
                <a:cs typeface="Liter" pitchFamily="34" charset="-120"/>
              </a:rPr>
              <a:t>WSL / Ubuntu</a:t>
            </a:r>
            <a:endParaRPr lang="en-US" sz="1600" dirty="0"/>
          </a:p>
        </p:txBody>
      </p:sp>
      <p:sp>
        <p:nvSpPr>
          <p:cNvPr id="13" name="Shape 10"/>
          <p:cNvSpPr/>
          <p:nvPr/>
        </p:nvSpPr>
        <p:spPr>
          <a:xfrm>
            <a:off x="8128000" y="2540000"/>
            <a:ext cx="1016000" cy="0"/>
          </a:xfrm>
          <a:prstGeom prst="straightConnector1">
            <a:avLst/>
          </a:prstGeom>
          <a:noFill/>
          <a:ln w="25400">
            <a:solidFill>
              <a:srgbClr val="D81B2E"/>
            </a:solidFill>
            <a:prstDash val="solid"/>
            <a:headEnd type="none"/>
            <a:tailEnd type="arrow"/>
          </a:ln>
        </p:spPr>
      </p:sp>
      <p:sp>
        <p:nvSpPr>
          <p:cNvPr id="14" name="Shape 11"/>
          <p:cNvSpPr/>
          <p:nvPr/>
        </p:nvSpPr>
        <p:spPr>
          <a:xfrm>
            <a:off x="9398000" y="1968500"/>
            <a:ext cx="2540000" cy="1270000"/>
          </a:xfrm>
          <a:prstGeom prst="roundRect">
            <a:avLst>
              <a:gd name="adj" fmla="val 8000"/>
            </a:avLst>
          </a:prstGeom>
          <a:solidFill>
            <a:srgbClr val="0F2B46"/>
          </a:solidFill>
          <a:ln/>
        </p:spPr>
      </p:sp>
      <p:sp>
        <p:nvSpPr>
          <p:cNvPr id="15" name="Shape 12"/>
          <p:cNvSpPr/>
          <p:nvPr/>
        </p:nvSpPr>
        <p:spPr>
          <a:xfrm>
            <a:off x="10223500" y="2095500"/>
            <a:ext cx="635000" cy="508000"/>
          </a:xfrm>
          <a:custGeom>
            <a:avLst/>
            <a:gdLst/>
            <a:ahLst/>
            <a:cxnLst/>
            <a:rect l="l" t="t" r="r" b="b"/>
            <a:pathLst>
              <a:path w="635000" h="508000">
                <a:moveTo>
                  <a:pt x="349250" y="0"/>
                </a:moveTo>
                <a:cubicBezTo>
                  <a:pt x="349250" y="-17562"/>
                  <a:pt x="335062" y="-31750"/>
                  <a:pt x="317500" y="-31750"/>
                </a:cubicBezTo>
                <a:cubicBezTo>
                  <a:pt x="299938" y="-31750"/>
                  <a:pt x="285750" y="-17562"/>
                  <a:pt x="285750" y="0"/>
                </a:cubicBezTo>
                <a:lnTo>
                  <a:pt x="285750" y="63500"/>
                </a:lnTo>
                <a:lnTo>
                  <a:pt x="190500" y="63500"/>
                </a:lnTo>
                <a:cubicBezTo>
                  <a:pt x="137914" y="63500"/>
                  <a:pt x="95250" y="106164"/>
                  <a:pt x="95250" y="158750"/>
                </a:cubicBezTo>
                <a:lnTo>
                  <a:pt x="95250" y="381000"/>
                </a:lnTo>
                <a:cubicBezTo>
                  <a:pt x="95250" y="433586"/>
                  <a:pt x="137914" y="476250"/>
                  <a:pt x="190500" y="476250"/>
                </a:cubicBezTo>
                <a:lnTo>
                  <a:pt x="444500" y="476250"/>
                </a:lnTo>
                <a:cubicBezTo>
                  <a:pt x="497086" y="476250"/>
                  <a:pt x="539750" y="433586"/>
                  <a:pt x="539750" y="381000"/>
                </a:cubicBezTo>
                <a:lnTo>
                  <a:pt x="539750" y="158750"/>
                </a:lnTo>
                <a:cubicBezTo>
                  <a:pt x="539750" y="106164"/>
                  <a:pt x="497086" y="63500"/>
                  <a:pt x="444500" y="63500"/>
                </a:cubicBezTo>
                <a:lnTo>
                  <a:pt x="349250" y="63500"/>
                </a:lnTo>
                <a:lnTo>
                  <a:pt x="349250" y="0"/>
                </a:lnTo>
                <a:close/>
                <a:moveTo>
                  <a:pt x="158750" y="365125"/>
                </a:moveTo>
                <a:cubicBezTo>
                  <a:pt x="158750" y="351929"/>
                  <a:pt x="169366" y="341313"/>
                  <a:pt x="182563" y="341313"/>
                </a:cubicBezTo>
                <a:lnTo>
                  <a:pt x="214313" y="341313"/>
                </a:lnTo>
                <a:cubicBezTo>
                  <a:pt x="227509" y="341313"/>
                  <a:pt x="238125" y="351929"/>
                  <a:pt x="238125" y="365125"/>
                </a:cubicBezTo>
                <a:cubicBezTo>
                  <a:pt x="238125" y="378321"/>
                  <a:pt x="227509" y="388938"/>
                  <a:pt x="214313" y="388938"/>
                </a:cubicBezTo>
                <a:lnTo>
                  <a:pt x="182563" y="388938"/>
                </a:lnTo>
                <a:cubicBezTo>
                  <a:pt x="169366" y="388938"/>
                  <a:pt x="158750" y="378321"/>
                  <a:pt x="158750" y="365125"/>
                </a:cubicBezTo>
                <a:close/>
                <a:moveTo>
                  <a:pt x="277813" y="365125"/>
                </a:moveTo>
                <a:cubicBezTo>
                  <a:pt x="277813" y="351929"/>
                  <a:pt x="288429" y="341313"/>
                  <a:pt x="301625" y="341313"/>
                </a:cubicBezTo>
                <a:lnTo>
                  <a:pt x="333375" y="341313"/>
                </a:lnTo>
                <a:cubicBezTo>
                  <a:pt x="346571" y="341313"/>
                  <a:pt x="357188" y="351929"/>
                  <a:pt x="357188" y="365125"/>
                </a:cubicBezTo>
                <a:cubicBezTo>
                  <a:pt x="357188" y="378321"/>
                  <a:pt x="346571" y="388938"/>
                  <a:pt x="333375" y="388938"/>
                </a:cubicBezTo>
                <a:lnTo>
                  <a:pt x="301625" y="388938"/>
                </a:lnTo>
                <a:cubicBezTo>
                  <a:pt x="288429" y="388938"/>
                  <a:pt x="277813" y="378321"/>
                  <a:pt x="277813" y="365125"/>
                </a:cubicBezTo>
                <a:close/>
                <a:moveTo>
                  <a:pt x="396875" y="365125"/>
                </a:moveTo>
                <a:cubicBezTo>
                  <a:pt x="396875" y="351929"/>
                  <a:pt x="407491" y="341313"/>
                  <a:pt x="420688" y="341313"/>
                </a:cubicBezTo>
                <a:lnTo>
                  <a:pt x="452437" y="341313"/>
                </a:lnTo>
                <a:cubicBezTo>
                  <a:pt x="465634" y="341313"/>
                  <a:pt x="476250" y="351929"/>
                  <a:pt x="476250" y="365125"/>
                </a:cubicBezTo>
                <a:cubicBezTo>
                  <a:pt x="476250" y="378321"/>
                  <a:pt x="465634" y="388938"/>
                  <a:pt x="452437" y="388938"/>
                </a:cubicBezTo>
                <a:lnTo>
                  <a:pt x="420688" y="388938"/>
                </a:lnTo>
                <a:cubicBezTo>
                  <a:pt x="407491" y="388938"/>
                  <a:pt x="396875" y="378321"/>
                  <a:pt x="396875" y="365125"/>
                </a:cubicBezTo>
                <a:close/>
                <a:moveTo>
                  <a:pt x="222250" y="174625"/>
                </a:moveTo>
                <a:cubicBezTo>
                  <a:pt x="248535" y="174625"/>
                  <a:pt x="269875" y="195965"/>
                  <a:pt x="269875" y="222250"/>
                </a:cubicBezTo>
                <a:cubicBezTo>
                  <a:pt x="269875" y="248535"/>
                  <a:pt x="248535" y="269875"/>
                  <a:pt x="222250" y="269875"/>
                </a:cubicBezTo>
                <a:cubicBezTo>
                  <a:pt x="195965" y="269875"/>
                  <a:pt x="174625" y="248535"/>
                  <a:pt x="174625" y="222250"/>
                </a:cubicBezTo>
                <a:cubicBezTo>
                  <a:pt x="174625" y="195965"/>
                  <a:pt x="195965" y="174625"/>
                  <a:pt x="222250" y="174625"/>
                </a:cubicBezTo>
                <a:close/>
                <a:moveTo>
                  <a:pt x="365125" y="222250"/>
                </a:moveTo>
                <a:cubicBezTo>
                  <a:pt x="365125" y="195965"/>
                  <a:pt x="386465" y="174625"/>
                  <a:pt x="412750" y="174625"/>
                </a:cubicBezTo>
                <a:cubicBezTo>
                  <a:pt x="439035" y="174625"/>
                  <a:pt x="460375" y="195965"/>
                  <a:pt x="460375" y="222250"/>
                </a:cubicBezTo>
                <a:cubicBezTo>
                  <a:pt x="460375" y="248535"/>
                  <a:pt x="439035" y="269875"/>
                  <a:pt x="412750" y="269875"/>
                </a:cubicBezTo>
                <a:cubicBezTo>
                  <a:pt x="386465" y="269875"/>
                  <a:pt x="365125" y="248535"/>
                  <a:pt x="365125" y="222250"/>
                </a:cubicBezTo>
                <a:close/>
                <a:moveTo>
                  <a:pt x="63500" y="222250"/>
                </a:moveTo>
                <a:cubicBezTo>
                  <a:pt x="63500" y="204688"/>
                  <a:pt x="49312" y="190500"/>
                  <a:pt x="31750" y="190500"/>
                </a:cubicBezTo>
                <a:cubicBezTo>
                  <a:pt x="14188" y="190500"/>
                  <a:pt x="0" y="204688"/>
                  <a:pt x="0" y="222250"/>
                </a:cubicBezTo>
                <a:lnTo>
                  <a:pt x="0" y="317500"/>
                </a:lnTo>
                <a:cubicBezTo>
                  <a:pt x="0" y="335062"/>
                  <a:pt x="14188" y="349250"/>
                  <a:pt x="31750" y="349250"/>
                </a:cubicBezTo>
                <a:cubicBezTo>
                  <a:pt x="49312" y="349250"/>
                  <a:pt x="63500" y="335062"/>
                  <a:pt x="63500" y="317500"/>
                </a:cubicBezTo>
                <a:lnTo>
                  <a:pt x="63500" y="222250"/>
                </a:lnTo>
                <a:close/>
                <a:moveTo>
                  <a:pt x="603250" y="190500"/>
                </a:moveTo>
                <a:cubicBezTo>
                  <a:pt x="585688" y="190500"/>
                  <a:pt x="571500" y="204688"/>
                  <a:pt x="571500" y="222250"/>
                </a:cubicBezTo>
                <a:lnTo>
                  <a:pt x="571500" y="317500"/>
                </a:lnTo>
                <a:cubicBezTo>
                  <a:pt x="571500" y="335062"/>
                  <a:pt x="585688" y="349250"/>
                  <a:pt x="603250" y="349250"/>
                </a:cubicBezTo>
                <a:cubicBezTo>
                  <a:pt x="620812" y="349250"/>
                  <a:pt x="635000" y="335062"/>
                  <a:pt x="635000" y="317500"/>
                </a:cubicBezTo>
                <a:lnTo>
                  <a:pt x="635000" y="222250"/>
                </a:lnTo>
                <a:cubicBezTo>
                  <a:pt x="635000" y="204688"/>
                  <a:pt x="620812" y="190500"/>
                  <a:pt x="603250" y="190500"/>
                </a:cubicBezTo>
                <a:close/>
              </a:path>
            </a:pathLst>
          </a:custGeom>
          <a:solidFill>
            <a:srgbClr val="FFFFFF"/>
          </a:solidFill>
          <a:ln/>
        </p:spPr>
      </p:sp>
      <p:sp>
        <p:nvSpPr>
          <p:cNvPr id="16" name="Text 13"/>
          <p:cNvSpPr/>
          <p:nvPr/>
        </p:nvSpPr>
        <p:spPr>
          <a:xfrm>
            <a:off x="9525000" y="2667000"/>
            <a:ext cx="2286000" cy="4445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ROS2</a:t>
            </a:r>
            <a:endParaRPr lang="en-US" sz="1600" dirty="0"/>
          </a:p>
        </p:txBody>
      </p:sp>
      <p:sp>
        <p:nvSpPr>
          <p:cNvPr id="17" name="Shape 14"/>
          <p:cNvSpPr/>
          <p:nvPr/>
        </p:nvSpPr>
        <p:spPr>
          <a:xfrm>
            <a:off x="12192000" y="2540000"/>
            <a:ext cx="1016000" cy="0"/>
          </a:xfrm>
          <a:prstGeom prst="straightConnector1">
            <a:avLst/>
          </a:prstGeom>
          <a:noFill/>
          <a:ln w="25400">
            <a:solidFill>
              <a:srgbClr val="D81B2E"/>
            </a:solidFill>
            <a:prstDash val="solid"/>
            <a:headEnd type="none"/>
            <a:tailEnd type="arrow"/>
          </a:ln>
        </p:spPr>
      </p:sp>
      <p:sp>
        <p:nvSpPr>
          <p:cNvPr id="18" name="Shape 15"/>
          <p:cNvSpPr/>
          <p:nvPr/>
        </p:nvSpPr>
        <p:spPr>
          <a:xfrm>
            <a:off x="13462000" y="1968500"/>
            <a:ext cx="1524000" cy="1270000"/>
          </a:xfrm>
          <a:prstGeom prst="roundRect">
            <a:avLst>
              <a:gd name="adj" fmla="val 8000"/>
            </a:avLst>
          </a:prstGeom>
          <a:solidFill>
            <a:srgbClr val="2C2C2C"/>
          </a:solidFill>
          <a:ln w="25400">
            <a:solidFill>
              <a:srgbClr val="007ACC"/>
            </a:solidFill>
            <a:prstDash val="solid"/>
          </a:ln>
        </p:spPr>
      </p:sp>
      <p:sp>
        <p:nvSpPr>
          <p:cNvPr id="19" name="Shape 16"/>
          <p:cNvSpPr/>
          <p:nvPr/>
        </p:nvSpPr>
        <p:spPr>
          <a:xfrm>
            <a:off x="13874750" y="2095500"/>
            <a:ext cx="571500" cy="508000"/>
          </a:xfrm>
          <a:custGeom>
            <a:avLst/>
            <a:gdLst/>
            <a:ahLst/>
            <a:cxnLst/>
            <a:rect l="l" t="t" r="r" b="b"/>
            <a:pathLst>
              <a:path w="571500" h="508000">
                <a:moveTo>
                  <a:pt x="357981" y="1191"/>
                </a:moveTo>
                <a:cubicBezTo>
                  <a:pt x="341114" y="-3671"/>
                  <a:pt x="323552" y="6152"/>
                  <a:pt x="318691" y="23019"/>
                </a:cubicBezTo>
                <a:lnTo>
                  <a:pt x="191691" y="467519"/>
                </a:lnTo>
                <a:cubicBezTo>
                  <a:pt x="186829" y="484386"/>
                  <a:pt x="196652" y="501948"/>
                  <a:pt x="213519" y="506809"/>
                </a:cubicBezTo>
                <a:cubicBezTo>
                  <a:pt x="230386" y="511671"/>
                  <a:pt x="247948" y="501848"/>
                  <a:pt x="252809" y="484981"/>
                </a:cubicBezTo>
                <a:lnTo>
                  <a:pt x="379809" y="40481"/>
                </a:lnTo>
                <a:cubicBezTo>
                  <a:pt x="384671" y="23614"/>
                  <a:pt x="374848" y="6052"/>
                  <a:pt x="357981" y="1191"/>
                </a:cubicBezTo>
                <a:close/>
                <a:moveTo>
                  <a:pt x="422077" y="136227"/>
                </a:moveTo>
                <a:cubicBezTo>
                  <a:pt x="409674" y="148630"/>
                  <a:pt x="409674" y="168771"/>
                  <a:pt x="422077" y="181173"/>
                </a:cubicBezTo>
                <a:lnTo>
                  <a:pt x="494903" y="254000"/>
                </a:lnTo>
                <a:lnTo>
                  <a:pt x="422077" y="326827"/>
                </a:lnTo>
                <a:cubicBezTo>
                  <a:pt x="409674" y="339229"/>
                  <a:pt x="409674" y="359370"/>
                  <a:pt x="422077" y="371773"/>
                </a:cubicBezTo>
                <a:cubicBezTo>
                  <a:pt x="434479" y="384175"/>
                  <a:pt x="454620" y="384175"/>
                  <a:pt x="467023" y="371773"/>
                </a:cubicBezTo>
                <a:lnTo>
                  <a:pt x="562273" y="276523"/>
                </a:lnTo>
                <a:cubicBezTo>
                  <a:pt x="574675" y="264120"/>
                  <a:pt x="574675" y="243979"/>
                  <a:pt x="562273" y="231577"/>
                </a:cubicBezTo>
                <a:lnTo>
                  <a:pt x="467023" y="136327"/>
                </a:lnTo>
                <a:cubicBezTo>
                  <a:pt x="454620" y="123924"/>
                  <a:pt x="434479" y="123924"/>
                  <a:pt x="422077" y="136327"/>
                </a:cubicBezTo>
                <a:close/>
                <a:moveTo>
                  <a:pt x="149523" y="136227"/>
                </a:moveTo>
                <a:cubicBezTo>
                  <a:pt x="137120" y="123825"/>
                  <a:pt x="116979" y="123825"/>
                  <a:pt x="104577" y="136227"/>
                </a:cubicBezTo>
                <a:lnTo>
                  <a:pt x="9327" y="231477"/>
                </a:lnTo>
                <a:cubicBezTo>
                  <a:pt x="-3076" y="243880"/>
                  <a:pt x="-3076" y="264021"/>
                  <a:pt x="9327" y="276423"/>
                </a:cubicBezTo>
                <a:lnTo>
                  <a:pt x="104577" y="371673"/>
                </a:lnTo>
                <a:cubicBezTo>
                  <a:pt x="116979" y="384076"/>
                  <a:pt x="137120" y="384076"/>
                  <a:pt x="149523" y="371673"/>
                </a:cubicBezTo>
                <a:cubicBezTo>
                  <a:pt x="161925" y="359271"/>
                  <a:pt x="161925" y="339130"/>
                  <a:pt x="149523" y="326727"/>
                </a:cubicBezTo>
                <a:lnTo>
                  <a:pt x="76696" y="254000"/>
                </a:lnTo>
                <a:lnTo>
                  <a:pt x="149423" y="181173"/>
                </a:lnTo>
                <a:cubicBezTo>
                  <a:pt x="161826" y="168771"/>
                  <a:pt x="161826" y="148630"/>
                  <a:pt x="149423" y="136227"/>
                </a:cubicBezTo>
                <a:close/>
              </a:path>
            </a:pathLst>
          </a:custGeom>
          <a:solidFill>
            <a:srgbClr val="007ACC"/>
          </a:solidFill>
          <a:ln/>
        </p:spPr>
      </p:sp>
      <p:sp>
        <p:nvSpPr>
          <p:cNvPr id="20" name="Text 17"/>
          <p:cNvSpPr/>
          <p:nvPr/>
        </p:nvSpPr>
        <p:spPr>
          <a:xfrm>
            <a:off x="13525500" y="2667000"/>
            <a:ext cx="1397000" cy="4445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VS Code</a:t>
            </a:r>
            <a:endParaRPr lang="en-US" sz="1600" dirty="0"/>
          </a:p>
        </p:txBody>
      </p:sp>
      <p:sp>
        <p:nvSpPr>
          <p:cNvPr id="21" name="Shape 18"/>
          <p:cNvSpPr/>
          <p:nvPr/>
        </p:nvSpPr>
        <p:spPr>
          <a:xfrm>
            <a:off x="762000" y="4064000"/>
            <a:ext cx="14732000" cy="1651000"/>
          </a:xfrm>
          <a:prstGeom prst="roundRect">
            <a:avLst>
              <a:gd name="adj" fmla="val 8000"/>
            </a:avLst>
          </a:prstGeom>
          <a:solidFill>
            <a:srgbClr val="FFF3F3"/>
          </a:solidFill>
          <a:ln w="25400">
            <a:solidFill>
              <a:srgbClr val="D81B2E"/>
            </a:solidFill>
            <a:prstDash val="solid"/>
          </a:ln>
        </p:spPr>
      </p:sp>
      <p:sp>
        <p:nvSpPr>
          <p:cNvPr id="22" name="Shape 19"/>
          <p:cNvSpPr/>
          <p:nvPr/>
        </p:nvSpPr>
        <p:spPr>
          <a:xfrm>
            <a:off x="1143000" y="4508500"/>
            <a:ext cx="508000" cy="508000"/>
          </a:xfrm>
          <a:custGeom>
            <a:avLst/>
            <a:gdLst/>
            <a:ahLst/>
            <a:cxnLst/>
            <a:rect l="l" t="t" r="r" b="b"/>
            <a:pathLst>
              <a:path w="508000" h="508000">
                <a:moveTo>
                  <a:pt x="254000" y="0"/>
                </a:moveTo>
                <a:cubicBezTo>
                  <a:pt x="268585" y="0"/>
                  <a:pt x="281980" y="8037"/>
                  <a:pt x="288925" y="20836"/>
                </a:cubicBezTo>
                <a:lnTo>
                  <a:pt x="503238" y="417711"/>
                </a:lnTo>
                <a:cubicBezTo>
                  <a:pt x="509885" y="430014"/>
                  <a:pt x="509588" y="444897"/>
                  <a:pt x="502444" y="456902"/>
                </a:cubicBezTo>
                <a:cubicBezTo>
                  <a:pt x="495300" y="468908"/>
                  <a:pt x="482302" y="476250"/>
                  <a:pt x="468313" y="476250"/>
                </a:cubicBezTo>
                <a:lnTo>
                  <a:pt x="39688" y="476250"/>
                </a:lnTo>
                <a:cubicBezTo>
                  <a:pt x="25698" y="476250"/>
                  <a:pt x="12799" y="468908"/>
                  <a:pt x="5556" y="456902"/>
                </a:cubicBezTo>
                <a:cubicBezTo>
                  <a:pt x="-1687" y="444897"/>
                  <a:pt x="-1885" y="430014"/>
                  <a:pt x="4763" y="417711"/>
                </a:cubicBezTo>
                <a:lnTo>
                  <a:pt x="219075" y="20836"/>
                </a:lnTo>
                <a:cubicBezTo>
                  <a:pt x="226020" y="8037"/>
                  <a:pt x="239415" y="0"/>
                  <a:pt x="254000" y="0"/>
                </a:cubicBezTo>
                <a:close/>
                <a:moveTo>
                  <a:pt x="254000" y="166688"/>
                </a:moveTo>
                <a:cubicBezTo>
                  <a:pt x="240804" y="166688"/>
                  <a:pt x="230188" y="177304"/>
                  <a:pt x="230188" y="190500"/>
                </a:cubicBezTo>
                <a:lnTo>
                  <a:pt x="230188" y="301625"/>
                </a:lnTo>
                <a:cubicBezTo>
                  <a:pt x="230188" y="314821"/>
                  <a:pt x="240804" y="325438"/>
                  <a:pt x="254000" y="325438"/>
                </a:cubicBezTo>
                <a:cubicBezTo>
                  <a:pt x="267196" y="325438"/>
                  <a:pt x="277813" y="314821"/>
                  <a:pt x="277813" y="301625"/>
                </a:cubicBezTo>
                <a:lnTo>
                  <a:pt x="277813" y="190500"/>
                </a:lnTo>
                <a:cubicBezTo>
                  <a:pt x="277813" y="177304"/>
                  <a:pt x="267196" y="166688"/>
                  <a:pt x="254000" y="166688"/>
                </a:cubicBezTo>
                <a:close/>
                <a:moveTo>
                  <a:pt x="280491" y="381000"/>
                </a:moveTo>
                <a:cubicBezTo>
                  <a:pt x="281094" y="371167"/>
                  <a:pt x="276190" y="361811"/>
                  <a:pt x="267761" y="356712"/>
                </a:cubicBezTo>
                <a:cubicBezTo>
                  <a:pt x="259331" y="351613"/>
                  <a:pt x="248768" y="351613"/>
                  <a:pt x="240339" y="356712"/>
                </a:cubicBezTo>
                <a:cubicBezTo>
                  <a:pt x="231909" y="361811"/>
                  <a:pt x="227005" y="371167"/>
                  <a:pt x="227608" y="381000"/>
                </a:cubicBezTo>
                <a:cubicBezTo>
                  <a:pt x="227005" y="390833"/>
                  <a:pt x="231909" y="400189"/>
                  <a:pt x="240339" y="405288"/>
                </a:cubicBezTo>
                <a:cubicBezTo>
                  <a:pt x="248768" y="410387"/>
                  <a:pt x="259331" y="410387"/>
                  <a:pt x="267761" y="405288"/>
                </a:cubicBezTo>
                <a:cubicBezTo>
                  <a:pt x="276190" y="400189"/>
                  <a:pt x="281094" y="390833"/>
                  <a:pt x="280491" y="381000"/>
                </a:cubicBezTo>
                <a:close/>
              </a:path>
            </a:pathLst>
          </a:custGeom>
          <a:solidFill>
            <a:srgbClr val="D81B2E"/>
          </a:solidFill>
          <a:ln/>
        </p:spPr>
      </p:sp>
      <p:sp>
        <p:nvSpPr>
          <p:cNvPr id="23" name="Text 20"/>
          <p:cNvSpPr/>
          <p:nvPr/>
        </p:nvSpPr>
        <p:spPr>
          <a:xfrm>
            <a:off x="1841500" y="4318000"/>
            <a:ext cx="13335000" cy="381000"/>
          </a:xfrm>
          <a:prstGeom prst="rect">
            <a:avLst/>
          </a:prstGeom>
          <a:noFill/>
          <a:ln/>
        </p:spPr>
        <p:txBody>
          <a:bodyPr wrap="none" lIns="0" tIns="0" rIns="0" bIns="0" rtlCol="0" anchor="ctr"/>
          <a:lstStyle/>
          <a:p>
            <a:pPr>
              <a:lnSpc>
                <a:spcPct val="100000"/>
              </a:lnSpc>
            </a:pPr>
            <a:r>
              <a:rPr lang="en-US" sz="2000" b="1" dirty="0">
                <a:solidFill>
                  <a:srgbClr val="D81B2E"/>
                </a:solidFill>
                <a:latin typeface="Liter" pitchFamily="34" charset="0"/>
                <a:ea typeface="Liter" pitchFamily="34" charset="-122"/>
                <a:cs typeface="Liter" pitchFamily="34" charset="-120"/>
              </a:rPr>
              <a:t>Viktig regel!</a:t>
            </a:r>
            <a:endParaRPr lang="en-US" sz="1600" dirty="0"/>
          </a:p>
        </p:txBody>
      </p:sp>
      <p:sp>
        <p:nvSpPr>
          <p:cNvPr id="24" name="Text 21"/>
          <p:cNvSpPr/>
          <p:nvPr/>
        </p:nvSpPr>
        <p:spPr>
          <a:xfrm>
            <a:off x="1841500" y="4762500"/>
            <a:ext cx="13335000" cy="889000"/>
          </a:xfrm>
          <a:prstGeom prst="rect">
            <a:avLst/>
          </a:prstGeom>
          <a:noFill/>
          <a:ln/>
        </p:spPr>
        <p:txBody>
          <a:bodyPr wrap="square" lIns="0" tIns="0" rIns="0" bIns="0" rtlCol="0" anchor="t"/>
          <a:lstStyle/>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All ROS2-kod ska ligga i </a:t>
            </a:r>
            <a:r>
              <a:rPr lang="en-US" sz="1800" b="1" dirty="0">
                <a:solidFill>
                  <a:srgbClr val="1A2332"/>
                </a:solidFill>
                <a:latin typeface="Quattrocento Sans" pitchFamily="34" charset="0"/>
                <a:ea typeface="Quattrocento Sans" pitchFamily="34" charset="-122"/>
                <a:cs typeface="Quattrocento Sans" pitchFamily="34" charset="-120"/>
              </a:rPr>
              <a:t>WSL/Linux-filsystemet</a:t>
            </a:r>
            <a:r>
              <a:rPr lang="en-US" sz="1800" dirty="0">
                <a:solidFill>
                  <a:srgbClr val="1A2332"/>
                </a:solidFill>
                <a:latin typeface="Quattrocento Sans" pitchFamily="34" charset="0"/>
                <a:ea typeface="Quattrocento Sans" pitchFamily="34" charset="-122"/>
                <a:cs typeface="Quattrocento Sans" pitchFamily="34" charset="-120"/>
              </a:rPr>
              <a:t>, inte i Windows Dokument-mapp.</a:t>
            </a:r>
            <a:endParaRPr lang="en-US" sz="1600" dirty="0"/>
          </a:p>
          <a:p>
            <a:pPr>
              <a:lnSpc>
                <a:spcPct val="150000"/>
              </a:lnSpc>
            </a:pPr>
            <a:r>
              <a:rPr lang="en-US" sz="1800" dirty="0">
                <a:solidFill>
                  <a:srgbClr val="6B7B8D"/>
                </a:solidFill>
                <a:latin typeface="Quattrocento Sans" pitchFamily="34" charset="0"/>
                <a:ea typeface="Quattrocento Sans" pitchFamily="34" charset="-122"/>
                <a:cs typeface="Quattrocento Sans" pitchFamily="34" charset="-120"/>
              </a:rPr>
              <a:t>Windows-sökvägar och Linux-sökvägar är inte kompatibla!</a:t>
            </a:r>
            <a:endParaRPr lang="en-US" sz="1600" dirty="0"/>
          </a:p>
        </p:txBody>
      </p:sp>
      <p:sp>
        <p:nvSpPr>
          <p:cNvPr id="25" name="Shape 22"/>
          <p:cNvSpPr/>
          <p:nvPr/>
        </p:nvSpPr>
        <p:spPr>
          <a:xfrm>
            <a:off x="762000" y="6096000"/>
            <a:ext cx="14732000" cy="1143000"/>
          </a:xfrm>
          <a:prstGeom prst="roundRect">
            <a:avLst>
              <a:gd name="adj" fmla="val 8000"/>
            </a:avLst>
          </a:prstGeom>
          <a:solidFill>
            <a:srgbClr val="E8EBF0"/>
          </a:solidFill>
          <a:ln w="12700">
            <a:solidFill>
              <a:srgbClr val="D0D5DD"/>
            </a:solidFill>
            <a:prstDash val="solid"/>
          </a:ln>
        </p:spPr>
      </p:sp>
      <p:sp>
        <p:nvSpPr>
          <p:cNvPr id="26" name="Shape 23"/>
          <p:cNvSpPr/>
          <p:nvPr/>
        </p:nvSpPr>
        <p:spPr>
          <a:xfrm>
            <a:off x="762000" y="6096000"/>
            <a:ext cx="63500" cy="1143000"/>
          </a:xfrm>
          <a:prstGeom prst="rect">
            <a:avLst/>
          </a:prstGeom>
          <a:solidFill>
            <a:srgbClr val="D81B2E"/>
          </a:solidFill>
          <a:ln/>
        </p:spPr>
      </p:sp>
      <p:sp>
        <p:nvSpPr>
          <p:cNvPr id="27" name="Text 24"/>
          <p:cNvSpPr/>
          <p:nvPr/>
        </p:nvSpPr>
        <p:spPr>
          <a:xfrm>
            <a:off x="1143000" y="6223000"/>
            <a:ext cx="13970000" cy="889000"/>
          </a:xfrm>
          <a:prstGeom prst="rect">
            <a:avLst/>
          </a:prstGeom>
          <a:noFill/>
          <a:ln/>
        </p:spPr>
        <p:txBody>
          <a:bodyPr wrap="square" lIns="0" tIns="0" rIns="0" bIns="0" rtlCol="0" anchor="ctr"/>
          <a:lstStyle/>
          <a:p>
            <a:pPr>
              <a:lnSpc>
                <a:spcPct val="150000"/>
              </a:lnSpc>
            </a:pPr>
            <a:r>
              <a:rPr lang="en-US" sz="1800" b="1" dirty="0">
                <a:solidFill>
                  <a:srgbClr val="1A2332"/>
                </a:solidFill>
                <a:latin typeface="Quattrocento Sans" pitchFamily="34" charset="0"/>
                <a:ea typeface="Quattrocento Sans" pitchFamily="34" charset="-122"/>
                <a:cs typeface="Quattrocento Sans" pitchFamily="34" charset="-120"/>
              </a:rPr>
              <a:t>Tips:</a:t>
            </a:r>
            <a:r>
              <a:rPr lang="en-US" sz="1800" dirty="0">
                <a:solidFill>
                  <a:srgbClr val="1A2332"/>
                </a:solidFill>
                <a:latin typeface="Quattrocento Sans" pitchFamily="34" charset="0"/>
                <a:ea typeface="Quattrocento Sans" pitchFamily="34" charset="-122"/>
                <a:cs typeface="Quattrocento Sans" pitchFamily="34" charset="-120"/>
              </a:rPr>
              <a:t> Använd VS Code med WSL-tillägget för att enkelt redigera filer i Linux-miljön direkt från Windows.</a:t>
            </a:r>
            <a:endParaRPr lang="en-US" sz="1600" dirty="0"/>
          </a:p>
        </p:txBody>
      </p:sp>
      <p:pic>
        <p:nvPicPr>
          <p:cNvPr id="28"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9" name="Text 25"/>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18</a:t>
            </a:r>
            <a:endParaRPr lang="en-US" sz="14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Första labben</a:t>
            </a:r>
            <a:endParaRPr lang="en-US" sz="2800" dirty="0"/>
          </a:p>
        </p:txBody>
      </p:sp>
      <p:sp>
        <p:nvSpPr>
          <p:cNvPr id="5" name="Shape 2"/>
          <p:cNvSpPr/>
          <p:nvPr/>
        </p:nvSpPr>
        <p:spPr>
          <a:xfrm>
            <a:off x="762000" y="1587500"/>
            <a:ext cx="508000" cy="508000"/>
          </a:xfrm>
          <a:prstGeom prst="ellipse">
            <a:avLst/>
          </a:prstGeom>
          <a:solidFill>
            <a:srgbClr val="D81B2E"/>
          </a:solidFill>
          <a:ln/>
        </p:spPr>
      </p:sp>
      <p:sp>
        <p:nvSpPr>
          <p:cNvPr id="6" name="Text 3"/>
          <p:cNvSpPr/>
          <p:nvPr/>
        </p:nvSpPr>
        <p:spPr>
          <a:xfrm>
            <a:off x="762000" y="15875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1</a:t>
            </a:r>
            <a:endParaRPr lang="en-US" sz="1600" dirty="0"/>
          </a:p>
        </p:txBody>
      </p:sp>
      <p:sp>
        <p:nvSpPr>
          <p:cNvPr id="7" name="Text 4"/>
          <p:cNvSpPr/>
          <p:nvPr/>
        </p:nvSpPr>
        <p:spPr>
          <a:xfrm>
            <a:off x="1460500" y="1587500"/>
            <a:ext cx="5080000" cy="508000"/>
          </a:xfrm>
          <a:prstGeom prst="rect">
            <a:avLst/>
          </a:prstGeom>
          <a:noFill/>
          <a:ln/>
        </p:spPr>
        <p:txBody>
          <a:bodyPr wrap="squar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Öppna </a:t>
            </a:r>
            <a:r>
              <a:rPr lang="en-US" sz="1800" b="1" dirty="0">
                <a:solidFill>
                  <a:srgbClr val="1A2332"/>
                </a:solidFill>
                <a:latin typeface="Quattrocento Sans" pitchFamily="34" charset="0"/>
                <a:ea typeface="Quattrocento Sans" pitchFamily="34" charset="-122"/>
                <a:cs typeface="Quattrocento Sans" pitchFamily="34" charset="-120"/>
              </a:rPr>
              <a:t>Ubuntu / WSL</a:t>
            </a:r>
            <a:endParaRPr lang="en-US" sz="1600" dirty="0"/>
          </a:p>
        </p:txBody>
      </p:sp>
      <p:sp>
        <p:nvSpPr>
          <p:cNvPr id="8" name="Shape 5"/>
          <p:cNvSpPr/>
          <p:nvPr/>
        </p:nvSpPr>
        <p:spPr>
          <a:xfrm>
            <a:off x="762000" y="2286000"/>
            <a:ext cx="508000" cy="508000"/>
          </a:xfrm>
          <a:prstGeom prst="ellipse">
            <a:avLst/>
          </a:prstGeom>
          <a:solidFill>
            <a:srgbClr val="D81B2E"/>
          </a:solidFill>
          <a:ln/>
        </p:spPr>
      </p:sp>
      <p:sp>
        <p:nvSpPr>
          <p:cNvPr id="9" name="Text 6"/>
          <p:cNvSpPr/>
          <p:nvPr/>
        </p:nvSpPr>
        <p:spPr>
          <a:xfrm>
            <a:off x="762000" y="22860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2</a:t>
            </a:r>
            <a:endParaRPr lang="en-US" sz="1600" dirty="0"/>
          </a:p>
        </p:txBody>
      </p:sp>
      <p:sp>
        <p:nvSpPr>
          <p:cNvPr id="10" name="Text 7"/>
          <p:cNvSpPr/>
          <p:nvPr/>
        </p:nvSpPr>
        <p:spPr>
          <a:xfrm>
            <a:off x="1460500" y="2286000"/>
            <a:ext cx="5080000" cy="508000"/>
          </a:xfrm>
          <a:prstGeom prst="rect">
            <a:avLst/>
          </a:prstGeom>
          <a:noFill/>
          <a:ln/>
        </p:spPr>
        <p:txBody>
          <a:bodyPr wrap="squar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Kontrollera att </a:t>
            </a:r>
            <a:r>
              <a:rPr lang="en-US" sz="1800" b="1" dirty="0">
                <a:solidFill>
                  <a:srgbClr val="1A2332"/>
                </a:solidFill>
                <a:latin typeface="Quattrocento Sans" pitchFamily="34" charset="0"/>
                <a:ea typeface="Quattrocento Sans" pitchFamily="34" charset="-122"/>
                <a:cs typeface="Quattrocento Sans" pitchFamily="34" charset="-120"/>
              </a:rPr>
              <a:t>ROS2</a:t>
            </a:r>
            <a:r>
              <a:rPr lang="en-US" sz="1800" dirty="0">
                <a:solidFill>
                  <a:srgbClr val="1A2332"/>
                </a:solidFill>
                <a:latin typeface="Quattrocento Sans" pitchFamily="34" charset="0"/>
                <a:ea typeface="Quattrocento Sans" pitchFamily="34" charset="-122"/>
                <a:cs typeface="Quattrocento Sans" pitchFamily="34" charset="-120"/>
              </a:rPr>
              <a:t> är installerat</a:t>
            </a:r>
            <a:endParaRPr lang="en-US" sz="1600" dirty="0"/>
          </a:p>
        </p:txBody>
      </p:sp>
      <p:sp>
        <p:nvSpPr>
          <p:cNvPr id="11" name="Shape 8"/>
          <p:cNvSpPr/>
          <p:nvPr/>
        </p:nvSpPr>
        <p:spPr>
          <a:xfrm>
            <a:off x="762000" y="2984500"/>
            <a:ext cx="508000" cy="508000"/>
          </a:xfrm>
          <a:prstGeom prst="ellipse">
            <a:avLst/>
          </a:prstGeom>
          <a:solidFill>
            <a:srgbClr val="D81B2E"/>
          </a:solidFill>
          <a:ln/>
        </p:spPr>
      </p:sp>
      <p:sp>
        <p:nvSpPr>
          <p:cNvPr id="12" name="Text 9"/>
          <p:cNvSpPr/>
          <p:nvPr/>
        </p:nvSpPr>
        <p:spPr>
          <a:xfrm>
            <a:off x="762000" y="29845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3</a:t>
            </a:r>
            <a:endParaRPr lang="en-US" sz="1600" dirty="0"/>
          </a:p>
        </p:txBody>
      </p:sp>
      <p:sp>
        <p:nvSpPr>
          <p:cNvPr id="13" name="Text 10"/>
          <p:cNvSpPr/>
          <p:nvPr/>
        </p:nvSpPr>
        <p:spPr>
          <a:xfrm>
            <a:off x="1460500" y="2984500"/>
            <a:ext cx="5080000" cy="508000"/>
          </a:xfrm>
          <a:prstGeom prst="rect">
            <a:avLst/>
          </a:prstGeom>
          <a:noFill/>
          <a:ln/>
        </p:spPr>
        <p:txBody>
          <a:bodyPr wrap="squar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Starta </a:t>
            </a:r>
            <a:r>
              <a:rPr lang="en-US" sz="1800" b="1" dirty="0">
                <a:solidFill>
                  <a:srgbClr val="1A2332"/>
                </a:solidFill>
                <a:latin typeface="Quattrocento Sans" pitchFamily="34" charset="0"/>
                <a:ea typeface="Quattrocento Sans" pitchFamily="34" charset="-122"/>
                <a:cs typeface="Quattrocento Sans" pitchFamily="34" charset="-120"/>
              </a:rPr>
              <a:t>turtlesim</a:t>
            </a:r>
            <a:endParaRPr lang="en-US" sz="1600" dirty="0"/>
          </a:p>
        </p:txBody>
      </p:sp>
      <p:sp>
        <p:nvSpPr>
          <p:cNvPr id="14" name="Shape 11"/>
          <p:cNvSpPr/>
          <p:nvPr/>
        </p:nvSpPr>
        <p:spPr>
          <a:xfrm>
            <a:off x="762000" y="3683000"/>
            <a:ext cx="508000" cy="508000"/>
          </a:xfrm>
          <a:prstGeom prst="ellipse">
            <a:avLst/>
          </a:prstGeom>
          <a:solidFill>
            <a:srgbClr val="D81B2E"/>
          </a:solidFill>
          <a:ln/>
        </p:spPr>
      </p:sp>
      <p:sp>
        <p:nvSpPr>
          <p:cNvPr id="15" name="Text 12"/>
          <p:cNvSpPr/>
          <p:nvPr/>
        </p:nvSpPr>
        <p:spPr>
          <a:xfrm>
            <a:off x="762000" y="36830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4</a:t>
            </a:r>
            <a:endParaRPr lang="en-US" sz="1600" dirty="0"/>
          </a:p>
        </p:txBody>
      </p:sp>
      <p:sp>
        <p:nvSpPr>
          <p:cNvPr id="16" name="Text 13"/>
          <p:cNvSpPr/>
          <p:nvPr/>
        </p:nvSpPr>
        <p:spPr>
          <a:xfrm>
            <a:off x="1460500" y="3683000"/>
            <a:ext cx="5080000" cy="508000"/>
          </a:xfrm>
          <a:prstGeom prst="rect">
            <a:avLst/>
          </a:prstGeom>
          <a:noFill/>
          <a:ln/>
        </p:spPr>
        <p:txBody>
          <a:bodyPr wrap="squar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Starta </a:t>
            </a:r>
            <a:r>
              <a:rPr lang="en-US" sz="1800" b="1" dirty="0">
                <a:solidFill>
                  <a:srgbClr val="1A2332"/>
                </a:solidFill>
                <a:latin typeface="Quattrocento Sans" pitchFamily="34" charset="0"/>
                <a:ea typeface="Quattrocento Sans" pitchFamily="34" charset="-122"/>
                <a:cs typeface="Quattrocento Sans" pitchFamily="34" charset="-120"/>
              </a:rPr>
              <a:t>tangentbordsstyrning</a:t>
            </a:r>
            <a:endParaRPr lang="en-US" sz="1600" dirty="0"/>
          </a:p>
        </p:txBody>
      </p:sp>
      <p:sp>
        <p:nvSpPr>
          <p:cNvPr id="17" name="Shape 14"/>
          <p:cNvSpPr/>
          <p:nvPr/>
        </p:nvSpPr>
        <p:spPr>
          <a:xfrm>
            <a:off x="762000" y="4381500"/>
            <a:ext cx="508000" cy="508000"/>
          </a:xfrm>
          <a:prstGeom prst="ellipse">
            <a:avLst/>
          </a:prstGeom>
          <a:solidFill>
            <a:srgbClr val="D81B2E"/>
          </a:solidFill>
          <a:ln/>
        </p:spPr>
      </p:sp>
      <p:sp>
        <p:nvSpPr>
          <p:cNvPr id="18" name="Text 15"/>
          <p:cNvSpPr/>
          <p:nvPr/>
        </p:nvSpPr>
        <p:spPr>
          <a:xfrm>
            <a:off x="762000" y="43815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5</a:t>
            </a:r>
            <a:endParaRPr lang="en-US" sz="1600" dirty="0"/>
          </a:p>
        </p:txBody>
      </p:sp>
      <p:sp>
        <p:nvSpPr>
          <p:cNvPr id="19" name="Text 16"/>
          <p:cNvSpPr/>
          <p:nvPr/>
        </p:nvSpPr>
        <p:spPr>
          <a:xfrm>
            <a:off x="1460500" y="4381500"/>
            <a:ext cx="5080000" cy="508000"/>
          </a:xfrm>
          <a:prstGeom prst="rect">
            <a:avLst/>
          </a:prstGeom>
          <a:noFill/>
          <a:ln/>
        </p:spPr>
        <p:txBody>
          <a:bodyPr wrap="square" lIns="0" tIns="0" rIns="0" bIns="0" rtlCol="0" anchor="ctr"/>
          <a:lstStyle/>
          <a:p>
            <a:pPr>
              <a:lnSpc>
                <a:spcPct val="100000"/>
              </a:lnSpc>
            </a:pPr>
            <a:r>
              <a:rPr lang="en-US" sz="1800" b="1" dirty="0">
                <a:solidFill>
                  <a:srgbClr val="1A2332"/>
                </a:solidFill>
                <a:latin typeface="Quattrocento Sans" pitchFamily="34" charset="0"/>
                <a:ea typeface="Quattrocento Sans" pitchFamily="34" charset="-122"/>
                <a:cs typeface="Quattrocento Sans" pitchFamily="34" charset="-120"/>
              </a:rPr>
              <a:t>Styra sköldpaddan</a:t>
            </a:r>
            <a:r>
              <a:rPr lang="en-US" sz="1800" dirty="0">
                <a:solidFill>
                  <a:srgbClr val="1A2332"/>
                </a:solidFill>
                <a:latin typeface="Quattrocento Sans" pitchFamily="34" charset="0"/>
                <a:ea typeface="Quattrocento Sans" pitchFamily="34" charset="-122"/>
                <a:cs typeface="Quattrocento Sans" pitchFamily="34" charset="-120"/>
              </a:rPr>
              <a:t> med piltangenterna</a:t>
            </a:r>
            <a:endParaRPr lang="en-US" sz="1600" dirty="0"/>
          </a:p>
        </p:txBody>
      </p:sp>
      <p:sp>
        <p:nvSpPr>
          <p:cNvPr id="20" name="Shape 17"/>
          <p:cNvSpPr/>
          <p:nvPr/>
        </p:nvSpPr>
        <p:spPr>
          <a:xfrm>
            <a:off x="762000" y="5080000"/>
            <a:ext cx="508000" cy="508000"/>
          </a:xfrm>
          <a:prstGeom prst="ellipse">
            <a:avLst/>
          </a:prstGeom>
          <a:solidFill>
            <a:srgbClr val="D81B2E"/>
          </a:solidFill>
          <a:ln/>
        </p:spPr>
      </p:sp>
      <p:sp>
        <p:nvSpPr>
          <p:cNvPr id="21" name="Text 18"/>
          <p:cNvSpPr/>
          <p:nvPr/>
        </p:nvSpPr>
        <p:spPr>
          <a:xfrm>
            <a:off x="762000" y="50800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6</a:t>
            </a:r>
            <a:endParaRPr lang="en-US" sz="1600" dirty="0"/>
          </a:p>
        </p:txBody>
      </p:sp>
      <p:sp>
        <p:nvSpPr>
          <p:cNvPr id="22" name="Text 19"/>
          <p:cNvSpPr/>
          <p:nvPr/>
        </p:nvSpPr>
        <p:spPr>
          <a:xfrm>
            <a:off x="1460500" y="5080000"/>
            <a:ext cx="6350000" cy="508000"/>
          </a:xfrm>
          <a:prstGeom prst="rect">
            <a:avLst/>
          </a:prstGeom>
          <a:noFill/>
          <a:ln/>
        </p:spPr>
        <p:txBody>
          <a:bodyPr wrap="square" lIns="0" tIns="0" rIns="0" bIns="0" rtlCol="0" anchor="ctr"/>
          <a:lstStyle/>
          <a:p>
            <a:pPr>
              <a:lnSpc>
                <a:spcPct val="100000"/>
              </a:lnSpc>
            </a:pPr>
            <a:r>
              <a:rPr lang="en-US" sz="1800" dirty="0">
                <a:solidFill>
                  <a:srgbClr val="1A2332"/>
                </a:solidFill>
                <a:latin typeface="Quattrocento Sans" pitchFamily="34" charset="0"/>
                <a:ea typeface="Quattrocento Sans" pitchFamily="34" charset="-122"/>
                <a:cs typeface="Quattrocento Sans" pitchFamily="34" charset="-120"/>
              </a:rPr>
              <a:t>Lista noder med </a:t>
            </a:r>
            <a:r>
              <a:rPr lang="en-US" sz="1800" b="1" dirty="0">
                <a:solidFill>
                  <a:srgbClr val="D81B2E"/>
                </a:solidFill>
                <a:latin typeface="Quattrocento Sans" pitchFamily="34" charset="0"/>
                <a:ea typeface="Quattrocento Sans" pitchFamily="34" charset="-122"/>
                <a:cs typeface="Quattrocento Sans" pitchFamily="34" charset="-120"/>
              </a:rPr>
              <a:t>ros2 node list</a:t>
            </a:r>
            <a:endParaRPr lang="en-US" sz="1600" dirty="0"/>
          </a:p>
        </p:txBody>
      </p:sp>
      <p:sp>
        <p:nvSpPr>
          <p:cNvPr id="23" name="Shape 20"/>
          <p:cNvSpPr/>
          <p:nvPr/>
        </p:nvSpPr>
        <p:spPr>
          <a:xfrm>
            <a:off x="762000" y="5778500"/>
            <a:ext cx="508000" cy="508000"/>
          </a:xfrm>
          <a:prstGeom prst="ellipse">
            <a:avLst/>
          </a:prstGeom>
          <a:solidFill>
            <a:srgbClr val="D81B2E"/>
          </a:solidFill>
          <a:ln/>
        </p:spPr>
      </p:sp>
      <p:sp>
        <p:nvSpPr>
          <p:cNvPr id="24" name="Text 21"/>
          <p:cNvSpPr/>
          <p:nvPr/>
        </p:nvSpPr>
        <p:spPr>
          <a:xfrm>
            <a:off x="762000" y="5778500"/>
            <a:ext cx="508000" cy="5080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Liter" pitchFamily="34" charset="0"/>
                <a:ea typeface="Liter" pitchFamily="34" charset="-122"/>
                <a:cs typeface="Liter" pitchFamily="34" charset="-120"/>
              </a:rPr>
              <a:t>7</a:t>
            </a:r>
            <a:endParaRPr lang="en-US" sz="1600" dirty="0"/>
          </a:p>
        </p:txBody>
      </p:sp>
      <p:sp>
        <p:nvSpPr>
          <p:cNvPr id="25" name="Text 22"/>
          <p:cNvSpPr/>
          <p:nvPr/>
        </p:nvSpPr>
        <p:spPr>
          <a:xfrm>
            <a:off x="1460500" y="5778500"/>
            <a:ext cx="6350000" cy="508000"/>
          </a:xfrm>
          <a:prstGeom prst="rect">
            <a:avLst/>
          </a:prstGeom>
          <a:noFill/>
          <a:ln/>
        </p:spPr>
        <p:txBody>
          <a:bodyPr wrap="square" lIns="0" tIns="0" rIns="0" bIns="0" rtlCol="0" anchor="ctr"/>
          <a:lstStyle/>
          <a:p>
            <a:pPr>
              <a:lnSpc>
                <a:spcPct val="100000"/>
              </a:lnSpc>
            </a:pPr>
            <a:r>
              <a:rPr lang="en-US" sz="1800" b="1" dirty="0">
                <a:solidFill>
                  <a:srgbClr val="1A2332"/>
                </a:solidFill>
                <a:latin typeface="Quattrocento Sans" pitchFamily="34" charset="0"/>
                <a:ea typeface="Quattrocento Sans" pitchFamily="34" charset="-122"/>
                <a:cs typeface="Quattrocento Sans" pitchFamily="34" charset="-120"/>
              </a:rPr>
              <a:t>Förstå</a:t>
            </a:r>
            <a:r>
              <a:rPr lang="en-US" sz="1800" dirty="0">
                <a:solidFill>
                  <a:srgbClr val="1A2332"/>
                </a:solidFill>
                <a:latin typeface="Quattrocento Sans" pitchFamily="34" charset="0"/>
                <a:ea typeface="Quattrocento Sans" pitchFamily="34" charset="-122"/>
                <a:cs typeface="Quattrocento Sans" pitchFamily="34" charset="-120"/>
              </a:rPr>
              <a:t> att systemet består av flera noder</a:t>
            </a:r>
            <a:endParaRPr lang="en-US" sz="1600" dirty="0"/>
          </a:p>
        </p:txBody>
      </p:sp>
      <p:sp>
        <p:nvSpPr>
          <p:cNvPr id="26" name="Shape 23"/>
          <p:cNvSpPr/>
          <p:nvPr/>
        </p:nvSpPr>
        <p:spPr>
          <a:xfrm>
            <a:off x="8382000" y="1587500"/>
            <a:ext cx="7112000" cy="4953000"/>
          </a:xfrm>
          <a:prstGeom prst="roundRect">
            <a:avLst>
              <a:gd name="adj" fmla="val 8000"/>
            </a:avLst>
          </a:prstGeom>
          <a:solidFill>
            <a:srgbClr val="0F2B46"/>
          </a:solidFill>
          <a:ln/>
        </p:spPr>
      </p:sp>
      <p:sp>
        <p:nvSpPr>
          <p:cNvPr id="27" name="Shape 24"/>
          <p:cNvSpPr/>
          <p:nvPr/>
        </p:nvSpPr>
        <p:spPr>
          <a:xfrm>
            <a:off x="11049000" y="1968500"/>
            <a:ext cx="762000" cy="762000"/>
          </a:xfrm>
          <a:custGeom>
            <a:avLst/>
            <a:gdLst/>
            <a:ahLst/>
            <a:cxnLst/>
            <a:rect l="l" t="t" r="r" b="b"/>
            <a:pathLst>
              <a:path w="762000" h="762000">
                <a:moveTo>
                  <a:pt x="666750" y="381000"/>
                </a:moveTo>
                <a:cubicBezTo>
                  <a:pt x="666750" y="223290"/>
                  <a:pt x="538710" y="95250"/>
                  <a:pt x="381000" y="95250"/>
                </a:cubicBezTo>
                <a:cubicBezTo>
                  <a:pt x="223290" y="95250"/>
                  <a:pt x="95250" y="223290"/>
                  <a:pt x="95250" y="381000"/>
                </a:cubicBezTo>
                <a:cubicBezTo>
                  <a:pt x="95250" y="538710"/>
                  <a:pt x="223290" y="666750"/>
                  <a:pt x="381000" y="666750"/>
                </a:cubicBezTo>
                <a:cubicBezTo>
                  <a:pt x="538710" y="666750"/>
                  <a:pt x="666750" y="538710"/>
                  <a:pt x="666750" y="381000"/>
                </a:cubicBezTo>
                <a:close/>
                <a:moveTo>
                  <a:pt x="0" y="381000"/>
                </a:moveTo>
                <a:cubicBezTo>
                  <a:pt x="0" y="170720"/>
                  <a:pt x="170720" y="0"/>
                  <a:pt x="381000" y="0"/>
                </a:cubicBezTo>
                <a:cubicBezTo>
                  <a:pt x="591280" y="0"/>
                  <a:pt x="762000" y="170720"/>
                  <a:pt x="762000" y="381000"/>
                </a:cubicBezTo>
                <a:cubicBezTo>
                  <a:pt x="762000" y="591280"/>
                  <a:pt x="591280" y="762000"/>
                  <a:pt x="381000" y="762000"/>
                </a:cubicBezTo>
                <a:cubicBezTo>
                  <a:pt x="170720" y="762000"/>
                  <a:pt x="0" y="591280"/>
                  <a:pt x="0" y="381000"/>
                </a:cubicBezTo>
                <a:close/>
                <a:moveTo>
                  <a:pt x="381000" y="500063"/>
                </a:moveTo>
                <a:cubicBezTo>
                  <a:pt x="446712" y="500063"/>
                  <a:pt x="500063" y="446712"/>
                  <a:pt x="500063" y="381000"/>
                </a:cubicBezTo>
                <a:cubicBezTo>
                  <a:pt x="500063" y="315288"/>
                  <a:pt x="446712" y="261938"/>
                  <a:pt x="381000" y="261938"/>
                </a:cubicBezTo>
                <a:cubicBezTo>
                  <a:pt x="315288" y="261938"/>
                  <a:pt x="261938" y="315288"/>
                  <a:pt x="261938" y="381000"/>
                </a:cubicBezTo>
                <a:cubicBezTo>
                  <a:pt x="261938" y="446712"/>
                  <a:pt x="315288" y="500063"/>
                  <a:pt x="381000" y="500063"/>
                </a:cubicBezTo>
                <a:close/>
                <a:moveTo>
                  <a:pt x="381000" y="166688"/>
                </a:moveTo>
                <a:cubicBezTo>
                  <a:pt x="499282" y="166688"/>
                  <a:pt x="595313" y="262718"/>
                  <a:pt x="595313" y="381000"/>
                </a:cubicBezTo>
                <a:cubicBezTo>
                  <a:pt x="595313" y="499282"/>
                  <a:pt x="499282" y="595313"/>
                  <a:pt x="381000" y="595313"/>
                </a:cubicBezTo>
                <a:cubicBezTo>
                  <a:pt x="262718" y="595313"/>
                  <a:pt x="166688" y="499282"/>
                  <a:pt x="166688" y="381000"/>
                </a:cubicBezTo>
                <a:cubicBezTo>
                  <a:pt x="166688" y="262718"/>
                  <a:pt x="262718" y="166688"/>
                  <a:pt x="381000" y="166688"/>
                </a:cubicBezTo>
                <a:close/>
                <a:moveTo>
                  <a:pt x="333375" y="381000"/>
                </a:moveTo>
                <a:cubicBezTo>
                  <a:pt x="333375" y="354715"/>
                  <a:pt x="354715" y="333375"/>
                  <a:pt x="381000" y="333375"/>
                </a:cubicBezTo>
                <a:cubicBezTo>
                  <a:pt x="407285" y="333375"/>
                  <a:pt x="428625" y="354715"/>
                  <a:pt x="428625" y="381000"/>
                </a:cubicBezTo>
                <a:cubicBezTo>
                  <a:pt x="428625" y="407285"/>
                  <a:pt x="407285" y="428625"/>
                  <a:pt x="381000" y="428625"/>
                </a:cubicBezTo>
                <a:cubicBezTo>
                  <a:pt x="354715" y="428625"/>
                  <a:pt x="333375" y="407285"/>
                  <a:pt x="333375" y="381000"/>
                </a:cubicBezTo>
                <a:close/>
              </a:path>
            </a:pathLst>
          </a:custGeom>
          <a:solidFill>
            <a:srgbClr val="D81B2E"/>
          </a:solidFill>
          <a:ln/>
        </p:spPr>
      </p:sp>
      <p:sp>
        <p:nvSpPr>
          <p:cNvPr id="28" name="Text 25"/>
          <p:cNvSpPr/>
          <p:nvPr/>
        </p:nvSpPr>
        <p:spPr>
          <a:xfrm>
            <a:off x="8890000" y="2921000"/>
            <a:ext cx="6096000" cy="444500"/>
          </a:xfrm>
          <a:prstGeom prst="rect">
            <a:avLst/>
          </a:prstGeom>
          <a:noFill/>
          <a:ln/>
        </p:spPr>
        <p:txBody>
          <a:bodyPr wrap="non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Mål med labben</a:t>
            </a:r>
            <a:endParaRPr lang="en-US" sz="1600" dirty="0"/>
          </a:p>
        </p:txBody>
      </p:sp>
      <p:sp>
        <p:nvSpPr>
          <p:cNvPr id="29" name="Text 26"/>
          <p:cNvSpPr/>
          <p:nvPr/>
        </p:nvSpPr>
        <p:spPr>
          <a:xfrm>
            <a:off x="8890000" y="3556000"/>
            <a:ext cx="6096000" cy="2667000"/>
          </a:xfrm>
          <a:prstGeom prst="rect">
            <a:avLst/>
          </a:prstGeom>
          <a:noFill/>
          <a:ln/>
        </p:spPr>
        <p:txBody>
          <a:bodyPr wrap="square" lIns="0" tIns="0" rIns="0" bIns="0" rtlCol="0" anchor="t"/>
          <a:lstStyle/>
          <a:p>
            <a:pPr algn="ctr">
              <a:lnSpc>
                <a:spcPct val="170000"/>
              </a:lnSpc>
            </a:pPr>
            <a:r>
              <a:rPr lang="en-US" sz="1800" dirty="0">
                <a:solidFill>
                  <a:srgbClr val="B0BEC5"/>
                </a:solidFill>
                <a:latin typeface="Quattrocento Sans" pitchFamily="34" charset="0"/>
                <a:ea typeface="Quattrocento Sans" pitchFamily="34" charset="-122"/>
                <a:cs typeface="Quattrocento Sans" pitchFamily="34" charset="-120"/>
              </a:rPr>
              <a:t>Se hur ett robotsystem</a:t>
            </a:r>
            <a:endParaRPr lang="en-US" sz="1600" dirty="0"/>
          </a:p>
          <a:p>
            <a:pPr algn="ctr">
              <a:lnSpc>
                <a:spcPct val="170000"/>
              </a:lnSpc>
            </a:pPr>
            <a:r>
              <a:rPr lang="en-US" sz="1800" dirty="0">
                <a:solidFill>
                  <a:srgbClr val="B0BEC5"/>
                </a:solidFill>
                <a:latin typeface="Quattrocento Sans" pitchFamily="34" charset="0"/>
                <a:ea typeface="Quattrocento Sans" pitchFamily="34" charset="-122"/>
                <a:cs typeface="Quattrocento Sans" pitchFamily="34" charset="-120"/>
              </a:rPr>
              <a:t>består av flera noder</a:t>
            </a:r>
            <a:endParaRPr lang="en-US" sz="1600" dirty="0"/>
          </a:p>
          <a:p>
            <a:pPr algn="ctr">
              <a:lnSpc>
                <a:spcPct val="170000"/>
              </a:lnSpc>
            </a:pPr>
            <a:r>
              <a:rPr lang="en-US" sz="1800" dirty="0">
                <a:solidFill>
                  <a:srgbClr val="B0BEC5"/>
                </a:solidFill>
                <a:latin typeface="Quattrocento Sans" pitchFamily="34" charset="0"/>
                <a:ea typeface="Quattrocento Sans" pitchFamily="34" charset="-122"/>
                <a:cs typeface="Quattrocento Sans" pitchFamily="34" charset="-120"/>
              </a:rPr>
              <a:t>som samarbetar via</a:t>
            </a:r>
            <a:endParaRPr lang="en-US" sz="1600" dirty="0"/>
          </a:p>
          <a:p>
            <a:pPr algn="ctr">
              <a:lnSpc>
                <a:spcPct val="170000"/>
              </a:lnSpc>
            </a:pPr>
            <a:r>
              <a:rPr lang="en-US" sz="1800" dirty="0">
                <a:solidFill>
                  <a:srgbClr val="B0BEC5"/>
                </a:solidFill>
                <a:latin typeface="Quattrocento Sans" pitchFamily="34" charset="0"/>
                <a:ea typeface="Quattrocento Sans" pitchFamily="34" charset="-122"/>
                <a:cs typeface="Quattrocento Sans" pitchFamily="34" charset="-120"/>
              </a:rPr>
              <a:t>topics och messages.</a:t>
            </a:r>
            <a:endParaRPr lang="en-US" sz="1600" dirty="0"/>
          </a:p>
          <a:p>
            <a:pPr algn="ctr">
              <a:lnSpc>
                <a:spcPct val="170000"/>
              </a:lnSpc>
              <a:spcBef>
                <a:spcPts val="1600"/>
              </a:spcBef>
            </a:pPr>
            <a:r>
              <a:rPr lang="en-US" sz="1800" b="1" dirty="0">
                <a:solidFill>
                  <a:srgbClr val="FFFFFF"/>
                </a:solidFill>
                <a:latin typeface="Quattrocento Sans" pitchFamily="34" charset="0"/>
                <a:ea typeface="Quattrocento Sans" pitchFamily="34" charset="-122"/>
                <a:cs typeface="Quattrocento Sans" pitchFamily="34" charset="-120"/>
              </a:rPr>
              <a:t>Praktisk erfarenhet av ROS2!</a:t>
            </a:r>
            <a:endParaRPr lang="en-US" sz="1600" dirty="0"/>
          </a:p>
        </p:txBody>
      </p:sp>
      <p:pic>
        <p:nvPicPr>
          <p:cNvPr id="30"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31" name="Text 27"/>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19</a:t>
            </a:r>
            <a:endParaRPr lang="en-US" sz="14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016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Viktiga kommandon</a:t>
            </a:r>
            <a:endParaRPr lang="en-US" sz="2800" dirty="0"/>
          </a:p>
        </p:txBody>
      </p:sp>
      <p:sp>
        <p:nvSpPr>
          <p:cNvPr id="5" name="Shape 2"/>
          <p:cNvSpPr/>
          <p:nvPr/>
        </p:nvSpPr>
        <p:spPr>
          <a:xfrm>
            <a:off x="762000" y="1587500"/>
            <a:ext cx="7239000" cy="1016000"/>
          </a:xfrm>
          <a:prstGeom prst="roundRect">
            <a:avLst>
              <a:gd name="adj" fmla="val 5000"/>
            </a:avLst>
          </a:prstGeom>
          <a:solidFill>
            <a:srgbClr val="1A2332"/>
          </a:solidFill>
          <a:ln/>
        </p:spPr>
      </p:sp>
      <p:sp>
        <p:nvSpPr>
          <p:cNvPr id="6" name="Text 3"/>
          <p:cNvSpPr/>
          <p:nvPr/>
        </p:nvSpPr>
        <p:spPr>
          <a:xfrm>
            <a:off x="1016000" y="165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KONTROLLERA ROS2-VERSION</a:t>
            </a:r>
            <a:endParaRPr lang="en-US" sz="1600" dirty="0"/>
          </a:p>
        </p:txBody>
      </p:sp>
      <p:sp>
        <p:nvSpPr>
          <p:cNvPr id="7" name="Text 4"/>
          <p:cNvSpPr/>
          <p:nvPr/>
        </p:nvSpPr>
        <p:spPr>
          <a:xfrm>
            <a:off x="1016000" y="196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ros2 --version</a:t>
            </a:r>
            <a:endParaRPr lang="en-US" sz="1600" dirty="0"/>
          </a:p>
        </p:txBody>
      </p:sp>
      <p:sp>
        <p:nvSpPr>
          <p:cNvPr id="8" name="Shape 5"/>
          <p:cNvSpPr/>
          <p:nvPr/>
        </p:nvSpPr>
        <p:spPr>
          <a:xfrm>
            <a:off x="8255000" y="1587500"/>
            <a:ext cx="7239000" cy="1016000"/>
          </a:xfrm>
          <a:prstGeom prst="roundRect">
            <a:avLst>
              <a:gd name="adj" fmla="val 5000"/>
            </a:avLst>
          </a:prstGeom>
          <a:solidFill>
            <a:srgbClr val="1A2332"/>
          </a:solidFill>
          <a:ln/>
        </p:spPr>
      </p:sp>
      <p:sp>
        <p:nvSpPr>
          <p:cNvPr id="9" name="Text 6"/>
          <p:cNvSpPr/>
          <p:nvPr/>
        </p:nvSpPr>
        <p:spPr>
          <a:xfrm>
            <a:off x="8509000" y="165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STARTA TURTLESIM</a:t>
            </a:r>
            <a:endParaRPr lang="en-US" sz="1600" dirty="0"/>
          </a:p>
        </p:txBody>
      </p:sp>
      <p:sp>
        <p:nvSpPr>
          <p:cNvPr id="10" name="Text 7"/>
          <p:cNvSpPr/>
          <p:nvPr/>
        </p:nvSpPr>
        <p:spPr>
          <a:xfrm>
            <a:off x="8509000" y="196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run turtlesim turtlesim_node</a:t>
            </a:r>
            <a:endParaRPr lang="en-US" sz="1600" dirty="0"/>
          </a:p>
        </p:txBody>
      </p:sp>
      <p:sp>
        <p:nvSpPr>
          <p:cNvPr id="11" name="Shape 8"/>
          <p:cNvSpPr/>
          <p:nvPr/>
        </p:nvSpPr>
        <p:spPr>
          <a:xfrm>
            <a:off x="762000" y="2857500"/>
            <a:ext cx="7239000" cy="1016000"/>
          </a:xfrm>
          <a:prstGeom prst="roundRect">
            <a:avLst>
              <a:gd name="adj" fmla="val 5000"/>
            </a:avLst>
          </a:prstGeom>
          <a:solidFill>
            <a:srgbClr val="1A2332"/>
          </a:solidFill>
          <a:ln/>
        </p:spPr>
      </p:sp>
      <p:sp>
        <p:nvSpPr>
          <p:cNvPr id="12" name="Text 9"/>
          <p:cNvSpPr/>
          <p:nvPr/>
        </p:nvSpPr>
        <p:spPr>
          <a:xfrm>
            <a:off x="1016000" y="292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STARTA TANGENTBORDSSTYRNING</a:t>
            </a:r>
            <a:endParaRPr lang="en-US" sz="1600" dirty="0"/>
          </a:p>
        </p:txBody>
      </p:sp>
      <p:sp>
        <p:nvSpPr>
          <p:cNvPr id="13" name="Text 10"/>
          <p:cNvSpPr/>
          <p:nvPr/>
        </p:nvSpPr>
        <p:spPr>
          <a:xfrm>
            <a:off x="1016000" y="323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run turtlesim turtle_teleop_key</a:t>
            </a:r>
            <a:endParaRPr lang="en-US" sz="1600" dirty="0"/>
          </a:p>
        </p:txBody>
      </p:sp>
      <p:sp>
        <p:nvSpPr>
          <p:cNvPr id="14" name="Shape 11"/>
          <p:cNvSpPr/>
          <p:nvPr/>
        </p:nvSpPr>
        <p:spPr>
          <a:xfrm>
            <a:off x="8255000" y="2857500"/>
            <a:ext cx="7239000" cy="1016000"/>
          </a:xfrm>
          <a:prstGeom prst="roundRect">
            <a:avLst>
              <a:gd name="adj" fmla="val 5000"/>
            </a:avLst>
          </a:prstGeom>
          <a:solidFill>
            <a:srgbClr val="1A2332"/>
          </a:solidFill>
          <a:ln/>
        </p:spPr>
      </p:sp>
      <p:sp>
        <p:nvSpPr>
          <p:cNvPr id="15" name="Text 12"/>
          <p:cNvSpPr/>
          <p:nvPr/>
        </p:nvSpPr>
        <p:spPr>
          <a:xfrm>
            <a:off x="8509000" y="292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LISTA ALLA NODER</a:t>
            </a:r>
            <a:endParaRPr lang="en-US" sz="1600" dirty="0"/>
          </a:p>
        </p:txBody>
      </p:sp>
      <p:sp>
        <p:nvSpPr>
          <p:cNvPr id="16" name="Text 13"/>
          <p:cNvSpPr/>
          <p:nvPr/>
        </p:nvSpPr>
        <p:spPr>
          <a:xfrm>
            <a:off x="8509000" y="323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node list</a:t>
            </a:r>
            <a:endParaRPr lang="en-US" sz="1600" dirty="0"/>
          </a:p>
        </p:txBody>
      </p:sp>
      <p:sp>
        <p:nvSpPr>
          <p:cNvPr id="17" name="Shape 14"/>
          <p:cNvSpPr/>
          <p:nvPr/>
        </p:nvSpPr>
        <p:spPr>
          <a:xfrm>
            <a:off x="762000" y="4127500"/>
            <a:ext cx="7239000" cy="1016000"/>
          </a:xfrm>
          <a:prstGeom prst="roundRect">
            <a:avLst>
              <a:gd name="adj" fmla="val 5000"/>
            </a:avLst>
          </a:prstGeom>
          <a:solidFill>
            <a:srgbClr val="1A2332"/>
          </a:solidFill>
          <a:ln/>
        </p:spPr>
      </p:sp>
      <p:sp>
        <p:nvSpPr>
          <p:cNvPr id="18" name="Text 15"/>
          <p:cNvSpPr/>
          <p:nvPr/>
        </p:nvSpPr>
        <p:spPr>
          <a:xfrm>
            <a:off x="1016000" y="419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INFO OM TURTLESIM-NODEN</a:t>
            </a:r>
            <a:endParaRPr lang="en-US" sz="1600" dirty="0"/>
          </a:p>
        </p:txBody>
      </p:sp>
      <p:sp>
        <p:nvSpPr>
          <p:cNvPr id="19" name="Text 16"/>
          <p:cNvSpPr/>
          <p:nvPr/>
        </p:nvSpPr>
        <p:spPr>
          <a:xfrm>
            <a:off x="1016000" y="450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node info /turtlesim</a:t>
            </a:r>
            <a:endParaRPr lang="en-US" sz="1600" dirty="0"/>
          </a:p>
        </p:txBody>
      </p:sp>
      <p:sp>
        <p:nvSpPr>
          <p:cNvPr id="20" name="Shape 17"/>
          <p:cNvSpPr/>
          <p:nvPr/>
        </p:nvSpPr>
        <p:spPr>
          <a:xfrm>
            <a:off x="8255000" y="4127500"/>
            <a:ext cx="7239000" cy="1016000"/>
          </a:xfrm>
          <a:prstGeom prst="roundRect">
            <a:avLst>
              <a:gd name="adj" fmla="val 5000"/>
            </a:avLst>
          </a:prstGeom>
          <a:solidFill>
            <a:srgbClr val="1A2332"/>
          </a:solidFill>
          <a:ln/>
        </p:spPr>
      </p:sp>
      <p:sp>
        <p:nvSpPr>
          <p:cNvPr id="21" name="Text 18"/>
          <p:cNvSpPr/>
          <p:nvPr/>
        </p:nvSpPr>
        <p:spPr>
          <a:xfrm>
            <a:off x="8509000" y="4191000"/>
            <a:ext cx="6731000" cy="254000"/>
          </a:xfrm>
          <a:prstGeom prst="rect">
            <a:avLst/>
          </a:prstGeom>
          <a:noFill/>
          <a:ln/>
        </p:spPr>
        <p:txBody>
          <a:bodyPr wrap="none" lIns="0" tIns="0" rIns="0" bIns="0" rtlCol="0" anchor="ctr"/>
          <a:lstStyle/>
          <a:p>
            <a:pPr>
              <a:lnSpc>
                <a:spcPct val="100000"/>
              </a:lnSpc>
            </a:pPr>
            <a:r>
              <a:rPr lang="en-US" sz="1200" kern="0" spc="100" dirty="0">
                <a:solidFill>
                  <a:srgbClr val="6B7B8D"/>
                </a:solidFill>
                <a:latin typeface="Liter" pitchFamily="34" charset="0"/>
                <a:ea typeface="Liter" pitchFamily="34" charset="-122"/>
                <a:cs typeface="Liter" pitchFamily="34" charset="-120"/>
              </a:rPr>
              <a:t>INFO OM TELEOP-NODEN</a:t>
            </a:r>
            <a:endParaRPr lang="en-US" sz="1600" dirty="0"/>
          </a:p>
        </p:txBody>
      </p:sp>
      <p:sp>
        <p:nvSpPr>
          <p:cNvPr id="22" name="Text 19"/>
          <p:cNvSpPr/>
          <p:nvPr/>
        </p:nvSpPr>
        <p:spPr>
          <a:xfrm>
            <a:off x="8509000" y="4508500"/>
            <a:ext cx="6731000" cy="508000"/>
          </a:xfrm>
          <a:prstGeom prst="rect">
            <a:avLst/>
          </a:prstGeom>
          <a:noFill/>
          <a:ln/>
        </p:spPr>
        <p:txBody>
          <a:bodyPr wrap="none" lIns="0" tIns="0" rIns="0" bIns="0" rtlCol="0" anchor="ctr"/>
          <a:lstStyle/>
          <a:p>
            <a:pPr>
              <a:lnSpc>
                <a:spcPct val="160000"/>
              </a:lnSpc>
            </a:pPr>
            <a:r>
              <a:rPr lang="en-US" sz="1600" dirty="0">
                <a:solidFill>
                  <a:srgbClr val="D81B2E"/>
                </a:solidFill>
                <a:latin typeface="Liter" pitchFamily="34" charset="0"/>
                <a:ea typeface="Liter" pitchFamily="34" charset="-122"/>
                <a:cs typeface="Liter" pitchFamily="34" charset="-120"/>
              </a:rPr>
              <a:t>$</a:t>
            </a:r>
            <a:r>
              <a:rPr lang="en-US" sz="1600" dirty="0">
                <a:solidFill>
                  <a:srgbClr val="E8EBF0"/>
                </a:solidFill>
                <a:latin typeface="Liter" pitchFamily="34" charset="0"/>
                <a:ea typeface="Liter" pitchFamily="34" charset="-122"/>
                <a:cs typeface="Liter" pitchFamily="34" charset="-120"/>
              </a:rPr>
              <a:t> ros2 node info /teleop_turtle</a:t>
            </a:r>
            <a:endParaRPr lang="en-US" sz="1600" dirty="0"/>
          </a:p>
        </p:txBody>
      </p:sp>
      <p:sp>
        <p:nvSpPr>
          <p:cNvPr id="23" name="Shape 20"/>
          <p:cNvSpPr/>
          <p:nvPr/>
        </p:nvSpPr>
        <p:spPr>
          <a:xfrm>
            <a:off x="762000" y="5588000"/>
            <a:ext cx="14732000" cy="1270000"/>
          </a:xfrm>
          <a:prstGeom prst="roundRect">
            <a:avLst>
              <a:gd name="adj" fmla="val 8000"/>
            </a:avLst>
          </a:prstGeom>
          <a:solidFill>
            <a:srgbClr val="E8EBF0"/>
          </a:solidFill>
          <a:ln w="12700">
            <a:solidFill>
              <a:srgbClr val="D0D5DD"/>
            </a:solidFill>
            <a:prstDash val="solid"/>
          </a:ln>
        </p:spPr>
      </p:sp>
      <p:sp>
        <p:nvSpPr>
          <p:cNvPr id="24" name="Shape 21"/>
          <p:cNvSpPr/>
          <p:nvPr/>
        </p:nvSpPr>
        <p:spPr>
          <a:xfrm>
            <a:off x="762000" y="5588000"/>
            <a:ext cx="63500" cy="1270000"/>
          </a:xfrm>
          <a:prstGeom prst="rect">
            <a:avLst/>
          </a:prstGeom>
          <a:solidFill>
            <a:srgbClr val="D81B2E"/>
          </a:solidFill>
          <a:ln/>
        </p:spPr>
      </p:sp>
      <p:sp>
        <p:nvSpPr>
          <p:cNvPr id="25" name="Shape 22"/>
          <p:cNvSpPr/>
          <p:nvPr/>
        </p:nvSpPr>
        <p:spPr>
          <a:xfrm>
            <a:off x="1193800" y="59690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D81B2E"/>
          </a:solidFill>
          <a:ln/>
        </p:spPr>
      </p:sp>
      <p:sp>
        <p:nvSpPr>
          <p:cNvPr id="26" name="Text 23"/>
          <p:cNvSpPr/>
          <p:nvPr/>
        </p:nvSpPr>
        <p:spPr>
          <a:xfrm>
            <a:off x="1714500" y="5778500"/>
            <a:ext cx="13462000" cy="889000"/>
          </a:xfrm>
          <a:prstGeom prst="rect">
            <a:avLst/>
          </a:prstGeom>
          <a:noFill/>
          <a:ln/>
        </p:spPr>
        <p:txBody>
          <a:bodyPr wrap="square" lIns="0" tIns="0" rIns="0" bIns="0" rtlCol="0" anchor="ctr"/>
          <a:lstStyle/>
          <a:p>
            <a:pPr>
              <a:lnSpc>
                <a:spcPct val="150000"/>
              </a:lnSpc>
            </a:pPr>
            <a:r>
              <a:rPr lang="en-US" sz="1800" dirty="0">
                <a:solidFill>
                  <a:srgbClr val="1A2332"/>
                </a:solidFill>
                <a:latin typeface="Quattrocento Sans" pitchFamily="34" charset="0"/>
                <a:ea typeface="Quattrocento Sans" pitchFamily="34" charset="-122"/>
                <a:cs typeface="Quattrocento Sans" pitchFamily="34" charset="-120"/>
              </a:rPr>
              <a:t>Använd </a:t>
            </a:r>
            <a:r>
              <a:rPr lang="en-US" sz="1800" b="1" dirty="0">
                <a:solidFill>
                  <a:srgbClr val="1A2332"/>
                </a:solidFill>
                <a:latin typeface="Quattrocento Sans" pitchFamily="34" charset="0"/>
                <a:ea typeface="Quattrocento Sans" pitchFamily="34" charset="-122"/>
                <a:cs typeface="Quattrocento Sans" pitchFamily="34" charset="-120"/>
              </a:rPr>
              <a:t>TAB-tangenten</a:t>
            </a:r>
            <a:r>
              <a:rPr lang="en-US" sz="1800" dirty="0">
                <a:solidFill>
                  <a:srgbClr val="1A2332"/>
                </a:solidFill>
                <a:latin typeface="Quattrocento Sans" pitchFamily="34" charset="0"/>
                <a:ea typeface="Quattrocento Sans" pitchFamily="34" charset="-122"/>
                <a:cs typeface="Quattrocento Sans" pitchFamily="34" charset="-120"/>
              </a:rPr>
              <a:t> för automatisk komplettering av kommandon i terminalen. Skriv </a:t>
            </a:r>
            <a:r>
              <a:rPr lang="en-US" sz="1800" dirty="0">
                <a:solidFill>
                  <a:srgbClr val="D81B2E"/>
                </a:solidFill>
                <a:latin typeface="Quattrocento Sans" pitchFamily="34" charset="0"/>
                <a:ea typeface="Quattrocento Sans" pitchFamily="34" charset="-122"/>
                <a:cs typeface="Quattrocento Sans" pitchFamily="34" charset="-120"/>
              </a:rPr>
              <a:t>ros2 </a:t>
            </a:r>
            <a:r>
              <a:rPr lang="en-US" sz="1800" dirty="0">
                <a:solidFill>
                  <a:srgbClr val="1A2332"/>
                </a:solidFill>
                <a:latin typeface="Quattrocento Sans" pitchFamily="34" charset="0"/>
                <a:ea typeface="Quattrocento Sans" pitchFamily="34" charset="-122"/>
                <a:cs typeface="Quattrocento Sans" pitchFamily="34" charset="-120"/>
              </a:rPr>
              <a:t>och tryck TAB två gånger för att se alla möjliga kommandon.</a:t>
            </a:r>
            <a:endParaRPr lang="en-US" sz="1600" dirty="0"/>
          </a:p>
        </p:txBody>
      </p:sp>
      <p:pic>
        <p:nvPicPr>
          <p:cNvPr id="27"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8" name="Text 24"/>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20</a:t>
            </a:r>
            <a:endParaRPr lang="en-US" sz="14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5"/>
        </a:solidFill>
        <a:effectLst/>
      </p:bgPr>
    </p:bg>
    <p:spTree>
      <p:nvGrpSpPr>
        <p:cNvPr id="1" name=""/>
        <p:cNvGrpSpPr/>
        <p:nvPr/>
      </p:nvGrpSpPr>
      <p:grpSpPr>
        <a:xfrm>
          <a:off x="0" y="0"/>
          <a:ext cx="0" cy="0"/>
          <a:chOff x="0" y="0"/>
          <a:chExt cx="0" cy="0"/>
        </a:xfrm>
      </p:grpSpPr>
      <p:sp>
        <p:nvSpPr>
          <p:cNvPr id="3" name="Shape 0"/>
          <p:cNvSpPr/>
          <p:nvPr/>
        </p:nvSpPr>
        <p:spPr>
          <a:xfrm>
            <a:off x="762000" y="609600"/>
            <a:ext cx="762000" cy="50800"/>
          </a:xfrm>
          <a:prstGeom prst="rect">
            <a:avLst/>
          </a:prstGeom>
          <a:solidFill>
            <a:srgbClr val="D81B2E"/>
          </a:solidFill>
          <a:ln/>
        </p:spPr>
      </p:sp>
      <p:sp>
        <p:nvSpPr>
          <p:cNvPr id="4" name="Text 1"/>
          <p:cNvSpPr/>
          <p:nvPr/>
        </p:nvSpPr>
        <p:spPr>
          <a:xfrm>
            <a:off x="762000" y="762000"/>
            <a:ext cx="11430000" cy="508000"/>
          </a:xfrm>
          <a:prstGeom prst="rect">
            <a:avLst/>
          </a:prstGeom>
          <a:noFill/>
          <a:ln/>
        </p:spPr>
        <p:txBody>
          <a:bodyPr wrap="none" lIns="0" tIns="0" rIns="0" bIns="0" rtlCol="0" anchor="ctr"/>
          <a:lstStyle/>
          <a:p>
            <a:pPr>
              <a:lnSpc>
                <a:spcPct val="130000"/>
              </a:lnSpc>
            </a:pPr>
            <a:r>
              <a:rPr lang="en-US" sz="2800" kern="0" spc="100" dirty="0">
                <a:solidFill>
                  <a:srgbClr val="0F2B46"/>
                </a:solidFill>
                <a:latin typeface="Liter" pitchFamily="34" charset="0"/>
                <a:ea typeface="Liter" pitchFamily="34" charset="-122"/>
                <a:cs typeface="Liter" pitchFamily="34" charset="-120"/>
              </a:rPr>
              <a:t>Det viktigaste att komma ihåg</a:t>
            </a:r>
            <a:endParaRPr lang="en-US" sz="2800" dirty="0"/>
          </a:p>
        </p:txBody>
      </p:sp>
      <p:sp>
        <p:nvSpPr>
          <p:cNvPr id="5" name="Shape 2"/>
          <p:cNvSpPr/>
          <p:nvPr/>
        </p:nvSpPr>
        <p:spPr>
          <a:xfrm>
            <a:off x="762000" y="1587500"/>
            <a:ext cx="4699000" cy="1651000"/>
          </a:xfrm>
          <a:prstGeom prst="roundRect">
            <a:avLst>
              <a:gd name="adj" fmla="val 8000"/>
            </a:avLst>
          </a:prstGeom>
          <a:solidFill>
            <a:srgbClr val="0F2B46"/>
          </a:solidFill>
          <a:ln/>
        </p:spPr>
      </p:sp>
      <p:sp>
        <p:nvSpPr>
          <p:cNvPr id="6" name="Shape 3"/>
          <p:cNvSpPr/>
          <p:nvPr/>
        </p:nvSpPr>
        <p:spPr>
          <a:xfrm>
            <a:off x="990600" y="1841500"/>
            <a:ext cx="457200" cy="406400"/>
          </a:xfrm>
          <a:custGeom>
            <a:avLst/>
            <a:gdLst/>
            <a:ahLst/>
            <a:cxnLst/>
            <a:rect l="l" t="t" r="r" b="b"/>
            <a:pathLst>
              <a:path w="457200" h="406400">
                <a:moveTo>
                  <a:pt x="373539" y="297339"/>
                </a:moveTo>
                <a:lnTo>
                  <a:pt x="449739" y="221139"/>
                </a:lnTo>
                <a:cubicBezTo>
                  <a:pt x="459661" y="211217"/>
                  <a:pt x="459661" y="195104"/>
                  <a:pt x="449739" y="185182"/>
                </a:cubicBezTo>
                <a:lnTo>
                  <a:pt x="373539" y="108982"/>
                </a:lnTo>
                <a:cubicBezTo>
                  <a:pt x="363617" y="99060"/>
                  <a:pt x="347504" y="99060"/>
                  <a:pt x="337582" y="108982"/>
                </a:cubicBezTo>
                <a:cubicBezTo>
                  <a:pt x="327660" y="118904"/>
                  <a:pt x="327660" y="135017"/>
                  <a:pt x="337582" y="144939"/>
                </a:cubicBezTo>
                <a:lnTo>
                  <a:pt x="370443" y="177800"/>
                </a:lnTo>
                <a:lnTo>
                  <a:pt x="86678" y="177800"/>
                </a:lnTo>
                <a:lnTo>
                  <a:pt x="119539" y="144939"/>
                </a:lnTo>
                <a:cubicBezTo>
                  <a:pt x="129461" y="135017"/>
                  <a:pt x="129461" y="118904"/>
                  <a:pt x="119539" y="108982"/>
                </a:cubicBezTo>
                <a:cubicBezTo>
                  <a:pt x="109617" y="99060"/>
                  <a:pt x="93504" y="99060"/>
                  <a:pt x="83582" y="108982"/>
                </a:cubicBezTo>
                <a:lnTo>
                  <a:pt x="7382" y="185182"/>
                </a:lnTo>
                <a:cubicBezTo>
                  <a:pt x="2619" y="189944"/>
                  <a:pt x="-79" y="196374"/>
                  <a:pt x="-79" y="203121"/>
                </a:cubicBezTo>
                <a:cubicBezTo>
                  <a:pt x="-79" y="209868"/>
                  <a:pt x="2619" y="216297"/>
                  <a:pt x="7382" y="221059"/>
                </a:cubicBezTo>
                <a:lnTo>
                  <a:pt x="83582" y="297259"/>
                </a:lnTo>
                <a:cubicBezTo>
                  <a:pt x="93504" y="307181"/>
                  <a:pt x="109617" y="307181"/>
                  <a:pt x="119539" y="297259"/>
                </a:cubicBezTo>
                <a:cubicBezTo>
                  <a:pt x="129461" y="287338"/>
                  <a:pt x="129461" y="271224"/>
                  <a:pt x="119539" y="261302"/>
                </a:cubicBezTo>
                <a:lnTo>
                  <a:pt x="86678" y="228441"/>
                </a:lnTo>
                <a:lnTo>
                  <a:pt x="370443" y="228441"/>
                </a:lnTo>
                <a:lnTo>
                  <a:pt x="337582" y="261302"/>
                </a:lnTo>
                <a:cubicBezTo>
                  <a:pt x="327660" y="271224"/>
                  <a:pt x="327660" y="287338"/>
                  <a:pt x="337582" y="297259"/>
                </a:cubicBezTo>
                <a:cubicBezTo>
                  <a:pt x="347504" y="307181"/>
                  <a:pt x="363617" y="307181"/>
                  <a:pt x="373539" y="297259"/>
                </a:cubicBezTo>
                <a:close/>
              </a:path>
            </a:pathLst>
          </a:custGeom>
          <a:solidFill>
            <a:srgbClr val="D81B2E"/>
          </a:solidFill>
          <a:ln/>
        </p:spPr>
      </p:sp>
      <p:sp>
        <p:nvSpPr>
          <p:cNvPr id="7" name="Text 4"/>
          <p:cNvSpPr/>
          <p:nvPr/>
        </p:nvSpPr>
        <p:spPr>
          <a:xfrm>
            <a:off x="1016000" y="2349500"/>
            <a:ext cx="4191000" cy="6985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ROS2</a:t>
            </a:r>
            <a:r>
              <a:rPr lang="en-US" sz="1600" dirty="0">
                <a:solidFill>
                  <a:srgbClr val="FFFFFF"/>
                </a:solidFill>
                <a:latin typeface="Quattrocento Sans" pitchFamily="34" charset="0"/>
                <a:ea typeface="Quattrocento Sans" pitchFamily="34" charset="-122"/>
                <a:cs typeface="Quattrocento Sans" pitchFamily="34" charset="-120"/>
              </a:rPr>
              <a:t> används för kommunikation i robotsystem</a:t>
            </a:r>
            <a:endParaRPr lang="en-US" sz="1600" dirty="0"/>
          </a:p>
        </p:txBody>
      </p:sp>
      <p:sp>
        <p:nvSpPr>
          <p:cNvPr id="8" name="Shape 5"/>
          <p:cNvSpPr/>
          <p:nvPr/>
        </p:nvSpPr>
        <p:spPr>
          <a:xfrm>
            <a:off x="5778500" y="1587500"/>
            <a:ext cx="4699000" cy="1651000"/>
          </a:xfrm>
          <a:prstGeom prst="roundRect">
            <a:avLst>
              <a:gd name="adj" fmla="val 8000"/>
            </a:avLst>
          </a:prstGeom>
          <a:solidFill>
            <a:srgbClr val="0F2B46"/>
          </a:solidFill>
          <a:ln/>
        </p:spPr>
      </p:sp>
      <p:sp>
        <p:nvSpPr>
          <p:cNvPr id="9" name="Shape 6"/>
          <p:cNvSpPr/>
          <p:nvPr/>
        </p:nvSpPr>
        <p:spPr>
          <a:xfrm>
            <a:off x="6032500" y="1841500"/>
            <a:ext cx="406400" cy="406400"/>
          </a:xfrm>
          <a:custGeom>
            <a:avLst/>
            <a:gdLst/>
            <a:ahLst/>
            <a:cxnLst/>
            <a:rect l="l" t="t" r="r" b="b"/>
            <a:pathLst>
              <a:path w="406400" h="406400">
                <a:moveTo>
                  <a:pt x="178038" y="-1984"/>
                </a:moveTo>
                <a:cubicBezTo>
                  <a:pt x="193754" y="-11033"/>
                  <a:pt x="213122" y="-11033"/>
                  <a:pt x="228838" y="-1984"/>
                </a:cubicBezTo>
                <a:lnTo>
                  <a:pt x="368459" y="78581"/>
                </a:lnTo>
                <a:cubicBezTo>
                  <a:pt x="384175" y="87630"/>
                  <a:pt x="393859" y="104458"/>
                  <a:pt x="393859" y="122555"/>
                </a:cubicBezTo>
                <a:lnTo>
                  <a:pt x="393859" y="283686"/>
                </a:lnTo>
                <a:cubicBezTo>
                  <a:pt x="393859" y="301863"/>
                  <a:pt x="384175" y="318611"/>
                  <a:pt x="368459" y="327660"/>
                </a:cubicBezTo>
                <a:lnTo>
                  <a:pt x="228838" y="408384"/>
                </a:lnTo>
                <a:cubicBezTo>
                  <a:pt x="213122" y="417433"/>
                  <a:pt x="193754" y="417433"/>
                  <a:pt x="178038" y="408384"/>
                </a:cubicBezTo>
                <a:lnTo>
                  <a:pt x="38497" y="327819"/>
                </a:lnTo>
                <a:cubicBezTo>
                  <a:pt x="22781" y="318770"/>
                  <a:pt x="13097" y="301943"/>
                  <a:pt x="13097" y="283845"/>
                </a:cubicBezTo>
                <a:lnTo>
                  <a:pt x="13097" y="122714"/>
                </a:lnTo>
                <a:cubicBezTo>
                  <a:pt x="13097" y="104537"/>
                  <a:pt x="22781" y="87789"/>
                  <a:pt x="38497" y="78740"/>
                </a:cubicBezTo>
                <a:lnTo>
                  <a:pt x="178038" y="-1984"/>
                </a:lnTo>
                <a:close/>
                <a:moveTo>
                  <a:pt x="342979" y="283766"/>
                </a:moveTo>
                <a:lnTo>
                  <a:pt x="342979" y="151924"/>
                </a:lnTo>
                <a:lnTo>
                  <a:pt x="228838" y="217805"/>
                </a:lnTo>
                <a:lnTo>
                  <a:pt x="228838" y="349647"/>
                </a:lnTo>
                <a:lnTo>
                  <a:pt x="342979" y="283766"/>
                </a:lnTo>
                <a:close/>
              </a:path>
            </a:pathLst>
          </a:custGeom>
          <a:solidFill>
            <a:srgbClr val="D81B2E"/>
          </a:solidFill>
          <a:ln/>
        </p:spPr>
      </p:sp>
      <p:sp>
        <p:nvSpPr>
          <p:cNvPr id="10" name="Text 7"/>
          <p:cNvSpPr/>
          <p:nvPr/>
        </p:nvSpPr>
        <p:spPr>
          <a:xfrm>
            <a:off x="6032500" y="2349500"/>
            <a:ext cx="4191000" cy="698500"/>
          </a:xfrm>
          <a:prstGeom prst="rect">
            <a:avLst/>
          </a:prstGeom>
          <a:noFill/>
          <a:ln/>
        </p:spPr>
        <p:txBody>
          <a:bodyPr wrap="square" lIns="0" tIns="0" rIns="0" bIns="0" rtlCol="0" anchor="t"/>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En </a:t>
            </a:r>
            <a:r>
              <a:rPr lang="en-US" sz="1600" b="1" dirty="0">
                <a:solidFill>
                  <a:srgbClr val="FFFFFF"/>
                </a:solidFill>
                <a:latin typeface="Quattrocento Sans" pitchFamily="34" charset="0"/>
                <a:ea typeface="Quattrocento Sans" pitchFamily="34" charset="-122"/>
                <a:cs typeface="Quattrocento Sans" pitchFamily="34" charset="-120"/>
              </a:rPr>
              <a:t>node</a:t>
            </a:r>
            <a:r>
              <a:rPr lang="en-US" sz="1600" dirty="0">
                <a:solidFill>
                  <a:srgbClr val="FFFFFF"/>
                </a:solidFill>
                <a:latin typeface="Quattrocento Sans" pitchFamily="34" charset="0"/>
                <a:ea typeface="Quattrocento Sans" pitchFamily="34" charset="-122"/>
                <a:cs typeface="Quattrocento Sans" pitchFamily="34" charset="-120"/>
              </a:rPr>
              <a:t> är ett program med en specifik uppgift</a:t>
            </a:r>
            <a:endParaRPr lang="en-US" sz="1600" dirty="0"/>
          </a:p>
        </p:txBody>
      </p:sp>
      <p:sp>
        <p:nvSpPr>
          <p:cNvPr id="11" name="Shape 8"/>
          <p:cNvSpPr/>
          <p:nvPr/>
        </p:nvSpPr>
        <p:spPr>
          <a:xfrm>
            <a:off x="10795000" y="1587500"/>
            <a:ext cx="4699000" cy="1651000"/>
          </a:xfrm>
          <a:prstGeom prst="roundRect">
            <a:avLst>
              <a:gd name="adj" fmla="val 8000"/>
            </a:avLst>
          </a:prstGeom>
          <a:solidFill>
            <a:srgbClr val="0F2B46"/>
          </a:solidFill>
          <a:ln/>
        </p:spPr>
      </p:sp>
      <p:sp>
        <p:nvSpPr>
          <p:cNvPr id="12" name="Shape 9"/>
          <p:cNvSpPr/>
          <p:nvPr/>
        </p:nvSpPr>
        <p:spPr>
          <a:xfrm>
            <a:off x="11049000" y="1841500"/>
            <a:ext cx="406400" cy="406400"/>
          </a:xfrm>
          <a:custGeom>
            <a:avLst/>
            <a:gdLst/>
            <a:ahLst/>
            <a:cxnLst/>
            <a:rect l="l" t="t" r="r" b="b"/>
            <a:pathLst>
              <a:path w="406400" h="406400">
                <a:moveTo>
                  <a:pt x="392748" y="11906"/>
                </a:moveTo>
                <a:cubicBezTo>
                  <a:pt x="402828" y="8969"/>
                  <a:pt x="408622" y="-1667"/>
                  <a:pt x="405686" y="-11748"/>
                </a:cubicBezTo>
                <a:cubicBezTo>
                  <a:pt x="402749" y="-21828"/>
                  <a:pt x="392113" y="-27622"/>
                  <a:pt x="382032" y="-24606"/>
                </a:cubicBezTo>
                <a:lnTo>
                  <a:pt x="41116" y="75327"/>
                </a:lnTo>
                <a:cubicBezTo>
                  <a:pt x="33655" y="77470"/>
                  <a:pt x="26908" y="81042"/>
                  <a:pt x="21114" y="85725"/>
                </a:cubicBezTo>
                <a:cubicBezTo>
                  <a:pt x="8334" y="95012"/>
                  <a:pt x="0" y="110014"/>
                  <a:pt x="0" y="127000"/>
                </a:cubicBezTo>
                <a:lnTo>
                  <a:pt x="0" y="330200"/>
                </a:lnTo>
                <a:cubicBezTo>
                  <a:pt x="0" y="358219"/>
                  <a:pt x="22781" y="381000"/>
                  <a:pt x="50800" y="381000"/>
                </a:cubicBezTo>
                <a:lnTo>
                  <a:pt x="355600" y="381000"/>
                </a:lnTo>
                <a:cubicBezTo>
                  <a:pt x="383619" y="381000"/>
                  <a:pt x="406400" y="358219"/>
                  <a:pt x="406400" y="330200"/>
                </a:cubicBezTo>
                <a:lnTo>
                  <a:pt x="406400" y="127000"/>
                </a:lnTo>
                <a:cubicBezTo>
                  <a:pt x="406400" y="98981"/>
                  <a:pt x="383619" y="76200"/>
                  <a:pt x="355600" y="76200"/>
                </a:cubicBezTo>
                <a:lnTo>
                  <a:pt x="173434" y="76200"/>
                </a:lnTo>
                <a:lnTo>
                  <a:pt x="392748" y="11906"/>
                </a:lnTo>
                <a:close/>
                <a:moveTo>
                  <a:pt x="292100" y="165100"/>
                </a:moveTo>
                <a:cubicBezTo>
                  <a:pt x="327147" y="165100"/>
                  <a:pt x="355600" y="193553"/>
                  <a:pt x="355600" y="228600"/>
                </a:cubicBezTo>
                <a:cubicBezTo>
                  <a:pt x="355600" y="263647"/>
                  <a:pt x="327147" y="292100"/>
                  <a:pt x="292100" y="292100"/>
                </a:cubicBezTo>
                <a:cubicBezTo>
                  <a:pt x="257053" y="292100"/>
                  <a:pt x="228600" y="263647"/>
                  <a:pt x="228600" y="228600"/>
                </a:cubicBezTo>
                <a:cubicBezTo>
                  <a:pt x="228600" y="193553"/>
                  <a:pt x="257053" y="165100"/>
                  <a:pt x="292100" y="165100"/>
                </a:cubicBezTo>
                <a:close/>
                <a:moveTo>
                  <a:pt x="50800" y="196850"/>
                </a:moveTo>
                <a:cubicBezTo>
                  <a:pt x="50800" y="186293"/>
                  <a:pt x="59293" y="177800"/>
                  <a:pt x="69850" y="177800"/>
                </a:cubicBezTo>
                <a:lnTo>
                  <a:pt x="158750" y="177800"/>
                </a:lnTo>
                <a:cubicBezTo>
                  <a:pt x="169307" y="177800"/>
                  <a:pt x="177800" y="186293"/>
                  <a:pt x="177800" y="196850"/>
                </a:cubicBezTo>
                <a:cubicBezTo>
                  <a:pt x="177800" y="207407"/>
                  <a:pt x="169307" y="215900"/>
                  <a:pt x="158750" y="215900"/>
                </a:cubicBezTo>
                <a:lnTo>
                  <a:pt x="69850" y="215900"/>
                </a:lnTo>
                <a:cubicBezTo>
                  <a:pt x="59293" y="215900"/>
                  <a:pt x="50800" y="207407"/>
                  <a:pt x="50800" y="196850"/>
                </a:cubicBezTo>
                <a:close/>
                <a:moveTo>
                  <a:pt x="50800" y="273050"/>
                </a:moveTo>
                <a:cubicBezTo>
                  <a:pt x="50800" y="262493"/>
                  <a:pt x="59293" y="254000"/>
                  <a:pt x="69850" y="254000"/>
                </a:cubicBezTo>
                <a:lnTo>
                  <a:pt x="158750" y="254000"/>
                </a:lnTo>
                <a:cubicBezTo>
                  <a:pt x="169307" y="254000"/>
                  <a:pt x="177800" y="262493"/>
                  <a:pt x="177800" y="273050"/>
                </a:cubicBezTo>
                <a:cubicBezTo>
                  <a:pt x="177800" y="283607"/>
                  <a:pt x="169307" y="292100"/>
                  <a:pt x="158750" y="292100"/>
                </a:cubicBezTo>
                <a:lnTo>
                  <a:pt x="69850" y="292100"/>
                </a:lnTo>
                <a:cubicBezTo>
                  <a:pt x="59293" y="292100"/>
                  <a:pt x="50800" y="283607"/>
                  <a:pt x="50800" y="273050"/>
                </a:cubicBezTo>
                <a:close/>
              </a:path>
            </a:pathLst>
          </a:custGeom>
          <a:solidFill>
            <a:srgbClr val="D81B2E"/>
          </a:solidFill>
          <a:ln/>
        </p:spPr>
      </p:sp>
      <p:sp>
        <p:nvSpPr>
          <p:cNvPr id="13" name="Text 10"/>
          <p:cNvSpPr/>
          <p:nvPr/>
        </p:nvSpPr>
        <p:spPr>
          <a:xfrm>
            <a:off x="11049000" y="2349500"/>
            <a:ext cx="4191000" cy="698500"/>
          </a:xfrm>
          <a:prstGeom prst="rect">
            <a:avLst/>
          </a:prstGeom>
          <a:noFill/>
          <a:ln/>
        </p:spPr>
        <p:txBody>
          <a:bodyPr wrap="square" lIns="0" tIns="0" rIns="0" bIns="0" rtlCol="0" anchor="t"/>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Ett </a:t>
            </a:r>
            <a:r>
              <a:rPr lang="en-US" sz="1600" b="1" dirty="0">
                <a:solidFill>
                  <a:srgbClr val="FFFFFF"/>
                </a:solidFill>
                <a:latin typeface="Quattrocento Sans" pitchFamily="34" charset="0"/>
                <a:ea typeface="Quattrocento Sans" pitchFamily="34" charset="-122"/>
                <a:cs typeface="Quattrocento Sans" pitchFamily="34" charset="-120"/>
              </a:rPr>
              <a:t>topic</a:t>
            </a:r>
            <a:r>
              <a:rPr lang="en-US" sz="1600" dirty="0">
                <a:solidFill>
                  <a:srgbClr val="FFFFFF"/>
                </a:solidFill>
                <a:latin typeface="Quattrocento Sans" pitchFamily="34" charset="0"/>
                <a:ea typeface="Quattrocento Sans" pitchFamily="34" charset="-122"/>
                <a:cs typeface="Quattrocento Sans" pitchFamily="34" charset="-120"/>
              </a:rPr>
              <a:t> är en kanal för data mellan noder</a:t>
            </a:r>
            <a:endParaRPr lang="en-US" sz="1600" dirty="0"/>
          </a:p>
        </p:txBody>
      </p:sp>
      <p:sp>
        <p:nvSpPr>
          <p:cNvPr id="14" name="Shape 11"/>
          <p:cNvSpPr/>
          <p:nvPr/>
        </p:nvSpPr>
        <p:spPr>
          <a:xfrm>
            <a:off x="762000" y="3556000"/>
            <a:ext cx="4699000" cy="1651000"/>
          </a:xfrm>
          <a:prstGeom prst="roundRect">
            <a:avLst>
              <a:gd name="adj" fmla="val 8000"/>
            </a:avLst>
          </a:prstGeom>
          <a:solidFill>
            <a:srgbClr val="0F2B46"/>
          </a:solidFill>
          <a:ln/>
        </p:spPr>
      </p:sp>
      <p:sp>
        <p:nvSpPr>
          <p:cNvPr id="15" name="Shape 12"/>
          <p:cNvSpPr/>
          <p:nvPr/>
        </p:nvSpPr>
        <p:spPr>
          <a:xfrm>
            <a:off x="1016000" y="3810000"/>
            <a:ext cx="406400" cy="406400"/>
          </a:xfrm>
          <a:custGeom>
            <a:avLst/>
            <a:gdLst/>
            <a:ahLst/>
            <a:cxnLst/>
            <a:rect l="l" t="t" r="r" b="b"/>
            <a:pathLst>
              <a:path w="406400" h="406400">
                <a:moveTo>
                  <a:pt x="38100" y="50800"/>
                </a:moveTo>
                <a:cubicBezTo>
                  <a:pt x="17066" y="50800"/>
                  <a:pt x="0" y="67866"/>
                  <a:pt x="0" y="88900"/>
                </a:cubicBezTo>
                <a:cubicBezTo>
                  <a:pt x="0" y="100886"/>
                  <a:pt x="5636" y="112157"/>
                  <a:pt x="15240" y="119380"/>
                </a:cubicBezTo>
                <a:lnTo>
                  <a:pt x="180340" y="243205"/>
                </a:lnTo>
                <a:cubicBezTo>
                  <a:pt x="193913" y="253365"/>
                  <a:pt x="212487" y="253365"/>
                  <a:pt x="226060" y="243205"/>
                </a:cubicBezTo>
                <a:lnTo>
                  <a:pt x="391160" y="119380"/>
                </a:lnTo>
                <a:cubicBezTo>
                  <a:pt x="400764" y="112157"/>
                  <a:pt x="406400" y="100886"/>
                  <a:pt x="406400" y="88900"/>
                </a:cubicBezTo>
                <a:cubicBezTo>
                  <a:pt x="406400" y="67866"/>
                  <a:pt x="389334" y="50800"/>
                  <a:pt x="368300" y="50800"/>
                </a:cubicBezTo>
                <a:lnTo>
                  <a:pt x="38100" y="50800"/>
                </a:lnTo>
                <a:close/>
                <a:moveTo>
                  <a:pt x="0" y="155575"/>
                </a:moveTo>
                <a:lnTo>
                  <a:pt x="0" y="304800"/>
                </a:lnTo>
                <a:cubicBezTo>
                  <a:pt x="0" y="332819"/>
                  <a:pt x="22781" y="355600"/>
                  <a:pt x="50800" y="355600"/>
                </a:cubicBezTo>
                <a:lnTo>
                  <a:pt x="355600" y="355600"/>
                </a:lnTo>
                <a:cubicBezTo>
                  <a:pt x="383619" y="355600"/>
                  <a:pt x="406400" y="332819"/>
                  <a:pt x="406400" y="304800"/>
                </a:cubicBezTo>
                <a:lnTo>
                  <a:pt x="406400" y="155575"/>
                </a:lnTo>
                <a:lnTo>
                  <a:pt x="248920" y="273685"/>
                </a:lnTo>
                <a:cubicBezTo>
                  <a:pt x="221853" y="294005"/>
                  <a:pt x="184547" y="294005"/>
                  <a:pt x="157480" y="273685"/>
                </a:cubicBezTo>
                <a:lnTo>
                  <a:pt x="0" y="155575"/>
                </a:lnTo>
                <a:close/>
              </a:path>
            </a:pathLst>
          </a:custGeom>
          <a:solidFill>
            <a:srgbClr val="D81B2E"/>
          </a:solidFill>
          <a:ln/>
        </p:spPr>
      </p:sp>
      <p:sp>
        <p:nvSpPr>
          <p:cNvPr id="16" name="Text 13"/>
          <p:cNvSpPr/>
          <p:nvPr/>
        </p:nvSpPr>
        <p:spPr>
          <a:xfrm>
            <a:off x="1016000" y="4318000"/>
            <a:ext cx="4191000" cy="698500"/>
          </a:xfrm>
          <a:prstGeom prst="rect">
            <a:avLst/>
          </a:prstGeom>
          <a:noFill/>
          <a:ln/>
        </p:spPr>
        <p:txBody>
          <a:bodyPr wrap="square" lIns="0" tIns="0" rIns="0" bIns="0" rtlCol="0" anchor="t"/>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Ett </a:t>
            </a:r>
            <a:r>
              <a:rPr lang="en-US" sz="1600" b="1" dirty="0">
                <a:solidFill>
                  <a:srgbClr val="FFFFFF"/>
                </a:solidFill>
                <a:latin typeface="Quattrocento Sans" pitchFamily="34" charset="0"/>
                <a:ea typeface="Quattrocento Sans" pitchFamily="34" charset="-122"/>
                <a:cs typeface="Quattrocento Sans" pitchFamily="34" charset="-120"/>
              </a:rPr>
              <a:t>message</a:t>
            </a:r>
            <a:r>
              <a:rPr lang="en-US" sz="1600" dirty="0">
                <a:solidFill>
                  <a:srgbClr val="FFFFFF"/>
                </a:solidFill>
                <a:latin typeface="Quattrocento Sans" pitchFamily="34" charset="0"/>
                <a:ea typeface="Quattrocento Sans" pitchFamily="34" charset="-122"/>
                <a:cs typeface="Quattrocento Sans" pitchFamily="34" charset="-120"/>
              </a:rPr>
              <a:t> är datan som skickas</a:t>
            </a:r>
            <a:endParaRPr lang="en-US" sz="1600" dirty="0"/>
          </a:p>
        </p:txBody>
      </p:sp>
      <p:sp>
        <p:nvSpPr>
          <p:cNvPr id="17" name="Shape 14"/>
          <p:cNvSpPr/>
          <p:nvPr/>
        </p:nvSpPr>
        <p:spPr>
          <a:xfrm>
            <a:off x="5778500" y="3556000"/>
            <a:ext cx="4699000" cy="1651000"/>
          </a:xfrm>
          <a:prstGeom prst="roundRect">
            <a:avLst>
              <a:gd name="adj" fmla="val 8000"/>
            </a:avLst>
          </a:prstGeom>
          <a:solidFill>
            <a:srgbClr val="0F2B46"/>
          </a:solidFill>
          <a:ln/>
        </p:spPr>
      </p:sp>
      <p:sp>
        <p:nvSpPr>
          <p:cNvPr id="18" name="Shape 15"/>
          <p:cNvSpPr/>
          <p:nvPr/>
        </p:nvSpPr>
        <p:spPr>
          <a:xfrm>
            <a:off x="6007100" y="3810000"/>
            <a:ext cx="457200" cy="406400"/>
          </a:xfrm>
          <a:custGeom>
            <a:avLst/>
            <a:gdLst/>
            <a:ahLst/>
            <a:cxnLst/>
            <a:rect l="l" t="t" r="r" b="b"/>
            <a:pathLst>
              <a:path w="457200" h="406400">
                <a:moveTo>
                  <a:pt x="425767" y="-20876"/>
                </a:moveTo>
                <a:cubicBezTo>
                  <a:pt x="433546" y="-23654"/>
                  <a:pt x="442119" y="-21669"/>
                  <a:pt x="447993" y="-15875"/>
                </a:cubicBezTo>
                <a:cubicBezTo>
                  <a:pt x="453866" y="-10081"/>
                  <a:pt x="455771" y="-1429"/>
                  <a:pt x="452993" y="6350"/>
                </a:cubicBezTo>
                <a:lnTo>
                  <a:pt x="311706" y="400764"/>
                </a:lnTo>
                <a:cubicBezTo>
                  <a:pt x="307737" y="411797"/>
                  <a:pt x="297339" y="419100"/>
                  <a:pt x="285671" y="419100"/>
                </a:cubicBezTo>
                <a:cubicBezTo>
                  <a:pt x="274399" y="419100"/>
                  <a:pt x="264239" y="412274"/>
                  <a:pt x="260032" y="401876"/>
                </a:cubicBezTo>
                <a:lnTo>
                  <a:pt x="209074" y="276463"/>
                </a:lnTo>
                <a:cubicBezTo>
                  <a:pt x="205502" y="267732"/>
                  <a:pt x="207089" y="257731"/>
                  <a:pt x="213201" y="250587"/>
                </a:cubicBezTo>
                <a:lnTo>
                  <a:pt x="288211" y="161369"/>
                </a:lnTo>
                <a:cubicBezTo>
                  <a:pt x="292259" y="156528"/>
                  <a:pt x="291941" y="149463"/>
                  <a:pt x="287496" y="145018"/>
                </a:cubicBezTo>
                <a:cubicBezTo>
                  <a:pt x="283051" y="140573"/>
                  <a:pt x="275907" y="140256"/>
                  <a:pt x="271145" y="144304"/>
                </a:cubicBezTo>
                <a:lnTo>
                  <a:pt x="181928" y="219154"/>
                </a:lnTo>
                <a:cubicBezTo>
                  <a:pt x="174704" y="225187"/>
                  <a:pt x="164783" y="226774"/>
                  <a:pt x="156051" y="223282"/>
                </a:cubicBezTo>
                <a:lnTo>
                  <a:pt x="30242" y="172085"/>
                </a:lnTo>
                <a:cubicBezTo>
                  <a:pt x="19844" y="167878"/>
                  <a:pt x="13018" y="157718"/>
                  <a:pt x="13018" y="146447"/>
                </a:cubicBezTo>
                <a:cubicBezTo>
                  <a:pt x="13018" y="134779"/>
                  <a:pt x="20320" y="124381"/>
                  <a:pt x="31353" y="120412"/>
                </a:cubicBezTo>
                <a:lnTo>
                  <a:pt x="425767" y="-20876"/>
                </a:lnTo>
                <a:close/>
              </a:path>
            </a:pathLst>
          </a:custGeom>
          <a:solidFill>
            <a:srgbClr val="D81B2E"/>
          </a:solidFill>
          <a:ln/>
        </p:spPr>
      </p:sp>
      <p:sp>
        <p:nvSpPr>
          <p:cNvPr id="19" name="Text 16"/>
          <p:cNvSpPr/>
          <p:nvPr/>
        </p:nvSpPr>
        <p:spPr>
          <a:xfrm>
            <a:off x="6032500" y="4318000"/>
            <a:ext cx="4191000" cy="6985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Publisher</a:t>
            </a:r>
            <a:r>
              <a:rPr lang="en-US" sz="1600" dirty="0">
                <a:solidFill>
                  <a:srgbClr val="FFFFFF"/>
                </a:solidFill>
                <a:latin typeface="Quattrocento Sans" pitchFamily="34" charset="0"/>
                <a:ea typeface="Quattrocento Sans" pitchFamily="34" charset="-122"/>
                <a:cs typeface="Quattrocento Sans" pitchFamily="34" charset="-120"/>
              </a:rPr>
              <a:t> skickar data, </a:t>
            </a:r>
            <a:r>
              <a:rPr lang="en-US" sz="1600" b="1" dirty="0">
                <a:solidFill>
                  <a:srgbClr val="FFFFFF"/>
                </a:solidFill>
                <a:latin typeface="Quattrocento Sans" pitchFamily="34" charset="0"/>
                <a:ea typeface="Quattrocento Sans" pitchFamily="34" charset="-122"/>
                <a:cs typeface="Quattrocento Sans" pitchFamily="34" charset="-120"/>
              </a:rPr>
              <a:t>Subscriber</a:t>
            </a:r>
            <a:r>
              <a:rPr lang="en-US" sz="1600" dirty="0">
                <a:solidFill>
                  <a:srgbClr val="FFFFFF"/>
                </a:solidFill>
                <a:latin typeface="Quattrocento Sans" pitchFamily="34" charset="0"/>
                <a:ea typeface="Quattrocento Sans" pitchFamily="34" charset="-122"/>
                <a:cs typeface="Quattrocento Sans" pitchFamily="34" charset="-120"/>
              </a:rPr>
              <a:t> tar emot</a:t>
            </a:r>
            <a:endParaRPr lang="en-US" sz="1600" dirty="0"/>
          </a:p>
        </p:txBody>
      </p:sp>
      <p:sp>
        <p:nvSpPr>
          <p:cNvPr id="20" name="Shape 17"/>
          <p:cNvSpPr/>
          <p:nvPr/>
        </p:nvSpPr>
        <p:spPr>
          <a:xfrm>
            <a:off x="10795000" y="3556000"/>
            <a:ext cx="4699000" cy="1651000"/>
          </a:xfrm>
          <a:prstGeom prst="roundRect">
            <a:avLst>
              <a:gd name="adj" fmla="val 8000"/>
            </a:avLst>
          </a:prstGeom>
          <a:solidFill>
            <a:srgbClr val="D81B2E"/>
          </a:solidFill>
          <a:ln/>
        </p:spPr>
      </p:sp>
      <p:sp>
        <p:nvSpPr>
          <p:cNvPr id="21" name="Shape 18"/>
          <p:cNvSpPr/>
          <p:nvPr/>
        </p:nvSpPr>
        <p:spPr>
          <a:xfrm>
            <a:off x="11049000" y="3810000"/>
            <a:ext cx="406400" cy="406400"/>
          </a:xfrm>
          <a:custGeom>
            <a:avLst/>
            <a:gdLst/>
            <a:ahLst/>
            <a:cxnLst/>
            <a:rect l="l" t="t" r="r" b="b"/>
            <a:pathLst>
              <a:path w="406400" h="406400"/>
            </a:pathLst>
          </a:custGeom>
          <a:solidFill>
            <a:srgbClr val="FFFFFF"/>
          </a:solidFill>
          <a:ln/>
        </p:spPr>
      </p:sp>
      <p:sp>
        <p:nvSpPr>
          <p:cNvPr id="22" name="Text 19"/>
          <p:cNvSpPr/>
          <p:nvPr/>
        </p:nvSpPr>
        <p:spPr>
          <a:xfrm>
            <a:off x="11049000" y="4318000"/>
            <a:ext cx="4191000" cy="6985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Turtlesim</a:t>
            </a:r>
            <a:r>
              <a:rPr lang="en-US" sz="1600" dirty="0">
                <a:solidFill>
                  <a:srgbClr val="FFFFFF"/>
                </a:solidFill>
                <a:latin typeface="Quattrocento Sans" pitchFamily="34" charset="0"/>
                <a:ea typeface="Quattrocento Sans" pitchFamily="34" charset="-122"/>
                <a:cs typeface="Quattrocento Sans" pitchFamily="34" charset="-120"/>
              </a:rPr>
              <a:t> är vårt första enkla robotsystem</a:t>
            </a:r>
            <a:endParaRPr lang="en-US" sz="1600" dirty="0"/>
          </a:p>
        </p:txBody>
      </p:sp>
      <p:sp>
        <p:nvSpPr>
          <p:cNvPr id="23" name="Shape 20"/>
          <p:cNvSpPr/>
          <p:nvPr/>
        </p:nvSpPr>
        <p:spPr>
          <a:xfrm>
            <a:off x="762000" y="5651500"/>
            <a:ext cx="14732000" cy="1270000"/>
          </a:xfrm>
          <a:prstGeom prst="roundRect">
            <a:avLst>
              <a:gd name="adj" fmla="val 8000"/>
            </a:avLst>
          </a:prstGeom>
          <a:solidFill>
            <a:srgbClr val="E8EBF0"/>
          </a:solidFill>
          <a:ln w="12700">
            <a:solidFill>
              <a:srgbClr val="D0D5DD"/>
            </a:solidFill>
            <a:prstDash val="solid"/>
          </a:ln>
        </p:spPr>
      </p:sp>
      <p:sp>
        <p:nvSpPr>
          <p:cNvPr id="24" name="Shape 21"/>
          <p:cNvSpPr/>
          <p:nvPr/>
        </p:nvSpPr>
        <p:spPr>
          <a:xfrm>
            <a:off x="762000" y="5651500"/>
            <a:ext cx="63500" cy="1270000"/>
          </a:xfrm>
          <a:prstGeom prst="rect">
            <a:avLst/>
          </a:prstGeom>
          <a:solidFill>
            <a:srgbClr val="D81B2E"/>
          </a:solidFill>
          <a:ln/>
        </p:spPr>
      </p:sp>
      <p:sp>
        <p:nvSpPr>
          <p:cNvPr id="25" name="Text 22"/>
          <p:cNvSpPr/>
          <p:nvPr/>
        </p:nvSpPr>
        <p:spPr>
          <a:xfrm>
            <a:off x="1143000" y="5778500"/>
            <a:ext cx="13970000" cy="1016000"/>
          </a:xfrm>
          <a:prstGeom prst="rect">
            <a:avLst/>
          </a:prstGeom>
          <a:noFill/>
          <a:ln/>
        </p:spPr>
        <p:txBody>
          <a:bodyPr wrap="square" lIns="0" tIns="0" rIns="0" bIns="0" rtlCol="0" anchor="ctr"/>
          <a:lstStyle/>
          <a:p>
            <a:pPr algn="ctr">
              <a:lnSpc>
                <a:spcPct val="150000"/>
              </a:lnSpc>
            </a:pPr>
            <a:r>
              <a:rPr lang="en-US" sz="2000" dirty="0">
                <a:solidFill>
                  <a:srgbClr val="1A2332"/>
                </a:solidFill>
                <a:latin typeface="Quattrocento Sans" pitchFamily="34" charset="0"/>
                <a:ea typeface="Quattrocento Sans" pitchFamily="34" charset="-122"/>
                <a:cs typeface="Quattrocento Sans" pitchFamily="34" charset="-120"/>
              </a:rPr>
              <a:t>Med dessa grundkoncept kan ni börja bygga </a:t>
            </a:r>
            <a:r>
              <a:rPr lang="en-US" sz="2000" b="1" dirty="0">
                <a:solidFill>
                  <a:srgbClr val="1A2332"/>
                </a:solidFill>
                <a:latin typeface="Quattrocento Sans" pitchFamily="34" charset="0"/>
                <a:ea typeface="Quattrocento Sans" pitchFamily="34" charset="-122"/>
                <a:cs typeface="Quattrocento Sans" pitchFamily="34" charset="-120"/>
              </a:rPr>
              <a:t>vilken ROS2-robot som helst</a:t>
            </a:r>
            <a:r>
              <a:rPr lang="en-US" sz="2000" dirty="0">
                <a:solidFill>
                  <a:srgbClr val="1A2332"/>
                </a:solidFill>
                <a:latin typeface="Quattrocento Sans" pitchFamily="34" charset="0"/>
                <a:ea typeface="Quattrocento Sans" pitchFamily="34" charset="-122"/>
                <a:cs typeface="Quattrocento Sans" pitchFamily="34" charset="-120"/>
              </a:rPr>
              <a:t> — från en liten sköldpadda till en avancerad autonom robot!</a:t>
            </a:r>
            <a:endParaRPr lang="en-US" sz="1600" dirty="0"/>
          </a:p>
        </p:txBody>
      </p:sp>
      <p:pic>
        <p:nvPicPr>
          <p:cNvPr id="26" name="Image 0" descr="https://kimi-img.moonshot.cn/pub/slides/okc/5jmymwkzqpipe/mnt/agents/output/ros2-intro/images/logo.png"/>
          <p:cNvPicPr>
            <a:picLocks noChangeAspect="1"/>
          </p:cNvPicPr>
          <p:nvPr/>
        </p:nvPicPr>
        <p:blipFill>
          <a:blip r:embed="rId3">
            <a:alphaModFix amt="60000"/>
          </a:blip>
          <a:srcRect l="-9818" r="-9818"/>
          <a:stretch/>
        </p:blipFill>
        <p:spPr>
          <a:xfrm>
            <a:off x="14478000" y="8509000"/>
            <a:ext cx="1270000" cy="381000"/>
          </a:xfrm>
          <a:prstGeom prst="rect">
            <a:avLst/>
          </a:prstGeom>
        </p:spPr>
      </p:pic>
      <p:sp>
        <p:nvSpPr>
          <p:cNvPr id="27" name="Text 23"/>
          <p:cNvSpPr/>
          <p:nvPr/>
        </p:nvSpPr>
        <p:spPr>
          <a:xfrm>
            <a:off x="762000" y="8572500"/>
            <a:ext cx="508000" cy="254000"/>
          </a:xfrm>
          <a:prstGeom prst="rect">
            <a:avLst/>
          </a:prstGeom>
          <a:noFill/>
          <a:ln/>
        </p:spPr>
        <p:txBody>
          <a:bodyPr wrap="none" lIns="0" tIns="0" rIns="0" bIns="0" rtlCol="0" anchor="ctr"/>
          <a:lstStyle/>
          <a:p>
            <a:pPr>
              <a:lnSpc>
                <a:spcPct val="140000"/>
              </a:lnSpc>
            </a:pPr>
            <a:r>
              <a:rPr lang="en-US" sz="1400" dirty="0">
                <a:solidFill>
                  <a:srgbClr val="6B7B8D"/>
                </a:solidFill>
                <a:latin typeface="QuattrocentoSans" pitchFamily="34" charset="0"/>
                <a:ea typeface="QuattrocentoSans" pitchFamily="34" charset="-122"/>
                <a:cs typeface="QuattrocentoSans" pitchFamily="34" charset="-120"/>
              </a:rPr>
              <a:t>21</a:t>
            </a:r>
            <a:endParaRPr lang="en-US" sz="14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gradFill flip="none" rotWithShape="1">
          <a:gsLst>
            <a:gs pos="0">
              <a:srgbClr val="0F2B46"/>
            </a:gs>
            <a:gs pos="100000">
              <a:srgbClr val="0A1E32"/>
            </a:gs>
          </a:gsLst>
          <a:lin ang="8100000" scaled="1"/>
        </a:gradFill>
        <a:effectLst/>
      </p:bgPr>
    </p:bg>
    <p:spTree>
      <p:nvGrpSpPr>
        <p:cNvPr id="1" name=""/>
        <p:cNvGrpSpPr/>
        <p:nvPr/>
      </p:nvGrpSpPr>
      <p:grpSpPr>
        <a:xfrm>
          <a:off x="0" y="0"/>
          <a:ext cx="0" cy="0"/>
          <a:chOff x="0" y="0"/>
          <a:chExt cx="0" cy="0"/>
        </a:xfrm>
      </p:grpSpPr>
      <p:sp>
        <p:nvSpPr>
          <p:cNvPr id="3" name="Shape 0"/>
          <p:cNvSpPr/>
          <p:nvPr/>
        </p:nvSpPr>
        <p:spPr>
          <a:xfrm>
            <a:off x="762000" y="762000"/>
            <a:ext cx="762000" cy="50800"/>
          </a:xfrm>
          <a:prstGeom prst="rect">
            <a:avLst/>
          </a:prstGeom>
          <a:solidFill>
            <a:srgbClr val="D81B2E"/>
          </a:solidFill>
          <a:ln/>
        </p:spPr>
      </p:sp>
      <p:sp>
        <p:nvSpPr>
          <p:cNvPr id="4" name="Text 1"/>
          <p:cNvSpPr/>
          <p:nvPr/>
        </p:nvSpPr>
        <p:spPr>
          <a:xfrm>
            <a:off x="1778000" y="1524000"/>
            <a:ext cx="12700000" cy="698500"/>
          </a:xfrm>
          <a:prstGeom prst="rect">
            <a:avLst/>
          </a:prstGeom>
          <a:noFill/>
          <a:ln/>
        </p:spPr>
        <p:txBody>
          <a:bodyPr wrap="none" lIns="0" tIns="0" rIns="0" bIns="0" rtlCol="0" anchor="ctr"/>
          <a:lstStyle/>
          <a:p>
            <a:pPr algn="ctr">
              <a:lnSpc>
                <a:spcPct val="120000"/>
              </a:lnSpc>
            </a:pPr>
            <a:r>
              <a:rPr lang="en-US" sz="4200" kern="0" spc="200" dirty="0">
                <a:solidFill>
                  <a:srgbClr val="FFFFFF"/>
                </a:solidFill>
                <a:latin typeface="Liter" pitchFamily="34" charset="0"/>
                <a:ea typeface="Liter" pitchFamily="34" charset="-122"/>
                <a:cs typeface="Liter" pitchFamily="34" charset="-120"/>
              </a:rPr>
              <a:t>Frågor och diskussion</a:t>
            </a:r>
            <a:endParaRPr lang="en-US" sz="4200" dirty="0"/>
          </a:p>
        </p:txBody>
      </p:sp>
      <p:sp>
        <p:nvSpPr>
          <p:cNvPr id="5" name="Shape 2"/>
          <p:cNvSpPr/>
          <p:nvPr/>
        </p:nvSpPr>
        <p:spPr>
          <a:xfrm>
            <a:off x="6858000" y="2349500"/>
            <a:ext cx="2540000" cy="38100"/>
          </a:xfrm>
          <a:prstGeom prst="rect">
            <a:avLst/>
          </a:prstGeom>
          <a:solidFill>
            <a:srgbClr val="D81B2E"/>
          </a:solidFill>
          <a:ln/>
        </p:spPr>
      </p:sp>
      <p:sp>
        <p:nvSpPr>
          <p:cNvPr id="6" name="Shape 3"/>
          <p:cNvSpPr/>
          <p:nvPr/>
        </p:nvSpPr>
        <p:spPr>
          <a:xfrm>
            <a:off x="1778000" y="2921000"/>
            <a:ext cx="12700000" cy="889000"/>
          </a:xfrm>
          <a:prstGeom prst="roundRect">
            <a:avLst>
              <a:gd name="adj" fmla="val 8000"/>
            </a:avLst>
          </a:prstGeom>
          <a:solidFill>
            <a:srgbClr val="FFFFFF">
              <a:alpha val="8235"/>
            </a:srgbClr>
          </a:solidFill>
          <a:ln w="12700">
            <a:solidFill>
              <a:srgbClr val="FFFFFF">
                <a:alpha val="18824"/>
              </a:srgbClr>
            </a:solidFill>
            <a:prstDash val="solid"/>
          </a:ln>
        </p:spPr>
      </p:sp>
      <p:sp>
        <p:nvSpPr>
          <p:cNvPr id="7" name="Shape 4"/>
          <p:cNvSpPr/>
          <p:nvPr/>
        </p:nvSpPr>
        <p:spPr>
          <a:xfrm>
            <a:off x="2095500" y="3175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81B2E"/>
          </a:solidFill>
          <a:ln/>
        </p:spPr>
      </p:sp>
      <p:sp>
        <p:nvSpPr>
          <p:cNvPr id="8" name="Text 5"/>
          <p:cNvSpPr/>
          <p:nvPr/>
        </p:nvSpPr>
        <p:spPr>
          <a:xfrm>
            <a:off x="2603500" y="3048000"/>
            <a:ext cx="11557000" cy="635000"/>
          </a:xfrm>
          <a:prstGeom prst="rect">
            <a:avLst/>
          </a:prstGeom>
          <a:noFill/>
          <a:ln/>
        </p:spPr>
        <p:txBody>
          <a:bodyPr wrap="square" lIns="0" tIns="0" rIns="0" bIns="0" rtlCol="0" anchor="ctr"/>
          <a:lstStyle/>
          <a:p>
            <a:pPr>
              <a:lnSpc>
                <a:spcPct val="140000"/>
              </a:lnSpc>
            </a:pPr>
            <a:r>
              <a:rPr lang="en-US" sz="2000" dirty="0">
                <a:solidFill>
                  <a:srgbClr val="FFFFFF"/>
                </a:solidFill>
                <a:latin typeface="Quattrocento Sans" pitchFamily="34" charset="0"/>
                <a:ea typeface="Quattrocento Sans" pitchFamily="34" charset="-122"/>
                <a:cs typeface="Quattrocento Sans" pitchFamily="34" charset="-120"/>
              </a:rPr>
              <a:t>Varför tror ni robotar delas upp i flera program?</a:t>
            </a:r>
            <a:endParaRPr lang="en-US" sz="1600" dirty="0"/>
          </a:p>
        </p:txBody>
      </p:sp>
      <p:sp>
        <p:nvSpPr>
          <p:cNvPr id="9" name="Shape 6"/>
          <p:cNvSpPr/>
          <p:nvPr/>
        </p:nvSpPr>
        <p:spPr>
          <a:xfrm>
            <a:off x="1778000" y="4064000"/>
            <a:ext cx="12700000" cy="889000"/>
          </a:xfrm>
          <a:prstGeom prst="roundRect">
            <a:avLst>
              <a:gd name="adj" fmla="val 8000"/>
            </a:avLst>
          </a:prstGeom>
          <a:solidFill>
            <a:srgbClr val="FFFFFF">
              <a:alpha val="8235"/>
            </a:srgbClr>
          </a:solidFill>
          <a:ln w="12700">
            <a:solidFill>
              <a:srgbClr val="FFFFFF">
                <a:alpha val="18824"/>
              </a:srgbClr>
            </a:solidFill>
            <a:prstDash val="solid"/>
          </a:ln>
        </p:spPr>
      </p:sp>
      <p:sp>
        <p:nvSpPr>
          <p:cNvPr id="10" name="Shape 7"/>
          <p:cNvSpPr/>
          <p:nvPr/>
        </p:nvSpPr>
        <p:spPr>
          <a:xfrm>
            <a:off x="2095500" y="4318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81B2E"/>
          </a:solidFill>
          <a:ln/>
        </p:spPr>
      </p:sp>
      <p:sp>
        <p:nvSpPr>
          <p:cNvPr id="11" name="Text 8"/>
          <p:cNvSpPr/>
          <p:nvPr/>
        </p:nvSpPr>
        <p:spPr>
          <a:xfrm>
            <a:off x="2603500" y="4191000"/>
            <a:ext cx="11557000" cy="635000"/>
          </a:xfrm>
          <a:prstGeom prst="rect">
            <a:avLst/>
          </a:prstGeom>
          <a:noFill/>
          <a:ln/>
        </p:spPr>
        <p:txBody>
          <a:bodyPr wrap="square" lIns="0" tIns="0" rIns="0" bIns="0" rtlCol="0" anchor="ctr"/>
          <a:lstStyle/>
          <a:p>
            <a:pPr>
              <a:lnSpc>
                <a:spcPct val="140000"/>
              </a:lnSpc>
            </a:pPr>
            <a:r>
              <a:rPr lang="en-US" sz="2000" dirty="0">
                <a:solidFill>
                  <a:srgbClr val="FFFFFF"/>
                </a:solidFill>
                <a:latin typeface="Quattrocento Sans" pitchFamily="34" charset="0"/>
                <a:ea typeface="Quattrocento Sans" pitchFamily="34" charset="-122"/>
                <a:cs typeface="Quattrocento Sans" pitchFamily="34" charset="-120"/>
              </a:rPr>
              <a:t>Vad skulle kunna vara en node i en riktig robot?</a:t>
            </a:r>
            <a:endParaRPr lang="en-US" sz="1600" dirty="0"/>
          </a:p>
        </p:txBody>
      </p:sp>
      <p:sp>
        <p:nvSpPr>
          <p:cNvPr id="12" name="Shape 9"/>
          <p:cNvSpPr/>
          <p:nvPr/>
        </p:nvSpPr>
        <p:spPr>
          <a:xfrm>
            <a:off x="1778000" y="5207000"/>
            <a:ext cx="12700000" cy="889000"/>
          </a:xfrm>
          <a:prstGeom prst="roundRect">
            <a:avLst>
              <a:gd name="adj" fmla="val 8000"/>
            </a:avLst>
          </a:prstGeom>
          <a:solidFill>
            <a:srgbClr val="FFFFFF">
              <a:alpha val="8235"/>
            </a:srgbClr>
          </a:solidFill>
          <a:ln w="12700">
            <a:solidFill>
              <a:srgbClr val="FFFFFF">
                <a:alpha val="18824"/>
              </a:srgbClr>
            </a:solidFill>
            <a:prstDash val="solid"/>
          </a:ln>
        </p:spPr>
      </p:sp>
      <p:sp>
        <p:nvSpPr>
          <p:cNvPr id="13" name="Shape 10"/>
          <p:cNvSpPr/>
          <p:nvPr/>
        </p:nvSpPr>
        <p:spPr>
          <a:xfrm>
            <a:off x="2095500" y="5461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81B2E"/>
          </a:solidFill>
          <a:ln/>
        </p:spPr>
      </p:sp>
      <p:sp>
        <p:nvSpPr>
          <p:cNvPr id="14" name="Text 11"/>
          <p:cNvSpPr/>
          <p:nvPr/>
        </p:nvSpPr>
        <p:spPr>
          <a:xfrm>
            <a:off x="2603500" y="5334000"/>
            <a:ext cx="11557000" cy="635000"/>
          </a:xfrm>
          <a:prstGeom prst="rect">
            <a:avLst/>
          </a:prstGeom>
          <a:noFill/>
          <a:ln/>
        </p:spPr>
        <p:txBody>
          <a:bodyPr wrap="square" lIns="0" tIns="0" rIns="0" bIns="0" rtlCol="0" anchor="ctr"/>
          <a:lstStyle/>
          <a:p>
            <a:pPr>
              <a:lnSpc>
                <a:spcPct val="140000"/>
              </a:lnSpc>
            </a:pPr>
            <a:r>
              <a:rPr lang="en-US" sz="2000" dirty="0">
                <a:solidFill>
                  <a:srgbClr val="FFFFFF"/>
                </a:solidFill>
                <a:latin typeface="Quattrocento Sans" pitchFamily="34" charset="0"/>
                <a:ea typeface="Quattrocento Sans" pitchFamily="34" charset="-122"/>
                <a:cs typeface="Quattrocento Sans" pitchFamily="34" charset="-120"/>
              </a:rPr>
              <a:t>Vad tror ni händer om kommunikationen mellan noder slutar fungera?</a:t>
            </a:r>
            <a:endParaRPr lang="en-US" sz="1600" dirty="0"/>
          </a:p>
        </p:txBody>
      </p:sp>
      <p:sp>
        <p:nvSpPr>
          <p:cNvPr id="15" name="Shape 12"/>
          <p:cNvSpPr/>
          <p:nvPr/>
        </p:nvSpPr>
        <p:spPr>
          <a:xfrm>
            <a:off x="1778000" y="6350000"/>
            <a:ext cx="12700000" cy="889000"/>
          </a:xfrm>
          <a:prstGeom prst="roundRect">
            <a:avLst>
              <a:gd name="adj" fmla="val 8000"/>
            </a:avLst>
          </a:prstGeom>
          <a:solidFill>
            <a:srgbClr val="FFFFFF">
              <a:alpha val="8235"/>
            </a:srgbClr>
          </a:solidFill>
          <a:ln w="12700">
            <a:solidFill>
              <a:srgbClr val="FFFFFF">
                <a:alpha val="18824"/>
              </a:srgbClr>
            </a:solidFill>
            <a:prstDash val="solid"/>
          </a:ln>
        </p:spPr>
      </p:sp>
      <p:sp>
        <p:nvSpPr>
          <p:cNvPr id="16" name="Shape 13"/>
          <p:cNvSpPr/>
          <p:nvPr/>
        </p:nvSpPr>
        <p:spPr>
          <a:xfrm>
            <a:off x="2095500" y="6604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81B2E"/>
          </a:solidFill>
          <a:ln/>
        </p:spPr>
      </p:sp>
      <p:sp>
        <p:nvSpPr>
          <p:cNvPr id="17" name="Text 14"/>
          <p:cNvSpPr/>
          <p:nvPr/>
        </p:nvSpPr>
        <p:spPr>
          <a:xfrm>
            <a:off x="2603500" y="6477000"/>
            <a:ext cx="11557000" cy="635000"/>
          </a:xfrm>
          <a:prstGeom prst="rect">
            <a:avLst/>
          </a:prstGeom>
          <a:noFill/>
          <a:ln/>
        </p:spPr>
        <p:txBody>
          <a:bodyPr wrap="square" lIns="0" tIns="0" rIns="0" bIns="0" rtlCol="0" anchor="ctr"/>
          <a:lstStyle/>
          <a:p>
            <a:pPr>
              <a:lnSpc>
                <a:spcPct val="140000"/>
              </a:lnSpc>
            </a:pPr>
            <a:r>
              <a:rPr lang="en-US" sz="2000" dirty="0">
                <a:solidFill>
                  <a:srgbClr val="FFFFFF"/>
                </a:solidFill>
                <a:latin typeface="Quattrocento Sans" pitchFamily="34" charset="0"/>
                <a:ea typeface="Quattrocento Sans" pitchFamily="34" charset="-122"/>
                <a:cs typeface="Quattrocento Sans" pitchFamily="34" charset="-120"/>
              </a:rPr>
              <a:t>Hur liknar turtlesim en riktig robot?</a:t>
            </a:r>
            <a:endParaRPr lang="en-US" sz="1600" dirty="0"/>
          </a:p>
        </p:txBody>
      </p:sp>
      <p:sp>
        <p:nvSpPr>
          <p:cNvPr id="18" name="Text 15"/>
          <p:cNvSpPr/>
          <p:nvPr/>
        </p:nvSpPr>
        <p:spPr>
          <a:xfrm>
            <a:off x="3048000" y="7620000"/>
            <a:ext cx="10160000" cy="444500"/>
          </a:xfrm>
          <a:prstGeom prst="rect">
            <a:avLst/>
          </a:prstGeom>
          <a:noFill/>
          <a:ln/>
        </p:spPr>
        <p:txBody>
          <a:bodyPr wrap="none" lIns="0" tIns="0" rIns="0" bIns="0" rtlCol="0" anchor="ctr"/>
          <a:lstStyle/>
          <a:p>
            <a:pPr algn="ctr">
              <a:lnSpc>
                <a:spcPct val="100000"/>
              </a:lnSpc>
            </a:pPr>
            <a:r>
              <a:rPr lang="en-US" sz="1800" dirty="0">
                <a:solidFill>
                  <a:srgbClr val="B0BEC5"/>
                </a:solidFill>
                <a:latin typeface="Quattrocento Sans" pitchFamily="34" charset="0"/>
                <a:ea typeface="Quattrocento Sans" pitchFamily="34" charset="-122"/>
                <a:cs typeface="Quattrocento Sans" pitchFamily="34" charset="-120"/>
              </a:rPr>
              <a:t>Diskutera med den som sitter bredvid er!</a:t>
            </a:r>
            <a:endParaRPr lang="en-US" sz="1600" dirty="0"/>
          </a:p>
        </p:txBody>
      </p:sp>
      <p:pic>
        <p:nvPicPr>
          <p:cNvPr id="19" name="Image 0" descr="https://kimi-img.moonshot.cn/pub/slides/okc/5jmymwkzqpipe/mnt/agents/output/ros2-intro/images/logo.png"/>
          <p:cNvPicPr>
            <a:picLocks noChangeAspect="1"/>
          </p:cNvPicPr>
          <p:nvPr/>
        </p:nvPicPr>
        <p:blipFill>
          <a:blip r:embed="rId3"/>
          <a:srcRect l="-16515" r="-16515"/>
          <a:stretch/>
        </p:blipFill>
        <p:spPr>
          <a:xfrm>
            <a:off x="6858000" y="8255000"/>
            <a:ext cx="2540000" cy="635000"/>
          </a:xfrm>
          <a:prstGeom prst="rect">
            <a:avLst/>
          </a:prstGeom>
        </p:spPr>
      </p:pic>
      <p:sp>
        <p:nvSpPr>
          <p:cNvPr id="20" name="Shape 16"/>
          <p:cNvSpPr/>
          <p:nvPr/>
        </p:nvSpPr>
        <p:spPr>
          <a:xfrm>
            <a:off x="0" y="8890000"/>
            <a:ext cx="16256000" cy="254000"/>
          </a:xfrm>
          <a:prstGeom prst="rect">
            <a:avLst/>
          </a:prstGeom>
          <a:solidFill>
            <a:srgbClr val="D81B2E"/>
          </a:solidFill>
          <a:ln/>
        </p:spPr>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Introduktion till ROS2</dc:title>
  <dc:subject>Introduktion till ROS2</dc:subject>
  <dc:creator>Kimi</dc:creator>
  <cp:lastModifiedBy>Kimi</cp:lastModifiedBy>
  <cp:revision>2</cp:revision>
  <dcterms:created xsi:type="dcterms:W3CDTF">2026-05-07T09:13:05Z</dcterms:created>
  <dcterms:modified xsi:type="dcterms:W3CDTF">2026-05-07T10:40:37Z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{"Label":"Introduktion till ROS2","ContentProducer":"001191110108MACG2KBH8F10000","ProduceID":"19e01b0a-8602-8c9a-8000-00002c63197b","ReservedCode1":"","ContentPropagator":"001191110108MACG2KBH8F20000","PropagateID":"19e01b0a-8602-8c9a-8000-00002c63197b","ReservedCode2":""}</vt:lpwstr>
  </property>
</Properties>
</file>