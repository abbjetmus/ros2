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23"/>
  </p:notesMasterIdLst>
  <p:handoutMasterIdLst>
    <p:handoutMasterId r:id="rId24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4F30B-45E3-4C6D-B566-2C665D8E35F9}" v="1" dt="2026-04-24T11:50:4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48" autoAdjust="0"/>
  </p:normalViewPr>
  <p:slideViewPr>
    <p:cSldViewPr snapToGrid="0">
      <p:cViewPr varScale="1">
        <p:scale>
          <a:sx n="98" d="100"/>
          <a:sy n="98" d="100"/>
        </p:scale>
        <p:origin x="21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5/10/relationships/revisionInfo" Target="revisionInfo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A4FD-FAFB-4CDA-9DC5-D20CA18269A9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E35E-F34C-4F0E-B8A1-D9F5F49CB3AD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Uppdaterad version av Driverbot-genomgången. Nytt i år: bilen styrs från ROS2 (samma noder som i turtlesim-labbarna) via MQTT till ESP8266. Projektmålet är en robotmopp som återskapar simuleringen från labb 7/8 i verkligheten.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enda som saknas för att koppla ihop ROS2 med bilen är en brygga — resten har eleverna redan gjort.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 kan inte köras på en ESP8266, och behöver inte det. ROS2 körs på datorn, bilen är en "drivrutin". Det är så riktiga robotar är byggda. Se ROS2/fran-turtlesim-till-riktig-bil.md för motiveringen.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Varför robotmopp: (1) turtlesim-labbarna är redan en städrobot-simulering, (2) det går att mäta resultatet objektivt med penna på papper, (3) det är en riktig produkt med tydliga hållbarhetsfrågor (batteri, reparerbarhet).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Kärnan i förslaget. Pennan är den viktigaste kopplingen: i turtlesim ser eleverna spåret direkt, på golvet får de samma sak med en whiteboardpenna tejpad under bilen. Då blir "hur mycket städade du?" en mätning.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Arenan är samma för alla, så resultat går att jämföra. Kartongväggar krävs — ultraljud ser inte en tejplinje. Golvpapper: byggpapper/skyddspapp på rulle från byggvaruhus är billigast.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Ultraljud räcker för nivå 2. Ljussensorn ger nivå 3-beteendet: se pennspåret (mörkt = redan städat) och styra mot oritad yta. LDR + 10 kOhm som spänningsdelare till A0. Kalibrera tröskeln med ros2 topic echo /ljus.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Kopplar direkt till centralt innehåll: mätning, testning, beräkning, rimlighetsbedömning. Rimlighetsbedömning på nivå 3: om moppen täcker 60 % av 4 m² på 2 min — hur lång tid tar ett klassrum?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Ordningen är viktig: firmware testas med mosquitto INNAN ROS2 kopplas in, annars vet man inte var felet sitter.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Testkommandon från WSL: mosquitto_pub -h maqiatto.com -u &lt;epost&gt; -P &lt;lösen&gt; -t "&lt;epost&gt;/cmd" -m "500,0". OBS: Maqiatto avvisar topics som inte börjar med e-posten.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Firmware gör INGA beslut längre — den kör bara det den blir tillsagd och rapporterar sensorer. All logik ligger i ROS2. Undantaget är dödmansgreppet, som måste ligga i firmware av säkerhetsskäl (WiFi kan dö).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Poängen med bryggan: byt bil, byt broker eller byt sensor — bara bryggan ändras, aldrig elevens städlogik.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Nivå 2 är exakt labb 10. Nivå 3: eleven väljer ett beteende, mäter täckning per tidsenhet med pennan och jämför med slumpvarianten. UNDVIK RITAT är det som direkt höjer täckningen: bilen styr bort från yta den redan täckt.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Nivå 1 = kedjan fungerar hela vägen OCH eleven täcker hela arenan (alla 64 rutor) manuellt med teleop, med tiden antecknad. Ingen autonomi krävs här — den börjar på nivå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Nivå 2 = första autonoma beteendet (stanna själv) och sedan moppen som städar själv, med resultatet mätt och analyserat.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Nivå 3 = eleven väljer och motiverar en strategi med mätdata, och kopplar till hållbarhet.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Täcker "Teknik, människa och samhälle": hållbarhet, etik, normer och tillgänglighet. Passar som seminarium eller som del i README-reflektionen.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8252" cy="6858000"/>
          </a:xfrm>
          <a:prstGeom prst="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pic>
        <p:nvPicPr>
          <p:cNvPr id="3" name="Picture 2" descr="bil.jpg"/>
          <p:cNvPicPr>
            <a:picLocks noChangeAspect="1"/>
          </p:cNvPicPr>
          <p:nvPr/>
        </p:nvPicPr>
        <p:blipFill>
          <a:blip r:embed="rId2"/>
          <a:srcRect t="10000" b="22000"/>
          <a:stretch>
            <a:fillRect/>
          </a:stretch>
        </p:blipFill>
        <p:spPr>
          <a:xfrm>
            <a:off x="4578252" y="0"/>
            <a:ext cx="761374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190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5CBE8"/>
                </a:solidFill>
              </a:rPr>
              <a:t>TEKNIK 2  ·  250s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2350000"/>
            <a:ext cx="37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DriverBot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500000"/>
            <a:ext cx="3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Från simulering till robotmopp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4500000"/>
            <a:ext cx="37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EBEB"/>
                </a:solidFill>
              </a:rPr>
              <a:t>ROS2  →  MQTT (Maqiatto)  →  Mikrokontroller</a:t>
            </a:r>
          </a:p>
          <a:p>
            <a:pPr algn="l"/>
            <a:r>
              <a:rPr sz="1400" b="0" i="0">
                <a:solidFill>
                  <a:srgbClr val="EBEBEB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EBEBEB"/>
                </a:solidFill>
              </a:rPr>
              <a:t>Hitachigymnasiet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0517" y="0"/>
            <a:ext cx="91440" cy="6858000"/>
          </a:xfrm>
          <a:prstGeom prst="rect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Förkunskaper som finns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Teknik</a:t>
            </a:r>
          </a:p>
          <a:p>
            <a:pPr>
              <a:spcAft>
                <a:spcPts val="300"/>
              </a:spcAft>
            </a:pPr>
            <a:r>
              <a:rPr b="0" sz="1600"/>
              <a:t>CAD:at delar i Inventor (motorhållare, axelkoppling, nummerplåt)</a:t>
            </a:r>
          </a:p>
          <a:p>
            <a:pPr>
              <a:spcAft>
                <a:spcPts val="300"/>
              </a:spcAft>
            </a:pPr>
            <a:r>
              <a:rPr b="0" sz="1600"/>
              <a:t>Kopplat motor, servo och ESP8266</a:t>
            </a:r>
          </a:p>
          <a:p>
            <a:pPr>
              <a:spcAft>
                <a:spcPts val="300"/>
              </a:spcAft>
            </a:pPr>
            <a:r>
              <a:rPr b="0" sz="1600"/>
              <a:t>Byggt en bil som kör och svänger</a:t>
            </a:r>
          </a:p>
          <a:p>
            <a:pPr>
              <a:spcAft>
                <a:spcPts val="300"/>
              </a:spcAft>
            </a:pPr>
            <a:r>
              <a:rPr b="0" sz="1600"/>
              <a:t>Styrt bilen via webbsida → MQTT → ESP (Driverbot 1.0)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Programmering</a:t>
            </a:r>
          </a:p>
          <a:p>
            <a:pPr>
              <a:spcAft>
                <a:spcPts val="300"/>
              </a:spcAft>
            </a:pPr>
            <a:r>
              <a:rPr b="0" sz="1600"/>
              <a:t>Kodat motor och servo i Arduino IDE</a:t>
            </a:r>
          </a:p>
          <a:p>
            <a:pPr>
              <a:spcAft>
                <a:spcPts val="300"/>
              </a:spcAft>
            </a:pPr>
            <a:r>
              <a:rPr b="0" sz="1600"/>
              <a:t>MQTT-klient på ESP8266 (EspMQTTClient)</a:t>
            </a:r>
          </a:p>
          <a:p>
            <a:pPr>
              <a:spcAft>
                <a:spcPts val="300"/>
              </a:spcAft>
            </a:pPr>
            <a:r>
              <a:rPr b="0" sz="1600"/>
              <a:t>ROS2 i WSL2 med turtlesim — labb 1–8</a:t>
            </a:r>
          </a:p>
          <a:p>
            <a:pPr lvl="1">
              <a:spcAft>
                <a:spcPts val="300"/>
              </a:spcAft>
            </a:pPr>
            <a:r>
              <a:rPr b="0" sz="1400"/>
              <a:t>Publisher, subscriber, tillståndsmaskin, parametrar, launch-fil</a:t>
            </a:r>
          </a:p>
          <a:p>
            <a:pPr>
              <a:spcAft>
                <a:spcPts val="300"/>
              </a:spcAft>
            </a:pPr>
            <a:r>
              <a:rPr b="0" sz="1600"/>
              <a:t>Vägg-undvikare (labb 7) och eget slutprojekt (labb 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Vad är nytt? Samma bil — ny hjärna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1025" y="18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9FA7"/>
                </a:solidFill>
              </a:rPr>
              <a:t>FÖRUT (Driverbot 1.0)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2250000"/>
            <a:ext cx="2400000" cy="650000"/>
          </a:xfrm>
          <a:prstGeom prst="round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Hemsida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knappar i webbläsaren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31025" y="2450000"/>
            <a:ext cx="500000" cy="25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81025" y="2250000"/>
            <a:ext cx="2400000" cy="650000"/>
          </a:xfrm>
          <a:prstGeom prst="round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MQTT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f500 · b500 · l90 · r90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31025" y="2450000"/>
            <a:ext cx="500000" cy="25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1025" y="2250000"/>
            <a:ext cx="2400000" cy="650000"/>
          </a:xfrm>
          <a:prstGeom prst="round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ESP8266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motor + servo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260"/>
                </a:solidFill>
              </a:rPr>
              <a:t>NU (Driverbot 2.0)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3650000"/>
            <a:ext cx="2400000" cy="90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ROS2-nod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din dator (WSL2)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samma kod som turtlesim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1025" y="3850000"/>
            <a:ext cx="500000" cy="250000"/>
          </a:xfrm>
          <a:prstGeom prst="rightArrow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/cmd_vel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1025" y="3650000"/>
            <a:ext cx="2400000" cy="90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bil_brygga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ROS2 ↔ MQTT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1025" y="3850000"/>
            <a:ext cx="500000" cy="250000"/>
          </a:xfrm>
          <a:prstGeom prst="rightArrow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1025" y="3650000"/>
            <a:ext cx="2400000" cy="900000"/>
          </a:xfrm>
          <a:prstGeom prst="roundRect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1A3260"/>
                </a:solidFill>
              </a:rPr>
              <a:t>MQTT-broker</a:t>
            </a:r>
          </a:p>
          <a:p>
            <a:pPr algn="ctr"/>
            <a:r>
              <a:rPr sz="1100" b="0">
                <a:solidFill>
                  <a:srgbClr val="1A3260"/>
                </a:solidFill>
              </a:rPr>
              <a:t>Maqiatto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31025" y="3850000"/>
            <a:ext cx="500000" cy="250000"/>
          </a:xfrm>
          <a:prstGeom prst="rightArrow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81025" y="3650000"/>
            <a:ext cx="2030000" cy="900000"/>
          </a:xfrm>
          <a:prstGeom prst="roundRect">
            <a:avLst/>
          </a:prstGeom>
          <a:solidFill>
            <a:srgbClr val="42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ESP8266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motor · servo · ultraljud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3031025" y="4600000"/>
            <a:ext cx="7000000" cy="250000"/>
          </a:xfrm>
          <a:prstGeom prst="leftArrow">
            <a:avLst/>
          </a:prstGeom>
          <a:solidFill>
            <a:srgbClr val="A2C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sensordata: avstånd (cm) → /ultraljud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250000"/>
            <a:ext cx="1102995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</a:rPr>
              <a:t>Webbsidan byts mot en ROS2-nod. Protokollet mot bilen förenklas till ett kommando: "hastighet,vinkel".</a:t>
            </a:r>
          </a:p>
          <a:p>
            <a:pPr algn="l"/>
            <a:r>
              <a:rPr sz="1400" b="0" i="0">
                <a:solidFill>
                  <a:srgbClr val="3D3D3D"/>
                </a:solidFill>
              </a:rPr>
              <a:t>Allt du lärde dig i turtlesim — noder, topics, tillståndsmaskiner — fungerar rakt av mot den riktiga bilen.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Projektet: Robotmopp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1"/>
              <a:t>Uppdrag: täck en 2 × 2 m yta — pennan under bilen ska ha ritat i alla rutor.</a:t>
            </a:r>
          </a:p>
          <a:p>
            <a:pPr>
              <a:spcAft>
                <a:spcPts val="400"/>
              </a:spcAft>
            </a:pPr>
            <a:r>
              <a:rPr sz="1800" b="1"/>
              <a:t>Nivå 1: du styr bilen manuellt från ROS2 och berör alla rutor · Nivå 2–3: bilen gör det själv</a:t>
            </a:r>
          </a:p>
          <a:p>
            <a:pPr>
              <a:spcAft>
                <a:spcPts val="400"/>
              </a:spcAft>
            </a:pPr>
            <a:r>
              <a:rPr sz="1800" b="0"/>
              <a:t>Målet är att återskapa din turtlesim-simulering i verkligheten:</a:t>
            </a:r>
          </a:p>
          <a:p>
            <a:pPr lvl="1">
              <a:spcAft>
                <a:spcPts val="400"/>
              </a:spcAft>
            </a:pPr>
            <a:r>
              <a:rPr sz="1600" b="0"/>
              <a:t>Labb 7 — vägg-undvikaren → bilen kör runt utan att krocka</a:t>
            </a:r>
          </a:p>
          <a:p>
            <a:pPr lvl="1">
              <a:spcAft>
                <a:spcPts val="400"/>
              </a:spcAft>
            </a:pPr>
            <a:r>
              <a:rPr sz="1600" b="0"/>
              <a:t>Labb 8 — robotmoppen i simulering → städprogram + täckningsmätning i turtlesim</a:t>
            </a:r>
          </a:p>
          <a:p>
            <a:pPr lvl="1">
              <a:spcAft>
                <a:spcPts val="400"/>
              </a:spcAft>
            </a:pPr>
            <a:r>
              <a:rPr sz="1600" b="0"/>
              <a:t>Pennspåret på skärmen → pennspåret på golvet</a:t>
            </a:r>
          </a:p>
          <a:p>
            <a:pPr>
              <a:spcAft>
                <a:spcPts val="400"/>
              </a:spcAft>
            </a:pPr>
            <a:r>
              <a:rPr sz="1800" b="0"/>
              <a:t>Verklig produkt: iRobot Braava, Roborock, Ecovacs — samma problem, samma lösningar</a:t>
            </a:r>
          </a:p>
          <a:p>
            <a:pPr>
              <a:spcAft>
                <a:spcPts val="400"/>
              </a:spcAft>
            </a:pPr>
            <a:r>
              <a:rPr sz="1800" b="0"/>
              <a:t>Mätbara resultat: täckningsgrad (%), tid, antal krockar, antal gånger fast</a:t>
            </a:r>
          </a:p>
          <a:p>
            <a:pPr>
              <a:spcAft>
                <a:spcPts val="400"/>
              </a:spcAft>
            </a:pPr>
            <a:r>
              <a:rPr sz="1800" b="0"/>
              <a:t>Arbetssättet är teknikutvecklingsprocessen: idé → modell (simulering) → prototyp → test → utvärdering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Så återskapar vi simuleringen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1850000"/>
          <a:ext cx="11029950" cy="32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3500000"/>
                <a:gridCol w="4229950"/>
              </a:tblGrid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 turtlesim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På robotmoppen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Hur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Arenan 11 × 11 enheter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Arena ca 2 × 2 m på golvet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Papper/whiteboardfilm + kartongväggar 15 cm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Väggarna stoppar sköldpaddan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Ultraljudssensor ser väggen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HC-SR04 fram, /ultraljud (Range)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/turtle1/cmd_vel (Twist)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/cmd_vel (Twist)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Bryggan översätter till "hastighet,vinkel"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Pennan ritar spår (set_pen)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Whiteboardpenna under bilen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Spåret = städad yta → täckning i %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/turtle1/pose (x, y, θ)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Finns inte!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Beteendet måste klara sig utan position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Perfekt sensor, 60 Hz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Brus, 10 Hz, 50–200 ms latens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Medianfilter, dödmansgrepp, lägre fart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1025" y="5750000"/>
            <a:ext cx="110299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260"/>
                </a:solidFill>
              </a:rPr>
              <a:t>Samma noder, samma topics — bara sensorerna och arenan byts ut. Det som saknas (position) är den stora skillnaden.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Arenan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81025" y="1850000"/>
            <a:ext cx="4000000" cy="4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13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1025" y="23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1025" y="28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1025" y="33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1025" y="38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1025" y="43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1025" y="48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1025" y="1850000"/>
            <a:ext cx="9000" cy="4000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1025" y="5350000"/>
            <a:ext cx="4000000" cy="9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1025" y="1760000"/>
            <a:ext cx="4180000" cy="9000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791025" y="5850000"/>
            <a:ext cx="4180000" cy="9000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791025" y="1850000"/>
            <a:ext cx="90000" cy="400000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881025" y="1850000"/>
            <a:ext cx="90000" cy="400000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 rot="19500000">
            <a:off x="1581025" y="4850000"/>
            <a:ext cx="420000" cy="300000"/>
          </a:xfrm>
          <a:prstGeom prst="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Isosceles Triangle 22"/>
          <p:cNvSpPr/>
          <p:nvPr/>
        </p:nvSpPr>
        <p:spPr>
          <a:xfrm rot="3300000">
            <a:off x="1931025" y="4100000"/>
            <a:ext cx="700000" cy="900000"/>
          </a:xfrm>
          <a:prstGeom prst="triangl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025" y="5290000"/>
            <a:ext cx="60000" cy="60000"/>
          </a:xfrm>
          <a:prstGeom prst="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1025" y="5220000"/>
            <a:ext cx="60000" cy="60000"/>
          </a:xfrm>
          <a:prstGeom prst="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61025" y="5150000"/>
            <a:ext cx="60000" cy="60000"/>
          </a:xfrm>
          <a:prstGeom prst="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51025" y="5080000"/>
            <a:ext cx="60000" cy="60000"/>
          </a:xfrm>
          <a:prstGeom prst="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41025" y="5010000"/>
            <a:ext cx="60000" cy="60000"/>
          </a:xfrm>
          <a:prstGeom prst="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31025" y="4940000"/>
            <a:ext cx="60000" cy="60000"/>
          </a:xfrm>
          <a:prstGeom prst="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1025" y="1850000"/>
            <a:ext cx="622995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/>
              <a:t>•  Golv: 2 × 2 m papper (rulle) eller whiteboardfilm. Rutnät 25 × 25 cm för att räkna täckning.</a:t>
            </a:r>
          </a:p>
          <a:p>
            <a:pPr>
              <a:spcAft>
                <a:spcPts val="400"/>
              </a:spcAft>
            </a:pPr>
            <a:r>
              <a:rPr sz="1500" b="1"/>
              <a:t>•  Väggar: kartong, minst 15 cm höga så att ultraljudet ser dem.</a:t>
            </a:r>
          </a:p>
          <a:p>
            <a:pPr>
              <a:spcAft>
                <a:spcPts val="400"/>
              </a:spcAft>
            </a:pPr>
            <a:r>
              <a:rPr sz="1500" b="1"/>
              <a:t>•  Mål: 100 % av rutorna ska ha pennspår. Räkna rutor utan spår när bilen är klar.</a:t>
            </a:r>
          </a:p>
          <a:p>
            <a:pPr>
              <a:spcAft>
                <a:spcPts val="400"/>
              </a:spcAft>
            </a:pPr>
            <a:r>
              <a:rPr sz="1500" b="1"/>
              <a:t>•  Start: var som helst i arenan, valfri riktning.</a:t>
            </a:r>
          </a:p>
          <a:p>
            <a:pPr>
              <a:spcAft>
                <a:spcPts val="400"/>
              </a:spcAft>
            </a:pPr>
            <a:r>
              <a:rPr sz="1500" b="1"/>
              <a:t>•  Penna: whiteboardpenna tejpad under bilens mitt — spåret visar var moppen varit.</a:t>
            </a:r>
          </a:p>
          <a:p>
            <a:pPr>
              <a:spcAft>
                <a:spcPts val="400"/>
              </a:spcAft>
            </a:pPr>
            <a:r>
              <a:rPr sz="1500" b="0"/>
              <a:t>•  Dela arenan mellan grupper; bygg 2–3 arenor per klassrum.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Vilka sensorer behövs?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1800000"/>
          <a:ext cx="11029950" cy="1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4300000"/>
                <a:gridCol w="2300000"/>
                <a:gridCol w="1129950"/>
              </a:tblGrid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Vad den ger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Nivå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Pinnar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HC-SR04 ultraljud fram (finns redan)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Avstånd till vägg/hinder rakt fram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Nivå 1 och 2 — räcker för slumpstädning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D5, D6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Ljussensor (LDR, ~5 kr) riktad mot golvet, gärna med vit LED bredvid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Ljust = oritat papper, mörkt = pennspår → "här har jag redan varit"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Nivå 3 — täck det oritade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A0 (+ LED på D7)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1025" y="4850000"/>
            <a:ext cx="1102995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</a:rPr>
              <a:t>Krävs: ultraljud. Nivå 3: ultraljud + ljussensor. Inget annat — inga gyron, encoders eller kameror.</a:t>
            </a:r>
          </a:p>
          <a:p>
            <a:pPr algn="l"/>
            <a:r>
              <a:rPr sz="1300" b="0" i="0">
                <a:solidFill>
                  <a:srgbClr val="3D3D3D"/>
                </a:solidFill>
              </a:rPr>
              <a:t>Pennan är ditt mätinstrument, inte en sensor. ESP8266 har bara EN analog ingång (A0) — därför en ljussensor. Pinnar: motor D1 + D3, servo D4, ultraljud D5 + D6, ljus A0.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Hur vet vi att moppen städar bra?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1850000"/>
          <a:ext cx="1102995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5000000"/>
                <a:gridCol w="3429950"/>
              </a:tblGrid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Mått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Hur du mäter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Turtlesim-motsvarighet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Täckningsgrad (%)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Kör 2 min. Räkna rutor med pennspår / totalt antal rutor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Pennspåret på skärmen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Tid till full täckning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Sekunder tills alla rutor har spår (eller täckning efter 2 min)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Täckningsmätaren i labb 8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Krockar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Antal gånger bilen nuddar väggen (räkna för hand eller video)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Sköldpaddan mot kanten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D3D3D"/>
                          </a:solidFill>
                        </a:rPr>
                        <a:t>Fastnat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Antal gånger bilen står still &gt; 5 s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3D3D"/>
                          </a:solidFill>
                        </a:rPr>
                        <a:t>Krockdetektorn (labb 7, uppg. 5)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1025" y="5100000"/>
            <a:ext cx="1102995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</a:rPr>
              <a:t>Mät minst 3 körningar per version och redovisa medelvärde i en tabell. Ändra EN sak i taget (fart, stoppavstånd, svängtid) och mät igen — det är "testning och utvärdering" i kursplanen.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Arbetsordning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000" y="1900000"/>
            <a:ext cx="2550000" cy="135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Bygg klart bilen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motorhållare, servohållare,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ESP-hållare (Arbetsordning.docx)</a:t>
            </a:r>
          </a:p>
        </p:txBody>
      </p:sp>
      <p:sp>
        <p:nvSpPr>
          <p:cNvPr id="4" name="Oval 3"/>
          <p:cNvSpPr/>
          <p:nvPr/>
        </p:nvSpPr>
        <p:spPr>
          <a:xfrm>
            <a:off x="546000" y="17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36000" y="2485000"/>
            <a:ext cx="180000" cy="18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36000" y="1900000"/>
            <a:ext cx="2550000" cy="135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Ny firmware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protokoll "hastighet,vinkel"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+ avstånd 10 Hz + dödmansgrepp</a:t>
            </a:r>
          </a:p>
        </p:txBody>
      </p:sp>
      <p:sp>
        <p:nvSpPr>
          <p:cNvPr id="7" name="Oval 6"/>
          <p:cNvSpPr/>
          <p:nvPr/>
        </p:nvSpPr>
        <p:spPr>
          <a:xfrm>
            <a:off x="3316000" y="17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06000" y="2485000"/>
            <a:ext cx="180000" cy="18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06000" y="1900000"/>
            <a:ext cx="2550000" cy="135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Testa via MQTT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mosquitto_pub/sub —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hjulen i luften!</a:t>
            </a:r>
          </a:p>
        </p:txBody>
      </p:sp>
      <p:sp>
        <p:nvSpPr>
          <p:cNvPr id="10" name="Oval 9"/>
          <p:cNvSpPr/>
          <p:nvPr/>
        </p:nvSpPr>
        <p:spPr>
          <a:xfrm>
            <a:off x="6086000" y="17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76000" y="2485000"/>
            <a:ext cx="180000" cy="18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76000" y="1900000"/>
            <a:ext cx="2550000" cy="135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ROS2-bryggan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bil_brygga: /cmd_vel ↔ MQTT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(labb 9)</a:t>
            </a:r>
          </a:p>
        </p:txBody>
      </p:sp>
      <p:sp>
        <p:nvSpPr>
          <p:cNvPr id="13" name="Oval 12"/>
          <p:cNvSpPr/>
          <p:nvPr/>
        </p:nvSpPr>
        <p:spPr>
          <a:xfrm>
            <a:off x="8856000" y="17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000" y="3700000"/>
            <a:ext cx="2550000" cy="135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Teleop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kör bilen med tangentbordet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från ROS2</a:t>
            </a:r>
          </a:p>
        </p:txBody>
      </p:sp>
      <p:sp>
        <p:nvSpPr>
          <p:cNvPr id="15" name="Oval 14"/>
          <p:cNvSpPr/>
          <p:nvPr/>
        </p:nvSpPr>
        <p:spPr>
          <a:xfrm>
            <a:off x="546000" y="35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5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36000" y="4285000"/>
            <a:ext cx="180000" cy="18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6000" y="3700000"/>
            <a:ext cx="2550000" cy="135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Simulera städlogiken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i turtlesim (labb 8) —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billig felsökning</a:t>
            </a:r>
          </a:p>
        </p:txBody>
      </p:sp>
      <p:sp>
        <p:nvSpPr>
          <p:cNvPr id="18" name="Oval 17"/>
          <p:cNvSpPr/>
          <p:nvPr/>
        </p:nvSpPr>
        <p:spPr>
          <a:xfrm>
            <a:off x="3316000" y="35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06000" y="4285000"/>
            <a:ext cx="180000" cy="18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6000" y="3700000"/>
            <a:ext cx="2550000" cy="135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Flytta till bilen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hinderstopp → undvikare →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städlogik (labb 10)</a:t>
            </a:r>
          </a:p>
        </p:txBody>
      </p:sp>
      <p:sp>
        <p:nvSpPr>
          <p:cNvPr id="21" name="Oval 20"/>
          <p:cNvSpPr/>
          <p:nvPr/>
        </p:nvSpPr>
        <p:spPr>
          <a:xfrm>
            <a:off x="6086000" y="35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76000" y="4285000"/>
            <a:ext cx="180000" cy="18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6000" y="3700000"/>
            <a:ext cx="2550000" cy="135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Mät &amp; dokumentera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täckning, tid, krockar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README + reflektion</a:t>
            </a:r>
          </a:p>
        </p:txBody>
      </p:sp>
      <p:sp>
        <p:nvSpPr>
          <p:cNvPr id="24" name="Oval 23"/>
          <p:cNvSpPr/>
          <p:nvPr/>
        </p:nvSpPr>
        <p:spPr>
          <a:xfrm>
            <a:off x="8856000" y="3550000"/>
            <a:ext cx="380000" cy="380000"/>
          </a:xfrm>
          <a:prstGeom prst="ellipse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300" b="1">
                <a:solidFill>
                  <a:srgbClr val="1A3260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5500000"/>
            <a:ext cx="1102995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3D3D"/>
                </a:solidFill>
              </a:rPr>
              <a:t>Steg 1–3 är Teknik, steg 4–8 är Programmering. Steg 1–5 + manuell städning av hela arenan = nivå 1. Grupper om 2: en bygger medan en kodar, byt sedan.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MQTT via Maqiatto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1025" y="1800000"/>
            <a:ext cx="52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/>
              <a:t>•  Broker: maqiatto.com, port 1883</a:t>
            </a:r>
          </a:p>
          <a:p>
            <a:pPr>
              <a:spcAft>
                <a:spcPts val="400"/>
              </a:spcAft>
            </a:pPr>
            <a:r>
              <a:rPr sz="1600" b="0"/>
              <a:t>•  Konto på maqiatto.com — användarnamn = din e-post</a:t>
            </a:r>
          </a:p>
          <a:p>
            <a:pPr>
              <a:spcAft>
                <a:spcPts val="400"/>
              </a:spcAft>
            </a:pPr>
            <a:r>
              <a:rPr sz="1600" b="0"/>
              <a:t>•  Alla topics MÅSTE börja med din e-post:</a:t>
            </a:r>
          </a:p>
          <a:p>
            <a:pPr lvl="1">
              <a:spcAft>
                <a:spcPts val="400"/>
              </a:spcAft>
            </a:pPr>
            <a:r>
              <a:rPr sz="1400" b="0"/>
              <a:t>      –  fornamn.efternamn@hitachigymnasiet.se/cmd</a:t>
            </a:r>
          </a:p>
          <a:p>
            <a:pPr>
              <a:spcAft>
                <a:spcPts val="400"/>
              </a:spcAft>
            </a:pPr>
            <a:r>
              <a:rPr sz="1600" b="1"/>
              <a:t>•  Två topics räcker:</a:t>
            </a:r>
          </a:p>
          <a:p>
            <a:pPr lvl="1">
              <a:spcAft>
                <a:spcPts val="400"/>
              </a:spcAft>
            </a:pPr>
            <a:r>
              <a:rPr sz="1400" b="0"/>
              <a:t>      –  &lt;epost&gt;/cmd — dator → bil</a:t>
            </a:r>
          </a:p>
          <a:p>
            <a:pPr lvl="1">
              <a:spcAft>
                <a:spcPts val="400"/>
              </a:spcAft>
            </a:pPr>
            <a:r>
              <a:rPr sz="1400" b="0"/>
              <a:t>      –  &lt;epost&gt;/distance — bil → dator</a:t>
            </a:r>
          </a:p>
          <a:p>
            <a:pPr>
              <a:spcAft>
                <a:spcPts val="400"/>
              </a:spcAft>
            </a:pPr>
            <a:r>
              <a:rPr sz="1600" b="0"/>
              <a:t>•  Samma broker för webbsida, mosquitto och ROS2-bryggan</a:t>
            </a:r>
          </a:p>
          <a:p>
            <a:pPr>
              <a:spcAft>
                <a:spcPts val="400"/>
              </a:spcAft>
            </a:pPr>
            <a:r>
              <a:rPr sz="1600" b="0"/>
              <a:t>•  Skolans egen broker (mqtt-broker.cloud.mustini.com) fungerar också — byt bara adress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1025" y="1900000"/>
          <a:ext cx="5529950" cy="2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150000"/>
                <a:gridCol w="2479950"/>
              </a:tblGrid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Payload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Betydelse</a:t>
                      </a:r>
                    </a:p>
                  </a:txBody>
                  <a:tcPr marL="70000" marR="70000" marT="30000" marB="30000">
                    <a:solidFill>
                      <a:srgbClr val="1A3260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3D3D"/>
                          </a:solidFill>
                        </a:rPr>
                        <a:t>&lt;epost&gt;/cmd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"600,0"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framåt 60 % fart, rakt fram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3D3D"/>
                          </a:solidFill>
                        </a:rPr>
                        <a:t>&lt;epost&gt;/cmd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"600,-30"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framåt, 30° höger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3D3D"/>
                          </a:solidFill>
                        </a:rPr>
                        <a:t>&lt;epost&gt;/cmd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"-500,40"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bakåt, fullt utslag vänster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3D3D"/>
                          </a:solidFill>
                        </a:rPr>
                        <a:t>&lt;epost&gt;/cmd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"0,0"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stanna</a:t>
                      </a:r>
                    </a:p>
                  </a:txBody>
                  <a:tcPr marL="70000" marR="70000" marT="30000" marB="30000">
                    <a:solidFill>
                      <a:srgbClr val="EBEBE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3D3D"/>
                          </a:solidFill>
                        </a:rPr>
                        <a:t>&lt;epost&gt;/distance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"37.2"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</a:rPr>
                        <a:t>hinder 37,2 cm fram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1025" y="4600000"/>
            <a:ext cx="552995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3D3D"/>
                </a:solidFill>
              </a:rPr>
              <a:t>Förut: f500, b500, l90, r90 — fyra olika meddelanden.</a:t>
            </a:r>
          </a:p>
          <a:p>
            <a:pPr algn="l"/>
            <a:r>
              <a:rPr sz="1200" b="0" i="0">
                <a:solidFill>
                  <a:srgbClr val="3D3D3D"/>
                </a:solidFill>
              </a:rPr>
              <a:t>Nu: ETT meddelande med hastighet (−1023…1023) och vinkel (−40…40).</a:t>
            </a:r>
          </a:p>
          <a:p>
            <a:pPr algn="l"/>
            <a:r>
              <a:rPr sz="1200" b="0" i="0">
                <a:solidFill>
                  <a:srgbClr val="3D3D3D"/>
                </a:solidFill>
              </a:rPr>
              <a:t>Enklare firmware, och exakt vad ROS2:s Twist innehåller.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Mikrokontrollern (ESP8266)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Ansvar</a:t>
            </a:r>
          </a:p>
          <a:p>
            <a:pPr>
              <a:spcAft>
                <a:spcPts val="300"/>
              </a:spcAft>
            </a:pPr>
            <a:r>
              <a:rPr b="0" sz="1600"/>
              <a:t>Ta emot "hastighet,vinkel" på &lt;epost&gt;/cmd</a:t>
            </a:r>
          </a:p>
          <a:p>
            <a:pPr>
              <a:spcAft>
                <a:spcPts val="300"/>
              </a:spcAft>
            </a:pPr>
            <a:r>
              <a:rPr b="0" sz="1600"/>
              <a:t>Köra motor (PWM + riktning) och servo</a:t>
            </a:r>
          </a:p>
          <a:p>
            <a:pPr>
              <a:spcAft>
                <a:spcPts val="300"/>
              </a:spcAft>
            </a:pPr>
            <a:r>
              <a:rPr b="0" sz="1600"/>
              <a:t>Dödmansgrepp: stanna om inget kommando på 500 ms</a:t>
            </a:r>
          </a:p>
          <a:p>
            <a:pPr>
              <a:spcAft>
                <a:spcPts val="300"/>
              </a:spcAft>
            </a:pPr>
            <a:r>
              <a:rPr b="0" sz="1600"/>
              <a:t>Mäta avstånd med HC-SR04, 10 ggr/s</a:t>
            </a:r>
          </a:p>
          <a:p>
            <a:pPr>
              <a:spcAft>
                <a:spcPts val="300"/>
              </a:spcAft>
            </a:pPr>
            <a:r>
              <a:rPr b="0" sz="1600"/>
              <a:t>Publicera avståndet i cm på &lt;epost&gt;/distance</a:t>
            </a:r>
          </a:p>
          <a:p>
            <a:pPr>
              <a:spcAft>
                <a:spcPts val="300"/>
              </a:spcAft>
            </a:pPr>
            <a:r>
              <a:rPr b="0" sz="1600"/>
              <a:t>Nivå 3: ljussensor på A0 → &lt;epost&gt;/ljus (0–1023)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Funktioner i firmware</a:t>
            </a:r>
          </a:p>
          <a:p>
            <a:pPr>
              <a:spcAft>
                <a:spcPts val="300"/>
              </a:spcAft>
            </a:pPr>
            <a:r>
              <a:rPr b="0" sz="1600"/>
              <a:t>korMotor(hastighet)  // −1023…1023</a:t>
            </a:r>
          </a:p>
          <a:p>
            <a:pPr>
              <a:spcAft>
                <a:spcPts val="300"/>
              </a:spcAft>
            </a:pPr>
            <a:r>
              <a:rPr b="0" sz="1600"/>
              <a:t>styr(vinkel)  // −40…40, + = vänster</a:t>
            </a:r>
          </a:p>
          <a:p>
            <a:pPr>
              <a:spcAft>
                <a:spcPts val="300"/>
              </a:spcAft>
            </a:pPr>
            <a:r>
              <a:rPr b="0" sz="1600"/>
              <a:t>matAvstand()  // cm, −1 = inget eko</a:t>
            </a:r>
          </a:p>
          <a:p>
            <a:pPr>
              <a:spcAft>
                <a:spcPts val="300"/>
              </a:spcAft>
            </a:pPr>
            <a:r>
              <a:rPr b="0" sz="1600"/>
              <a:t>taEmotKommando(payload)</a:t>
            </a:r>
          </a:p>
          <a:p>
            <a:pPr>
              <a:spcAft>
                <a:spcPts val="300"/>
              </a:spcAft>
            </a:pPr>
            <a:r>
              <a:rPr b="0" sz="1600"/>
              <a:t>onConnectionEstablished()</a:t>
            </a:r>
          </a:p>
          <a:p>
            <a:pPr>
              <a:spcAft>
                <a:spcPts val="300"/>
              </a:spcAft>
            </a:pPr>
            <a:r>
              <a:rPr b="0" sz="1600"/>
              <a:t>loop(): dödmansgrepp + mätning</a:t>
            </a:r>
          </a:p>
          <a:p>
            <a:pPr lvl="1">
              <a:spcAft>
                <a:spcPts val="300"/>
              </a:spcAft>
            </a:pPr>
            <a:r>
              <a:rPr b="0" sz="1400"/>
              <a:t>Komplett mall i ROS2/labs/labb-9-koppla-bilen.md</a:t>
            </a:r>
          </a:p>
          <a:p>
            <a:pPr lvl="1">
              <a:spcAft>
                <a:spcPts val="300"/>
              </a:spcAft>
            </a:pPr>
            <a:r>
              <a:rPr b="0" sz="1400"/>
              <a:t>Anpassa bara pinnar och korMotor() till din motordrivare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ROS2-bryggan: bil_brygga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1025" y="2300000"/>
            <a:ext cx="2500000" cy="110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Din nod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hinder_undvikare.py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stadare.py …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31025" y="2450000"/>
            <a:ext cx="1000000" cy="300000"/>
          </a:xfrm>
          <a:prstGeom prst="rightArrow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/cmd_vel</a:t>
            </a:r>
          </a:p>
        </p:txBody>
      </p:sp>
      <p:sp>
        <p:nvSpPr>
          <p:cNvPr id="5" name="Left Arrow 4"/>
          <p:cNvSpPr/>
          <p:nvPr/>
        </p:nvSpPr>
        <p:spPr>
          <a:xfrm>
            <a:off x="3131025" y="2950000"/>
            <a:ext cx="1000000" cy="300000"/>
          </a:xfrm>
          <a:prstGeom prst="leftArrow">
            <a:avLst/>
          </a:prstGeom>
          <a:solidFill>
            <a:srgbClr val="A2C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/ultraljud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1025" y="2300000"/>
            <a:ext cx="2700000" cy="110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bil_brygga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ROS2-nod + MQTT-klient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(paho-mqtt)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931025" y="2450000"/>
            <a:ext cx="1000000" cy="300000"/>
          </a:xfrm>
          <a:prstGeom prst="rightArrow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&lt;epost&gt;/cmd</a:t>
            </a:r>
          </a:p>
        </p:txBody>
      </p:sp>
      <p:sp>
        <p:nvSpPr>
          <p:cNvPr id="8" name="Left Arrow 7"/>
          <p:cNvSpPr/>
          <p:nvPr/>
        </p:nvSpPr>
        <p:spPr>
          <a:xfrm>
            <a:off x="6931025" y="2950000"/>
            <a:ext cx="1000000" cy="300000"/>
          </a:xfrm>
          <a:prstGeom prst="leftArrow">
            <a:avLst/>
          </a:prstGeom>
          <a:solidFill>
            <a:srgbClr val="A2C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…/distance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025" y="2300000"/>
            <a:ext cx="1600000" cy="1100000"/>
          </a:xfrm>
          <a:prstGeom prst="roundRect">
            <a:avLst/>
          </a:prstGeom>
          <a:solidFill>
            <a:srgbClr val="45C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1A3260"/>
                </a:solidFill>
              </a:rPr>
              <a:t>Maqiatto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9631025" y="2700000"/>
            <a:ext cx="500000" cy="300000"/>
          </a:xfrm>
          <a:prstGeom prst="left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81025" y="2300000"/>
            <a:ext cx="1430000" cy="1100000"/>
          </a:xfrm>
          <a:prstGeom prst="roundRect">
            <a:avLst/>
          </a:prstGeom>
          <a:solidFill>
            <a:srgbClr val="42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ESP8266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800000"/>
            <a:ext cx="1102995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/>
              <a:t>•  Bryggan gör bara omräkning: Twist.linear.x (−1…1) → PWM, Twist.angular.z (−1…1) → servovinkel, cm → Range i meter</a:t>
            </a:r>
          </a:p>
          <a:p>
            <a:pPr>
              <a:spcAft>
                <a:spcPts val="400"/>
              </a:spcAft>
            </a:pPr>
            <a:r>
              <a:rPr sz="1500" b="0"/>
              <a:t>•  Dina egna noder vet inte att MQTT finns — de ser bara /cmd_vel och /ultraljud</a:t>
            </a:r>
          </a:p>
          <a:p>
            <a:pPr>
              <a:spcAft>
                <a:spcPts val="400"/>
              </a:spcAft>
            </a:pPr>
            <a:r>
              <a:rPr sz="1500" b="0"/>
              <a:t>•  Startas med ditt prefix: ros2 run min_turtle bil_brygga --ros-args -p namn:=&lt;epost&gt; -p anvandare:=&lt;epost&gt; -p losenord:=…</a:t>
            </a:r>
          </a:p>
          <a:p>
            <a:pPr>
              <a:spcAft>
                <a:spcPts val="400"/>
              </a:spcAft>
            </a:pPr>
            <a:r>
              <a:rPr sz="1500" b="0"/>
              <a:t>•  Test utan egen kod: ros2 run teleop_twist_keyboard teleop_twist_keyboard --ros-args -p repeat_rate:=10.0</a:t>
            </a:r>
          </a:p>
          <a:p>
            <a:pPr>
              <a:spcAft>
                <a:spcPts val="400"/>
              </a:spcAft>
            </a:pPr>
            <a:r>
              <a:rPr sz="1500" b="0"/>
              <a:t>•  Ca 40 rader Python — komplett kod i labb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Städlogiken: en tillståndsmaskin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025" y="1900000"/>
            <a:ext cx="2600000" cy="95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KOR_FRAMAT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linear.x = fart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1025" y="1900000"/>
            <a:ext cx="2600000" cy="95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BACKA_SVANG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linear.x &lt; 0, angular.z = ±1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i BACKA_TID 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641025" y="2130000"/>
            <a:ext cx="2880000" cy="220000"/>
          </a:xfrm>
          <a:prstGeom prst="righ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avstånd &lt; STOPP_AVSTAND</a:t>
            </a:r>
          </a:p>
        </p:txBody>
      </p:sp>
      <p:sp>
        <p:nvSpPr>
          <p:cNvPr id="6" name="Left Arrow 5"/>
          <p:cNvSpPr/>
          <p:nvPr/>
        </p:nvSpPr>
        <p:spPr>
          <a:xfrm>
            <a:off x="4641025" y="2480000"/>
            <a:ext cx="2880000" cy="220000"/>
          </a:xfrm>
          <a:prstGeom prst="leftArrow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BACKA_TID sekunder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970000"/>
            <a:ext cx="110299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D3D3D"/>
                </a:solidFill>
              </a:rPr>
              <a:t>Nivå 2: slumpstädning, som en tidig Roomba. Täcker ytan till slut — men hur lång tid tar det? Mät!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370000"/>
            <a:ext cx="1102995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260"/>
                </a:solidFill>
              </a:rPr>
              <a:t>Nivå 3: ett smartare beteende — med bara ultraljud + ljussensor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6000" y="3750000"/>
            <a:ext cx="3600000" cy="950000"/>
          </a:xfrm>
          <a:prstGeom prst="roundRect">
            <a:avLst/>
          </a:prstGeom>
          <a:solidFill>
            <a:srgbClr val="42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SPIRAL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angular.z minskar med tiden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ingen extra 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6000" y="3750000"/>
            <a:ext cx="3600000" cy="950000"/>
          </a:xfrm>
          <a:prstGeom prst="roundRect">
            <a:avLst/>
          </a:prstGeom>
          <a:solidFill>
            <a:srgbClr val="42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UNDVIK RITAT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mörkt under bilen = pennspår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→ sväng mot oritat (ljussensor)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000000"/>
            <a:ext cx="1102995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</a:rPr>
              <a:t>Samma struktur som vagg_undvikare.py i labb 7: callbacken byter tillstånd, timern publicerar.</a:t>
            </a:r>
          </a:p>
          <a:p>
            <a:pPr algn="l"/>
            <a:r>
              <a:rPr sz="1300" b="0" i="0">
                <a:solidFill>
                  <a:srgbClr val="3D3D3D"/>
                </a:solidFill>
              </a:rPr>
              <a:t>Bilen kan inte svänga på stället — därför BACKA_SVANG istället för VANDA.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Nivå 1 — städa manuellt från ROS2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Teknik</a:t>
            </a:r>
          </a:p>
          <a:p>
            <a:pPr>
              <a:spcAft>
                <a:spcPts val="300"/>
              </a:spcAft>
            </a:pPr>
            <a:r>
              <a:rPr b="0" sz="1600"/>
              <a:t>Bygg klart bilen: motorhållare, servohållare, ESP-hållare</a:t>
            </a:r>
          </a:p>
          <a:p>
            <a:pPr>
              <a:spcAft>
                <a:spcPts val="300"/>
              </a:spcAft>
            </a:pPr>
            <a:r>
              <a:rPr b="0" sz="1600"/>
              <a:t>Montera ultraljudssensor fram och pennhållare under bilen</a:t>
            </a:r>
          </a:p>
          <a:p>
            <a:pPr>
              <a:spcAft>
                <a:spcPts val="300"/>
              </a:spcAft>
            </a:pPr>
            <a:r>
              <a:rPr b="0" sz="1600"/>
              <a:t>Bygg (i grupp) en arena med kartongväggar och rutnät 25 cm</a:t>
            </a:r>
          </a:p>
          <a:p>
            <a:pPr>
              <a:spcAft>
                <a:spcPts val="300"/>
              </a:spcAft>
            </a:pPr>
            <a:r>
              <a:rPr b="0" sz="1600"/>
              <a:t>Enkel beräkning: hur långt hinner bilen på 500 ms vid din fart? Varför spelar det roll?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Programmering</a:t>
            </a:r>
          </a:p>
          <a:p>
            <a:pPr>
              <a:spcAft>
                <a:spcPts val="300"/>
              </a:spcAft>
            </a:pPr>
            <a:r>
              <a:rPr b="1" sz="1600"/>
              <a:t>Målet på nivå 1: styr bilen manuellt från ROS2 (teleop) och berör ALLA rutor i arenan med pennan</a:t>
            </a:r>
          </a:p>
          <a:p>
            <a:pPr>
              <a:spcAft>
                <a:spcPts val="300"/>
              </a:spcAft>
            </a:pPr>
            <a:r>
              <a:rPr b="0" sz="1600"/>
              <a:t>Ny firmware med protokollet "hastighet,vinkel" + avstånd (labb 9)</a:t>
            </a:r>
          </a:p>
          <a:p>
            <a:pPr>
              <a:spcAft>
                <a:spcPts val="300"/>
              </a:spcAft>
            </a:pPr>
            <a:r>
              <a:rPr b="0" sz="1600"/>
              <a:t>Bryggan igång: /cmd_vel går till bilen, /ultraljud kommer tillbaka</a:t>
            </a:r>
          </a:p>
          <a:p>
            <a:pPr>
              <a:spcAft>
                <a:spcPts val="300"/>
              </a:spcAft>
            </a:pPr>
            <a:r>
              <a:rPr b="0" sz="1600"/>
              <a:t>Logga avstånd och kommandon till terminalen (ros2 topic echo)</a:t>
            </a:r>
          </a:p>
          <a:p>
            <a:pPr>
              <a:spcAft>
                <a:spcPts val="300"/>
              </a:spcAft>
            </a:pPr>
            <a:r>
              <a:rPr b="0" sz="1600"/>
              <a:t>README på GitHub med arkitekturdiagram (nod → topic → brygga → MQTT → bil)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Nivå 2 — moppen städar själv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Teknik</a:t>
            </a:r>
          </a:p>
          <a:p>
            <a:pPr>
              <a:spcAft>
                <a:spcPts val="300"/>
              </a:spcAft>
            </a:pPr>
            <a:r>
              <a:rPr b="0" sz="1600"/>
              <a:t>Kompaktare bil, ordnad kabeldragning, sensorn stabilt monterad</a:t>
            </a:r>
          </a:p>
          <a:p>
            <a:pPr>
              <a:spcAft>
                <a:spcPts val="300"/>
              </a:spcAft>
            </a:pPr>
            <a:r>
              <a:rPr b="0" sz="1600"/>
              <a:t>Arena 2 × 2 m med rutnät 25 cm; mät täckningsgrad i minst 3 körningar</a:t>
            </a:r>
          </a:p>
          <a:p>
            <a:pPr>
              <a:spcAft>
                <a:spcPts val="300"/>
              </a:spcAft>
            </a:pPr>
            <a:r>
              <a:rPr b="0" sz="1600"/>
              <a:t>Ändra en parameter i taget (fart, stoppavstånd, svängtid) — tabell + slutsats</a:t>
            </a:r>
          </a:p>
          <a:p>
            <a:pPr>
              <a:spcAft>
                <a:spcPts val="300"/>
              </a:spcAft>
            </a:pPr>
            <a:r>
              <a:rPr b="0" sz="1600"/>
              <a:t>Rimlighetsbedömning: hur lång tid skulle ett klassrum ta?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Programmering</a:t>
            </a:r>
          </a:p>
          <a:p>
            <a:pPr>
              <a:spcAft>
                <a:spcPts val="300"/>
              </a:spcAft>
            </a:pPr>
            <a:r>
              <a:rPr b="0" sz="1600"/>
              <a:t>hinder_stopp: bilen kör fram och stannar själv framför väggen (labb 10, del 1)</a:t>
            </a:r>
          </a:p>
          <a:p>
            <a:pPr>
              <a:spcAft>
                <a:spcPts val="300"/>
              </a:spcAft>
            </a:pPr>
            <a:r>
              <a:rPr b="0" sz="1600"/>
              <a:t>Autonom slumpstädning: KOR_FRAMAT ⇄ BACKA_SVANG tills hela ytan har pennspår (max 3 min)</a:t>
            </a:r>
          </a:p>
          <a:p>
            <a:pPr>
              <a:spcAft>
                <a:spcPts val="300"/>
              </a:spcAft>
            </a:pPr>
            <a:r>
              <a:rPr b="0" sz="1600"/>
              <a:t>Medianfilter på sensorn, parametrar, launch-fil (labb 10)</a:t>
            </a:r>
          </a:p>
          <a:p>
            <a:pPr>
              <a:spcAft>
                <a:spcPts val="300"/>
              </a:spcAft>
            </a:pPr>
            <a:r>
              <a:rPr b="0" sz="1600"/>
              <a:t>Städlogiken först testad i turtlesim, sedan flyttad till bilen</a:t>
            </a:r>
          </a:p>
          <a:p>
            <a:pPr>
              <a:spcAft>
                <a:spcPts val="300"/>
              </a:spcAft>
            </a:pPr>
            <a:r>
              <a:rPr b="0" sz="1600"/>
              <a:t>Skärmdump av turtlesim-spåret bredvid foto av pennspåret — jämför!</a:t>
            </a:r>
          </a:p>
          <a:p>
            <a:pPr>
              <a:spcAft>
                <a:spcPts val="300"/>
              </a:spcAft>
            </a:pPr>
            <a:r>
              <a:rPr b="0" sz="1600"/>
              <a:t>Reflektion: vad skiljde simulering från verklighet?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Nivå 3 — smartare städning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Teknik</a:t>
            </a:r>
          </a:p>
          <a:p>
            <a:pPr>
              <a:spcAft>
                <a:spcPts val="300"/>
              </a:spcAft>
            </a:pPr>
            <a:r>
              <a:rPr b="0" sz="1600"/>
              <a:t>Egen CAD:ad hållare för penna och ljussensor, bil ≤ 150×150×150 mm</a:t>
            </a:r>
          </a:p>
          <a:p>
            <a:pPr>
              <a:spcAft>
                <a:spcPts val="300"/>
              </a:spcAft>
            </a:pPr>
            <a:r>
              <a:rPr b="0" sz="1600"/>
              <a:t>Jämför två städstrategier med mätdata (slump vs spiral / ljusstyrd)</a:t>
            </a:r>
          </a:p>
          <a:p>
            <a:pPr>
              <a:spcAft>
                <a:spcPts val="300"/>
              </a:spcAft>
            </a:pPr>
            <a:r>
              <a:rPr b="0" sz="1600"/>
              <a:t>Hållbarhetsanalys: batteri, material, reparerbarhet — jämför med en riktig robotmopp</a:t>
            </a:r>
          </a:p>
          <a:p>
            <a:pPr>
              <a:spcAft>
                <a:spcPts val="300"/>
              </a:spcAft>
            </a:pPr>
            <a:r>
              <a:rPr b="0" sz="1600"/>
              <a:t>Välgrundad rimlighetsbedömning: energi per m², tid per rum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Programmering</a:t>
            </a:r>
          </a:p>
          <a:p>
            <a:pPr>
              <a:spcAft>
                <a:spcPts val="300"/>
              </a:spcAft>
            </a:pPr>
            <a:r>
              <a:rPr b="0" sz="1600"/>
              <a:t>Välj minst en:</a:t>
            </a:r>
          </a:p>
          <a:p>
            <a:pPr lvl="1">
              <a:spcAft>
                <a:spcPts val="300"/>
              </a:spcAft>
            </a:pPr>
            <a:r>
              <a:rPr b="0" sz="1400"/>
              <a:t>Undvik redan ritat: ljussensor under bilen ser pennspåret → sväng mot oritad yta</a:t>
            </a:r>
          </a:p>
          <a:p>
            <a:pPr lvl="1">
              <a:spcAft>
                <a:spcPts val="300"/>
              </a:spcAft>
            </a:pPr>
            <a:r>
              <a:rPr b="0" sz="1400"/>
              <a:t>Spiral som mätbart slår slumpen i täckning per minut</a:t>
            </a:r>
          </a:p>
          <a:p>
            <a:pPr lvl="1">
              <a:spcAft>
                <a:spcPts val="300"/>
              </a:spcAft>
            </a:pPr>
            <a:r>
              <a:rPr b="0" sz="1400"/>
              <a:t>Vaktmästar-nod: teleop som aldrig låter dig köra in i väggen</a:t>
            </a:r>
          </a:p>
          <a:p>
            <a:pPr>
              <a:spcAft>
                <a:spcPts val="300"/>
              </a:spcAft>
            </a:pPr>
            <a:r>
              <a:rPr b="0" sz="1600"/>
              <a:t>Egen service eller parameter som styr beteendet under körning</a:t>
            </a:r>
          </a:p>
          <a:p>
            <a:pPr>
              <a:spcAft>
                <a:spcPts val="300"/>
              </a:spcAft>
            </a:pPr>
            <a:r>
              <a:rPr b="0" sz="1600"/>
              <a:t>Väl dokumenterad kod, README med mätresultat och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Vart ska saker ligga?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6000" y="2000000"/>
            <a:ext cx="3400000" cy="2600000"/>
          </a:xfrm>
          <a:prstGeom prst="roundRect">
            <a:avLst/>
          </a:prstGeom>
          <a:solidFill>
            <a:srgbClr val="1A3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GitHub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firmware/ros_bil.ino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ros2_ws/src/min_turtle/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README.md med diagram,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mätresultat och reflektion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96000" y="2000000"/>
            <a:ext cx="3400000" cy="2600000"/>
          </a:xfrm>
          <a:prstGeom prst="roundRect">
            <a:avLst/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Teams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Uppgifter och deadlines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Inlämning av länk till repo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Foton/film på bilen i arenan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96000" y="2000000"/>
            <a:ext cx="3400000" cy="2600000"/>
          </a:xfrm>
          <a:prstGeom prst="roundRect">
            <a:avLst/>
          </a:prstGeom>
          <a:solidFill>
            <a:srgbClr val="42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ROS2-mappen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ROS2/labs/labb-9 och labb-10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fran-turtlesim-till-riktig-bil.md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Firmware-mall och bryggkod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900000"/>
            <a:ext cx="1102995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D3D3D"/>
                </a:solidFill>
              </a:rPr>
              <a:t>All ROS2-kod ligger i WSL (~/ros2_ws), inte i Windows Dokument-mapp. Committa ofta.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 tänka på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Säkerhet &amp; test</a:t>
            </a:r>
          </a:p>
          <a:p>
            <a:pPr>
              <a:spcAft>
                <a:spcPts val="300"/>
              </a:spcAft>
            </a:pPr>
            <a:r>
              <a:rPr b="0" sz="1600"/>
              <a:t>Testa ALLTID med hjulen i luften först (låda under bilen)</a:t>
            </a:r>
          </a:p>
          <a:p>
            <a:pPr>
              <a:spcAft>
                <a:spcPts val="300"/>
              </a:spcAft>
            </a:pPr>
            <a:r>
              <a:rPr b="0" sz="1600"/>
              <a:t>Börja med låg fart — bilen är snabbare än sköldpaddan</a:t>
            </a:r>
          </a:p>
          <a:p>
            <a:pPr>
              <a:spcAft>
                <a:spcPts val="300"/>
              </a:spcAft>
            </a:pPr>
            <a:r>
              <a:rPr b="0" sz="1600"/>
              <a:t>Dödmansgreppet ska ligga i firmware, inte i ROS2</a:t>
            </a:r>
          </a:p>
          <a:p>
            <a:pPr>
              <a:spcAft>
                <a:spcPts val="300"/>
              </a:spcAft>
            </a:pPr>
            <a:r>
              <a:rPr b="0" sz="1600"/>
              <a:t>Unikt MQTT-prefix — annars kör du kompisens bil</a:t>
            </a:r>
          </a:p>
          <a:p>
            <a:pPr>
              <a:spcAft>
                <a:spcPts val="300"/>
              </a:spcAft>
            </a:pPr>
            <a:r>
              <a:rPr b="0" sz="1600"/>
              <a:t>Stäng teleop innan du startar en autonom nod (två publishers på /cmd_vel = kaos)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b="1" sz="1800">
                <a:solidFill>
                  <a:srgbClr val="1A3260"/>
                </a:solidFill>
              </a:rPr>
              <a:t>Kod &amp; dokumentation</a:t>
            </a:r>
          </a:p>
          <a:p>
            <a:pPr>
              <a:spcAft>
                <a:spcPts val="300"/>
              </a:spcAft>
            </a:pPr>
            <a:r>
              <a:rPr b="0" sz="1600"/>
              <a:t>Kommentera koden — vad gör varje tillstånd?</a:t>
            </a:r>
          </a:p>
          <a:p>
            <a:pPr>
              <a:spcAft>
                <a:spcPts val="300"/>
              </a:spcAft>
            </a:pPr>
            <a:r>
              <a:rPr b="0" sz="1600"/>
              <a:t>Skriv koden så fint som möjligt: en funktion per sak</a:t>
            </a:r>
          </a:p>
          <a:p>
            <a:pPr>
              <a:spcAft>
                <a:spcPts val="300"/>
              </a:spcAft>
            </a:pPr>
            <a:r>
              <a:rPr b="0" sz="1600"/>
              <a:t>Dokumentera väl: diagram, tabeller, foton</a:t>
            </a:r>
          </a:p>
          <a:p>
            <a:pPr>
              <a:spcAft>
                <a:spcPts val="300"/>
              </a:spcAft>
            </a:pPr>
            <a:r>
              <a:rPr b="0" sz="1600"/>
              <a:t>Ändra en sak i taget och mät</a:t>
            </a:r>
          </a:p>
          <a:p>
            <a:pPr>
              <a:spcAft>
                <a:spcPts val="300"/>
              </a:spcAft>
            </a:pPr>
            <a:r>
              <a:rPr b="0" sz="1600"/>
              <a:t>Felsök i rätt ordning: mosquitto → brygga → nod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Robotmoppen i samhället — diskussionsfrågor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700" b="1"/>
              <a:t>Roomba lanserades 2002. Idag säljs miljontals robotdammsugare per år. Vad förändrade de i hemmet?</a:t>
            </a:r>
          </a:p>
          <a:p>
            <a:pPr>
              <a:spcAft>
                <a:spcPts val="400"/>
              </a:spcAft>
            </a:pPr>
            <a:r>
              <a:rPr sz="1700" b="0"/>
              <a:t>Batteriet är det som går sönder först. Går det att byta? Vad händer med roboten annars?</a:t>
            </a:r>
          </a:p>
          <a:p>
            <a:pPr>
              <a:spcAft>
                <a:spcPts val="400"/>
              </a:spcAft>
            </a:pPr>
            <a:r>
              <a:rPr sz="1700" b="0"/>
              <a:t>En robotmopp "ser" ditt hem med kamera och lidar. Vart tar kartan vägen? (iRobot såldes till Amazon 2022 — affären stoppades. Varför?)</a:t>
            </a:r>
          </a:p>
          <a:p>
            <a:pPr>
              <a:spcAft>
                <a:spcPts val="400"/>
              </a:spcAft>
            </a:pPr>
            <a:r>
              <a:rPr sz="1700" b="0"/>
              <a:t>Vem designas robotarna för? Fungerar de i alla hem — trappor, trösklar, små lägenheter?</a:t>
            </a:r>
          </a:p>
          <a:p>
            <a:pPr>
              <a:spcAft>
                <a:spcPts val="400"/>
              </a:spcAft>
            </a:pPr>
            <a:r>
              <a:rPr sz="1700" b="0"/>
              <a:t>Räkna: din mopp drar ca 3 W och täcker X m² per minut. Hur mycket energi per städat rum? Jämför med en vanlig dammsugare (800 W, 10 min).</a:t>
            </a:r>
          </a:p>
          <a:p>
            <a:pPr>
              <a:spcAft>
                <a:spcPts val="400"/>
              </a:spcAft>
            </a:pPr>
            <a:r>
              <a:rPr sz="1700" b="0"/>
              <a:t>Vad är skillnaden mellan din "slumpstädare" och en robot med karta? Vad kostar det extra — i pengar, energi, integritet?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600" b="1"/>
              <a:t>ROS2/labs/labb-9-koppla-bilen.md — firmware-mall, bryggnod, teleop, felsökning</a:t>
            </a:r>
          </a:p>
          <a:p>
            <a:pPr>
              <a:spcAft>
                <a:spcPts val="400"/>
              </a:spcAft>
            </a:pPr>
            <a:r>
              <a:rPr sz="1600" b="1"/>
              <a:t>ROS2/labs/labb-10-autonom-bil.md — hinderstopp, hinder-undvikare, filter, parametrar, launch</a:t>
            </a:r>
          </a:p>
          <a:p>
            <a:pPr>
              <a:spcAft>
                <a:spcPts val="400"/>
              </a:spcAft>
            </a:pPr>
            <a:r>
              <a:rPr sz="1600" b="0"/>
              <a:t>ROS2/fran-turtlesim-till-riktig-bil.md — bakgrund och motivering till bryggan</a:t>
            </a:r>
          </a:p>
          <a:p>
            <a:pPr>
              <a:spcAft>
                <a:spcPts val="400"/>
              </a:spcAft>
            </a:pPr>
            <a:r>
              <a:rPr sz="1600" b="0"/>
              <a:t>ROS2/labs/labb-7 och labb-8 — vägg-undvikaren och robotmoppen i turtlesim</a:t>
            </a:r>
          </a:p>
          <a:p>
            <a:pPr>
              <a:spcAft>
                <a:spcPts val="400"/>
              </a:spcAft>
            </a:pPr>
            <a:r>
              <a:rPr sz="1600" b="0"/>
              <a:t>maqiatto.com — MQTT-broker (konto med din e-post)</a:t>
            </a:r>
          </a:p>
          <a:p>
            <a:pPr>
              <a:spcAft>
                <a:spcPts val="400"/>
              </a:spcAft>
            </a:pPr>
            <a:r>
              <a:rPr sz="1600" b="0"/>
              <a:t>EspMQTTClient — github.com/plapointe6/EspMQTTClient</a:t>
            </a:r>
          </a:p>
          <a:p>
            <a:pPr>
              <a:spcAft>
                <a:spcPts val="400"/>
              </a:spcAft>
            </a:pPr>
            <a:r>
              <a:rPr sz="1600" b="0"/>
              <a:t>teleop_twist_keyboard — github.com/ros2/teleop_twist_keyboard</a:t>
            </a:r>
          </a:p>
          <a:p>
            <a:pPr>
              <a:spcAft>
                <a:spcPts val="400"/>
              </a:spcAft>
            </a:pPr>
            <a:r>
              <a:rPr sz="1600" b="0"/>
              <a:t>sensor_msgs/Range — docs.ros2.org</a:t>
            </a:r>
          </a:p>
          <a:p>
            <a:pPr>
              <a:spcAft>
                <a:spcPts val="400"/>
              </a:spcAft>
            </a:pPr>
            <a:r>
              <a:rPr sz="1600" b="0"/>
              <a:t>Teknik1/Driverbot/Arbetsordning.docx + Motorhållare-filmen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ve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26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RobotBil → RobotMopp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400000"/>
            <a:ext cx="105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5CBE8"/>
                </a:solidFill>
              </a:rPr>
              <a:t>Teknik · Konstruktion · Programmering · Elektronik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4300000"/>
            <a:ext cx="105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BEBEB"/>
                </a:solidFill>
              </a:rPr>
              <a:t>Först i turtlesim. Sedan på golvet. Mät skillnaden.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C68885E555CCD40A8EFF7FDEADEE9FB" ma:contentTypeVersion="7" ma:contentTypeDescription="Skapa ett nytt dokument." ma:contentTypeScope="" ma:versionID="edf8cb209cfa5439cec87e9b6b47f7ff">
  <xsd:schema xmlns:xsd="http://www.w3.org/2001/XMLSchema" xmlns:xs="http://www.w3.org/2001/XMLSchema" xmlns:p="http://schemas.microsoft.com/office/2006/metadata/properties" xmlns:ns2="767771d7-1bac-4e43-8b6e-e0cd049664e0" targetNamespace="http://schemas.microsoft.com/office/2006/metadata/properties" ma:root="true" ma:fieldsID="76704a4ffd869791d19f64eb1285ab1d" ns2:_="">
    <xsd:import namespace="767771d7-1bac-4e43-8b6e-e0cd049664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771d7-1bac-4e43-8b6e-e0cd049664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812E69-AC53-43AE-A9F5-27A82028DC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7771d7-1bac-4e43-8b6e-e0cd049664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5C8BF1-B0E4-49A1-808F-40F2AD30E743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767771d7-1bac-4e43-8b6e-e0cd049664e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Bredbild</PresentationFormat>
  <Paragraphs>88</Paragraphs>
  <Slides>18</Slides>
  <Notes>16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18</vt:i4>
      </vt:variant>
    </vt:vector>
  </HeadingPairs>
  <TitlesOfParts>
    <vt:vector size="22" baseType="lpstr">
      <vt:lpstr>Calibri</vt:lpstr>
      <vt:lpstr>Gill Sans MT</vt:lpstr>
      <vt:lpstr>Wingdings 2</vt:lpstr>
      <vt:lpstr>Dividend</vt:lpstr>
      <vt:lpstr>DriverBot</vt:lpstr>
      <vt:lpstr>Förkunskaper som Finns</vt:lpstr>
      <vt:lpstr>E-nivå</vt:lpstr>
      <vt:lpstr>C-nivå</vt:lpstr>
      <vt:lpstr>A-nivå</vt:lpstr>
      <vt:lpstr>Vart ska saker ligga?</vt:lpstr>
      <vt:lpstr>DriverBot Kod genomgång</vt:lpstr>
      <vt:lpstr>Ordning</vt:lpstr>
      <vt:lpstr>MQTT</vt:lpstr>
      <vt:lpstr>Mikrokontrol</vt:lpstr>
      <vt:lpstr>Hemsida</vt:lpstr>
      <vt:lpstr>Egen Hemsida</vt:lpstr>
      <vt:lpstr>PowerPoint-presentation</vt:lpstr>
      <vt:lpstr>Att tänka på</vt:lpstr>
      <vt:lpstr>Competitive Landscape</vt:lpstr>
      <vt:lpstr>Digital Communications</vt:lpstr>
      <vt:lpstr>Thank You</vt:lpstr>
      <vt:lpstr>RobotBil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Robotbil</dc:title>
  <dc:creator/>
  <cp:lastModifiedBy/>
  <cp:revision>19</cp:revision>
  <dcterms:created xsi:type="dcterms:W3CDTF">2020-02-12T13:43:58Z</dcterms:created>
  <dcterms:modified xsi:type="dcterms:W3CDTF">2026-04-24T11:51:00Z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0x010100FC68885E555CCD40A8EFF7FDEADEE9FB</vt:lpwstr>
  </property>
  <property fmtid="{D5CDD505-2E9C-101B-9397-08002B2CF9AE}" pid="3" name="MediaServiceImageTags">
    <vt:lpwstr/>
  </property>
</Properties>
</file>