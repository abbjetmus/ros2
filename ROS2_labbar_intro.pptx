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Öppna med att säga att ROS2-labbarna inte handlar om att eleverna ska skriva avancerad AI. De ska lära sig hur ett robotsystem är uppbyggt: styrning, sensorer, säkerhet och motorer. Turtlesim är vår träningsmiljö innan vi kopplar samma idéer till robotmoppen.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Här sätter du ramen: ROS2 är relevant för att robotar består av flera delar. Poängen är inte att memorera kommandon, utan att förstå kommunikation i ett tekniskt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Betona att ROS2 inte är magi eller AI. Det är infrastrukturen som gör robotprogrammen tydliga och testbara. Använd gärna jämförelsen med elsystem eller vägnät: det är inte bilen, men det gör att allt kan röra sig och hitta rätt väg.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Förklara kort varför vi använder WSL2: eleverna har Windows-datorer, men ROS2 körs bäst i Linux. Eleverna behöver inte bli Linux-experter, men de behöver veta var koden ligger och varför terminalen är viktig.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här är nyckelsliden. Säg till eleverna att nästan alla labbar handlar om att upptäcka, skapa eller koppla ihop de här fyra delarna.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Visa eleverna att de inte ska kunna allt direkt. Första fasen är att förstå. Python kommer stegvis. Robotmoppen kommer efter att de har testat samma tänk i simulatorn.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Förklara att detta är som att titta in i robotens nervsystem. Eleverna behöver inte skriva mycket kod ännu. De ska först förstå vad som skickas och mellan vilka delar.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är viktigt att eleverna känner att Python inte kommer som ett berg. De får färdiga exempel och gör små ändringar. Det de lär sig är direkt kopplat till robotens funktion.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Kärnan i labb 7 är inte autonomi. Det är säkerhet och systemstruktur. Safety-noden är samma tänk som på robotmoppen: styrning skickar önskemål, sensor säger om det är säkert, och säkerhetsnoden avgör vad som får gå vidare.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Poängen är att topicet är det samma även när källan byts. ROS2 låter oss testa logiken innan hårdvaran är klar. Det minskar risken och gör felsökningen mycket lättare.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Här kan du svara på frågan om simulering. Det är medvetet enkelt. Vi vill inte skapa ett avancerat simuleringsprojekt. Vi vill att eleverna ska förstå kedjan som senare går in i den fysiska roboten.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här sliden är användbar för att visa att kursen är praktisk och begriplig. Eleverna ska kunna förklara systemet, inte bara lämna in filer.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 tydlig med att autonomi inte är grundkravet. Grundkravet är ett system som går att styra, läsa av och stoppa säkert. Det gör projektet mer rättvist och mindre beroende av AI-genererad kod.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Sätt förväntningarna på arbetssättet. Eleverna får använda stöd, men de måste kunna förklara sin egen kod och sina egna tester.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här uppgiften kan göras direkt på första lektionen efter presentationen. Den förankrar ROS2 i robotmoppen innan eleverna möter alla kommandon.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Avsluta med målet: eleverna ska känna att labbarna har ett tydligt syfte. Det de lär sig i turtlesim används senare i robotmoppen.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563EB"/>
          </a:solidFill>
          <a:ln w="12700">
            <a:solidFill>
              <a:srgbClr val="2563EB">
                <a:alpha val="0"/>
              </a:srgbClr>
            </a:solidFill>
            <a:prstDash val="solid"/>
          </a:ln>
        </p:spPr>
      </p:sp>
      <p:sp>
        <p:nvSpPr>
          <p:cNvPr id="3" name="Text 1"/>
          <p:cNvSpPr/>
          <p:nvPr/>
        </p:nvSpPr>
        <p:spPr>
          <a:xfrm>
            <a:off x="731520" y="1143000"/>
            <a:ext cx="6126480" cy="685800"/>
          </a:xfrm>
          <a:prstGeom prst="rect">
            <a:avLst/>
          </a:prstGeom>
          <a:noFill/>
          <a:ln/>
        </p:spPr>
        <p:txBody>
          <a:bodyPr wrap="square" lIns="0" tIns="0" rIns="0" bIns="0" rtlCol="0" anchor="ctr"/>
          <a:lstStyle/>
          <a:p>
            <a:pPr indent="0" marL="0">
              <a:buNone/>
            </a:pPr>
            <a:r>
              <a:rPr lang="en-US" sz="4400" b="1" dirty="0">
                <a:solidFill>
                  <a:srgbClr val="10233F"/>
                </a:solidFill>
                <a:latin typeface="Aptos Display" pitchFamily="34" charset="0"/>
                <a:ea typeface="Aptos Display" pitchFamily="34" charset="-122"/>
                <a:cs typeface="Aptos Display" pitchFamily="34" charset="-120"/>
              </a:rPr>
              <a:t>ROS2-labbarna</a:t>
            </a:r>
            <a:endParaRPr lang="en-US" sz="4400" dirty="0"/>
          </a:p>
        </p:txBody>
      </p:sp>
      <p:sp>
        <p:nvSpPr>
          <p:cNvPr id="4" name="Text 2"/>
          <p:cNvSpPr/>
          <p:nvPr/>
        </p:nvSpPr>
        <p:spPr>
          <a:xfrm>
            <a:off x="758952" y="1920240"/>
            <a:ext cx="6035040" cy="658368"/>
          </a:xfrm>
          <a:prstGeom prst="rect">
            <a:avLst/>
          </a:prstGeom>
          <a:noFill/>
          <a:ln/>
        </p:spPr>
        <p:txBody>
          <a:bodyPr wrap="square" lIns="0" tIns="0" rIns="0" bIns="0" rtlCol="0" anchor="ctr">
            <a:normAutofit/>
          </a:bodyPr>
          <a:lstStyle/>
          <a:p>
            <a:pPr indent="0" marL="0">
              <a:buNone/>
            </a:pPr>
            <a:r>
              <a:rPr lang="en-US" sz="2000" dirty="0">
                <a:solidFill>
                  <a:srgbClr val="172033"/>
                </a:solidFill>
              </a:rPr>
              <a:t>Varför vi lär oss ROS2, hur labbarna hänger ihop och hur det leder till robotmoppen</a:t>
            </a:r>
            <a:endParaRPr lang="en-US" sz="2000" dirty="0"/>
          </a:p>
        </p:txBody>
      </p:sp>
      <p:sp>
        <p:nvSpPr>
          <p:cNvPr id="5" name="Shape 3"/>
          <p:cNvSpPr/>
          <p:nvPr/>
        </p:nvSpPr>
        <p:spPr>
          <a:xfrm>
            <a:off x="7726680" y="1143000"/>
            <a:ext cx="2194560" cy="685800"/>
          </a:xfrm>
          <a:prstGeom prst="roundRect">
            <a:avLst>
              <a:gd name="adj" fmla="val 8000"/>
            </a:avLst>
          </a:prstGeom>
          <a:solidFill>
            <a:srgbClr val="DBEAFE"/>
          </a:solidFill>
          <a:ln w="19050">
            <a:solidFill>
              <a:srgbClr val="22C7D7"/>
            </a:solidFill>
            <a:prstDash val="solid"/>
          </a:ln>
          <a:effectLst>
            <a:outerShdw sx="100000" sy="100000" kx="0" ky="0" algn="bl" rotWithShape="0" blurRad="19050" dist="12700" dir="2700000">
              <a:srgbClr val="64748B">
                <a:alpha val="12000"/>
              </a:srgbClr>
            </a:outerShdw>
          </a:effectLst>
        </p:spPr>
      </p:sp>
      <p:sp>
        <p:nvSpPr>
          <p:cNvPr id="6" name="Text 4"/>
          <p:cNvSpPr/>
          <p:nvPr/>
        </p:nvSpPr>
        <p:spPr>
          <a:xfrm>
            <a:off x="7790688" y="1367028"/>
            <a:ext cx="2066544" cy="237744"/>
          </a:xfrm>
          <a:prstGeom prst="rect">
            <a:avLst/>
          </a:prstGeom>
          <a:noFill/>
          <a:ln/>
        </p:spPr>
        <p:txBody>
          <a:bodyPr wrap="square" lIns="0" tIns="0" rIns="0" bIns="0" rtlCol="0" anchor="ctr"/>
          <a:lstStyle/>
          <a:p>
            <a:pPr algn="ctr" indent="0" marL="0">
              <a:buNone/>
            </a:pPr>
            <a:r>
              <a:rPr lang="en-US" sz="1600" b="1" dirty="0">
                <a:solidFill>
                  <a:srgbClr val="10233F"/>
                </a:solidFill>
              </a:rPr>
              <a:t>Turtlesim</a:t>
            </a:r>
            <a:endParaRPr lang="en-US" sz="1600" dirty="0"/>
          </a:p>
        </p:txBody>
      </p:sp>
      <p:sp>
        <p:nvSpPr>
          <p:cNvPr id="7" name="Shape 5"/>
          <p:cNvSpPr/>
          <p:nvPr/>
        </p:nvSpPr>
        <p:spPr>
          <a:xfrm>
            <a:off x="8138160" y="2267712"/>
            <a:ext cx="1508760" cy="621792"/>
          </a:xfrm>
          <a:prstGeom prst="roundRect">
            <a:avLst>
              <a:gd name="adj" fmla="val 8824"/>
            </a:avLst>
          </a:prstGeom>
          <a:solidFill>
            <a:srgbClr val="FFFFFF"/>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8" name="Text 6"/>
          <p:cNvSpPr/>
          <p:nvPr/>
        </p:nvSpPr>
        <p:spPr>
          <a:xfrm>
            <a:off x="8202168" y="2459736"/>
            <a:ext cx="1380744" cy="237744"/>
          </a:xfrm>
          <a:prstGeom prst="rect">
            <a:avLst/>
          </a:prstGeom>
          <a:noFill/>
          <a:ln/>
        </p:spPr>
        <p:txBody>
          <a:bodyPr wrap="square" lIns="0" tIns="0" rIns="0" bIns="0" rtlCol="0" anchor="ctr"/>
          <a:lstStyle/>
          <a:p>
            <a:pPr algn="ctr" indent="0" marL="0">
              <a:buNone/>
            </a:pPr>
            <a:r>
              <a:rPr lang="en-US" sz="1600" b="1" dirty="0">
                <a:solidFill>
                  <a:srgbClr val="10233F"/>
                </a:solidFill>
              </a:rPr>
              <a:t>ROS2</a:t>
            </a:r>
            <a:endParaRPr lang="en-US" sz="1600" dirty="0"/>
          </a:p>
        </p:txBody>
      </p:sp>
      <p:sp>
        <p:nvSpPr>
          <p:cNvPr id="9" name="Shape 7"/>
          <p:cNvSpPr/>
          <p:nvPr/>
        </p:nvSpPr>
        <p:spPr>
          <a:xfrm>
            <a:off x="7543800" y="3337560"/>
            <a:ext cx="2560320" cy="694944"/>
          </a:xfrm>
          <a:prstGeom prst="roundRect">
            <a:avLst>
              <a:gd name="adj" fmla="val 7895"/>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10" name="Text 8"/>
          <p:cNvSpPr/>
          <p:nvPr/>
        </p:nvSpPr>
        <p:spPr>
          <a:xfrm>
            <a:off x="7607808" y="3566160"/>
            <a:ext cx="2432304" cy="237744"/>
          </a:xfrm>
          <a:prstGeom prst="rect">
            <a:avLst/>
          </a:prstGeom>
          <a:noFill/>
          <a:ln/>
        </p:spPr>
        <p:txBody>
          <a:bodyPr wrap="square" lIns="0" tIns="0" rIns="0" bIns="0" rtlCol="0" anchor="ctr"/>
          <a:lstStyle/>
          <a:p>
            <a:pPr algn="ctr" indent="0" marL="0">
              <a:buNone/>
            </a:pPr>
            <a:r>
              <a:rPr lang="en-US" sz="1600" b="1" dirty="0">
                <a:solidFill>
                  <a:srgbClr val="10233F"/>
                </a:solidFill>
              </a:rPr>
              <a:t>Robotmopp</a:t>
            </a:r>
            <a:endParaRPr lang="en-US" sz="1600" dirty="0"/>
          </a:p>
        </p:txBody>
      </p:sp>
      <p:sp>
        <p:nvSpPr>
          <p:cNvPr id="11" name="Shape 9"/>
          <p:cNvSpPr/>
          <p:nvPr/>
        </p:nvSpPr>
        <p:spPr>
          <a:xfrm>
            <a:off x="8823960" y="1828800"/>
            <a:ext cx="0" cy="411480"/>
          </a:xfrm>
          <a:prstGeom prst="line">
            <a:avLst/>
          </a:prstGeom>
          <a:noFill/>
          <a:ln w="17780">
            <a:solidFill>
              <a:srgbClr val="2563EB"/>
            </a:solidFill>
            <a:prstDash val="solid"/>
            <a:headEnd type="none"/>
            <a:tailEnd type="triangle"/>
          </a:ln>
        </p:spPr>
      </p:sp>
      <p:sp>
        <p:nvSpPr>
          <p:cNvPr id="12" name="Shape 10"/>
          <p:cNvSpPr/>
          <p:nvPr/>
        </p:nvSpPr>
        <p:spPr>
          <a:xfrm>
            <a:off x="8823960" y="2889504"/>
            <a:ext cx="0" cy="429768"/>
          </a:xfrm>
          <a:prstGeom prst="line">
            <a:avLst/>
          </a:prstGeom>
          <a:noFill/>
          <a:ln w="17780">
            <a:solidFill>
              <a:srgbClr val="16A34A"/>
            </a:solidFill>
            <a:prstDash val="solid"/>
            <a:headEnd type="none"/>
            <a:tailEnd type="triangle"/>
          </a:ln>
        </p:spPr>
      </p:sp>
      <p:sp>
        <p:nvSpPr>
          <p:cNvPr id="13" name="Text 11"/>
          <p:cNvSpPr/>
          <p:nvPr/>
        </p:nvSpPr>
        <p:spPr>
          <a:xfrm>
            <a:off x="768096" y="4937760"/>
            <a:ext cx="9601200" cy="329184"/>
          </a:xfrm>
          <a:prstGeom prst="rect">
            <a:avLst/>
          </a:prstGeom>
          <a:noFill/>
          <a:ln/>
        </p:spPr>
        <p:txBody>
          <a:bodyPr wrap="square" lIns="0" tIns="0" rIns="0" bIns="0" rtlCol="0" anchor="ctr"/>
          <a:lstStyle/>
          <a:p>
            <a:pPr indent="0" marL="0">
              <a:buNone/>
            </a:pPr>
            <a:r>
              <a:rPr lang="en-US" sz="1700" b="1" dirty="0">
                <a:solidFill>
                  <a:srgbClr val="2563EB"/>
                </a:solidFill>
              </a:rPr>
              <a:t>Målet är inte “AI”. Målet är att förstå hur robotdelar pratar med varandra.</a:t>
            </a:r>
            <a:endParaRPr lang="en-US" sz="1700" dirty="0"/>
          </a:p>
        </p:txBody>
      </p:sp>
      <p:sp>
        <p:nvSpPr>
          <p:cNvPr id="14" name="Text 12"/>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5" name="Text 13"/>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A34A"/>
          </a:solidFill>
          <a:ln w="12700">
            <a:solidFill>
              <a:srgbClr val="16A34A">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Varför börjar vi med ROS2?</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För att en robot inte är ett enda program — den är ett system av delar.</a:t>
            </a:r>
            <a:endParaRPr lang="en-US" sz="1250" dirty="0"/>
          </a:p>
        </p:txBody>
      </p:sp>
      <p:sp>
        <p:nvSpPr>
          <p:cNvPr id="5" name="Shape 3"/>
          <p:cNvSpPr/>
          <p:nvPr/>
        </p:nvSpPr>
        <p:spPr>
          <a:xfrm>
            <a:off x="685800" y="1417320"/>
            <a:ext cx="3246120" cy="3886200"/>
          </a:xfrm>
          <a:prstGeom prst="roundRect">
            <a:avLst>
              <a:gd name="adj" fmla="val 2254"/>
            </a:avLst>
          </a:prstGeom>
          <a:solidFill>
            <a:srgbClr val="DCFCE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6" name="Shape 4"/>
          <p:cNvSpPr/>
          <p:nvPr/>
        </p:nvSpPr>
        <p:spPr>
          <a:xfrm>
            <a:off x="685800" y="1417320"/>
            <a:ext cx="109728" cy="3886200"/>
          </a:xfrm>
          <a:prstGeom prst="rect">
            <a:avLst/>
          </a:prstGeom>
          <a:solidFill>
            <a:srgbClr val="16A34A"/>
          </a:solidFill>
          <a:ln w="12700">
            <a:solidFill>
              <a:srgbClr val="16A34A">
                <a:alpha val="0"/>
              </a:srgbClr>
            </a:solidFill>
            <a:prstDash val="solid"/>
          </a:ln>
        </p:spPr>
      </p:sp>
      <p:sp>
        <p:nvSpPr>
          <p:cNvPr id="7" name="Text 5"/>
          <p:cNvSpPr/>
          <p:nvPr/>
        </p:nvSpPr>
        <p:spPr>
          <a:xfrm>
            <a:off x="914400" y="1581912"/>
            <a:ext cx="2834640" cy="256032"/>
          </a:xfrm>
          <a:prstGeom prst="rect">
            <a:avLst/>
          </a:prstGeom>
          <a:noFill/>
          <a:ln/>
        </p:spPr>
        <p:txBody>
          <a:bodyPr wrap="square" lIns="0" tIns="0" rIns="0" bIns="0" rtlCol="0" anchor="ctr"/>
          <a:lstStyle/>
          <a:p>
            <a:pPr indent="0" marL="0">
              <a:buNone/>
            </a:pPr>
            <a:r>
              <a:rPr lang="en-US" sz="1450" b="1" dirty="0">
                <a:solidFill>
                  <a:srgbClr val="10233F"/>
                </a:solidFill>
              </a:rPr>
              <a:t>En robot har flera delar</a:t>
            </a:r>
            <a:endParaRPr lang="en-US" sz="1450" dirty="0"/>
          </a:p>
        </p:txBody>
      </p:sp>
      <p:sp>
        <p:nvSpPr>
          <p:cNvPr id="8" name="Text 6"/>
          <p:cNvSpPr/>
          <p:nvPr/>
        </p:nvSpPr>
        <p:spPr>
          <a:xfrm>
            <a:off x="914400" y="1938528"/>
            <a:ext cx="2834640" cy="326440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Motorer, sensorer, styrning, säkerhet och test måste fungera tillsammans.</a:t>
            </a:r>
            <a:endParaRPr lang="en-US" sz="1150" dirty="0"/>
          </a:p>
        </p:txBody>
      </p:sp>
      <p:sp>
        <p:nvSpPr>
          <p:cNvPr id="9" name="Shape 7"/>
          <p:cNvSpPr/>
          <p:nvPr/>
        </p:nvSpPr>
        <p:spPr>
          <a:xfrm>
            <a:off x="4434840" y="1417320"/>
            <a:ext cx="3246120" cy="3886200"/>
          </a:xfrm>
          <a:prstGeom prst="roundRect">
            <a:avLst>
              <a:gd name="adj" fmla="val 2254"/>
            </a:avLst>
          </a:prstGeom>
          <a:solidFill>
            <a:srgbClr val="DBEA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0" name="Shape 8"/>
          <p:cNvSpPr/>
          <p:nvPr/>
        </p:nvSpPr>
        <p:spPr>
          <a:xfrm>
            <a:off x="4434840" y="1417320"/>
            <a:ext cx="109728" cy="3886200"/>
          </a:xfrm>
          <a:prstGeom prst="rect">
            <a:avLst/>
          </a:prstGeom>
          <a:solidFill>
            <a:srgbClr val="2563EB"/>
          </a:solidFill>
          <a:ln w="12700">
            <a:solidFill>
              <a:srgbClr val="2563EB">
                <a:alpha val="0"/>
              </a:srgbClr>
            </a:solidFill>
            <a:prstDash val="solid"/>
          </a:ln>
        </p:spPr>
      </p:sp>
      <p:sp>
        <p:nvSpPr>
          <p:cNvPr id="11" name="Text 9"/>
          <p:cNvSpPr/>
          <p:nvPr/>
        </p:nvSpPr>
        <p:spPr>
          <a:xfrm>
            <a:off x="4663440" y="1581912"/>
            <a:ext cx="2834640" cy="256032"/>
          </a:xfrm>
          <a:prstGeom prst="rect">
            <a:avLst/>
          </a:prstGeom>
          <a:noFill/>
          <a:ln/>
        </p:spPr>
        <p:txBody>
          <a:bodyPr wrap="square" lIns="0" tIns="0" rIns="0" bIns="0" rtlCol="0" anchor="ctr"/>
          <a:lstStyle/>
          <a:p>
            <a:pPr indent="0" marL="0">
              <a:buNone/>
            </a:pPr>
            <a:r>
              <a:rPr lang="en-US" sz="1450" b="1" dirty="0">
                <a:solidFill>
                  <a:srgbClr val="10233F"/>
                </a:solidFill>
              </a:rPr>
              <a:t>Delarna behöver prata</a:t>
            </a:r>
            <a:endParaRPr lang="en-US" sz="1450" dirty="0"/>
          </a:p>
        </p:txBody>
      </p:sp>
      <p:sp>
        <p:nvSpPr>
          <p:cNvPr id="12" name="Text 10"/>
          <p:cNvSpPr/>
          <p:nvPr/>
        </p:nvSpPr>
        <p:spPr>
          <a:xfrm>
            <a:off x="4663440" y="1938528"/>
            <a:ext cx="2834640" cy="326440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ROS2 ger oss ett gemensamt språk mellan robotens olika program.</a:t>
            </a:r>
            <a:endParaRPr lang="en-US" sz="1150" dirty="0"/>
          </a:p>
        </p:txBody>
      </p:sp>
      <p:sp>
        <p:nvSpPr>
          <p:cNvPr id="13" name="Shape 11"/>
          <p:cNvSpPr/>
          <p:nvPr/>
        </p:nvSpPr>
        <p:spPr>
          <a:xfrm>
            <a:off x="8183880" y="1417320"/>
            <a:ext cx="3246120" cy="3886200"/>
          </a:xfrm>
          <a:prstGeom prst="roundRect">
            <a:avLst>
              <a:gd name="adj" fmla="val 2254"/>
            </a:avLst>
          </a:prstGeom>
          <a:solidFill>
            <a:srgbClr val="FEF3C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4" name="Shape 12"/>
          <p:cNvSpPr/>
          <p:nvPr/>
        </p:nvSpPr>
        <p:spPr>
          <a:xfrm>
            <a:off x="8183880" y="1417320"/>
            <a:ext cx="109728" cy="3886200"/>
          </a:xfrm>
          <a:prstGeom prst="rect">
            <a:avLst/>
          </a:prstGeom>
          <a:solidFill>
            <a:srgbClr val="F97316"/>
          </a:solidFill>
          <a:ln w="12700">
            <a:solidFill>
              <a:srgbClr val="F97316">
                <a:alpha val="0"/>
              </a:srgbClr>
            </a:solidFill>
            <a:prstDash val="solid"/>
          </a:ln>
        </p:spPr>
      </p:sp>
      <p:sp>
        <p:nvSpPr>
          <p:cNvPr id="15" name="Text 13"/>
          <p:cNvSpPr/>
          <p:nvPr/>
        </p:nvSpPr>
        <p:spPr>
          <a:xfrm>
            <a:off x="8412480" y="1581912"/>
            <a:ext cx="2834640" cy="256032"/>
          </a:xfrm>
          <a:prstGeom prst="rect">
            <a:avLst/>
          </a:prstGeom>
          <a:noFill/>
          <a:ln/>
        </p:spPr>
        <p:txBody>
          <a:bodyPr wrap="square" lIns="0" tIns="0" rIns="0" bIns="0" rtlCol="0" anchor="ctr"/>
          <a:lstStyle/>
          <a:p>
            <a:pPr indent="0" marL="0">
              <a:buNone/>
            </a:pPr>
            <a:r>
              <a:rPr lang="en-US" sz="1450" b="1" dirty="0">
                <a:solidFill>
                  <a:srgbClr val="10233F"/>
                </a:solidFill>
              </a:rPr>
              <a:t>Vi kan byta miljö</a:t>
            </a:r>
            <a:endParaRPr lang="en-US" sz="1450" dirty="0"/>
          </a:p>
        </p:txBody>
      </p:sp>
      <p:sp>
        <p:nvSpPr>
          <p:cNvPr id="16" name="Text 14"/>
          <p:cNvSpPr/>
          <p:nvPr/>
        </p:nvSpPr>
        <p:spPr>
          <a:xfrm>
            <a:off x="8412480" y="1938528"/>
            <a:ext cx="2834640" cy="326440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Först simulator. Sedan riktig robot. Samma tankesätt följer med.</a:t>
            </a:r>
            <a:endParaRPr lang="en-US" sz="1150" dirty="0"/>
          </a:p>
        </p:txBody>
      </p:sp>
      <p:sp>
        <p:nvSpPr>
          <p:cNvPr id="17" name="Text 15"/>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8" name="Text 16"/>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Vad är ROS2?</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Ett ramverk som gör att robotprogram kan kommunicera på ett strukturerat sätt.</a:t>
            </a:r>
            <a:endParaRPr lang="en-US" sz="1250" dirty="0"/>
          </a:p>
        </p:txBody>
      </p:sp>
      <p:sp>
        <p:nvSpPr>
          <p:cNvPr id="5" name="Text 3"/>
          <p:cNvSpPr/>
          <p:nvPr/>
        </p:nvSpPr>
        <p:spPr>
          <a:xfrm>
            <a:off x="731520" y="1325880"/>
            <a:ext cx="5852160" cy="411480"/>
          </a:xfrm>
          <a:prstGeom prst="rect">
            <a:avLst/>
          </a:prstGeom>
          <a:noFill/>
          <a:ln/>
        </p:spPr>
        <p:txBody>
          <a:bodyPr wrap="square" lIns="0" tIns="0" rIns="0" bIns="0" rtlCol="0" anchor="ctr"/>
          <a:lstStyle/>
          <a:p>
            <a:pPr indent="0" marL="0">
              <a:buNone/>
            </a:pPr>
            <a:r>
              <a:rPr lang="en-US" sz="2400" b="1" dirty="0">
                <a:solidFill>
                  <a:srgbClr val="10233F"/>
                </a:solidFill>
              </a:rPr>
              <a:t>ROS2 är inte “robotens hjärna”.</a:t>
            </a:r>
            <a:endParaRPr lang="en-US" sz="2400" dirty="0"/>
          </a:p>
        </p:txBody>
      </p:sp>
      <p:sp>
        <p:nvSpPr>
          <p:cNvPr id="6" name="Text 4"/>
          <p:cNvSpPr/>
          <p:nvPr/>
        </p:nvSpPr>
        <p:spPr>
          <a:xfrm>
            <a:off x="868680" y="2011680"/>
            <a:ext cx="5303520" cy="3017520"/>
          </a:xfrm>
          <a:prstGeom prst="rect">
            <a:avLst/>
          </a:prstGeom>
          <a:noFill/>
          <a:ln/>
        </p:spPr>
        <p:txBody>
          <a:bodyPr wrap="square" lIns="635" tIns="635" rIns="635" bIns="635" rtlCol="0" anchor="ctr">
            <a:normAutofit/>
          </a:bodyPr>
          <a:lstStyle/>
          <a:p>
            <a:r>
              <a:rPr lang="en-US" sz="1600" dirty="0">
                <a:solidFill>
                  <a:srgbClr val="172033"/>
                </a:solidFill>
              </a:rPr>
              <a:t>Det startar och kopplar ihop program som kallas noder.</a:t>
            </a:r>
            <a:endParaRPr lang="en-US" sz="1600" dirty="0"/>
          </a:p>
          <a:p>
            <a:r>
              <a:rPr lang="en-US" sz="1600" dirty="0">
                <a:solidFill>
                  <a:srgbClr val="172033"/>
                </a:solidFill>
              </a:rPr>
              <a:t>Det skickar meddelanden mellan noder via topics.</a:t>
            </a:r>
            <a:endParaRPr lang="en-US" sz="1600" dirty="0"/>
          </a:p>
          <a:p>
            <a:r>
              <a:rPr lang="en-US" sz="1600" dirty="0">
                <a:solidFill>
                  <a:srgbClr val="172033"/>
                </a:solidFill>
              </a:rPr>
              <a:t>Det gör systemet lättare att testa, felsöka och bygga ut.</a:t>
            </a:r>
            <a:endParaRPr lang="en-US" sz="1600" dirty="0"/>
          </a:p>
          <a:p>
            <a:r>
              <a:rPr lang="en-US" sz="1600" dirty="0">
                <a:solidFill>
                  <a:srgbClr val="172033"/>
                </a:solidFill>
              </a:rPr>
              <a:t>Det används först i simulatorn och sedan på robotmoppen.</a:t>
            </a:r>
            <a:endParaRPr lang="en-US" sz="1600" dirty="0"/>
          </a:p>
        </p:txBody>
      </p:sp>
      <p:sp>
        <p:nvSpPr>
          <p:cNvPr id="7" name="Shape 5"/>
          <p:cNvSpPr/>
          <p:nvPr/>
        </p:nvSpPr>
        <p:spPr>
          <a:xfrm>
            <a:off x="6995160" y="1554480"/>
            <a:ext cx="1920240" cy="594360"/>
          </a:xfrm>
          <a:prstGeom prst="roundRect">
            <a:avLst>
              <a:gd name="adj" fmla="val 9231"/>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8" name="Text 6"/>
          <p:cNvSpPr/>
          <p:nvPr/>
        </p:nvSpPr>
        <p:spPr>
          <a:xfrm>
            <a:off x="7059168" y="1732788"/>
            <a:ext cx="1792224" cy="237744"/>
          </a:xfrm>
          <a:prstGeom prst="rect">
            <a:avLst/>
          </a:prstGeom>
          <a:noFill/>
          <a:ln/>
        </p:spPr>
        <p:txBody>
          <a:bodyPr wrap="square" lIns="0" tIns="0" rIns="0" bIns="0" rtlCol="0" anchor="ctr"/>
          <a:lstStyle/>
          <a:p>
            <a:pPr algn="ctr" indent="0" marL="0">
              <a:buNone/>
            </a:pPr>
            <a:r>
              <a:rPr lang="en-US" sz="1300" b="1" dirty="0">
                <a:solidFill>
                  <a:srgbClr val="10233F"/>
                </a:solidFill>
              </a:rPr>
              <a:t>sensor_node</a:t>
            </a:r>
            <a:endParaRPr lang="en-US" sz="1300" dirty="0"/>
          </a:p>
        </p:txBody>
      </p:sp>
      <p:sp>
        <p:nvSpPr>
          <p:cNvPr id="9" name="Shape 7"/>
          <p:cNvSpPr/>
          <p:nvPr/>
        </p:nvSpPr>
        <p:spPr>
          <a:xfrm>
            <a:off x="6995160" y="2788920"/>
            <a:ext cx="1920240" cy="594360"/>
          </a:xfrm>
          <a:prstGeom prst="roundRect">
            <a:avLst>
              <a:gd name="adj" fmla="val 9231"/>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10" name="Text 8"/>
          <p:cNvSpPr/>
          <p:nvPr/>
        </p:nvSpPr>
        <p:spPr>
          <a:xfrm>
            <a:off x="7059168" y="2967228"/>
            <a:ext cx="1792224" cy="237744"/>
          </a:xfrm>
          <a:prstGeom prst="rect">
            <a:avLst/>
          </a:prstGeom>
          <a:noFill/>
          <a:ln/>
        </p:spPr>
        <p:txBody>
          <a:bodyPr wrap="square" lIns="0" tIns="0" rIns="0" bIns="0" rtlCol="0" anchor="ctr"/>
          <a:lstStyle/>
          <a:p>
            <a:pPr algn="ctr" indent="0" marL="0">
              <a:buNone/>
            </a:pPr>
            <a:r>
              <a:rPr lang="en-US" sz="1300" b="1" dirty="0">
                <a:solidFill>
                  <a:srgbClr val="10233F"/>
                </a:solidFill>
              </a:rPr>
              <a:t>safety_node</a:t>
            </a:r>
            <a:endParaRPr lang="en-US" sz="1300" dirty="0"/>
          </a:p>
        </p:txBody>
      </p:sp>
      <p:sp>
        <p:nvSpPr>
          <p:cNvPr id="11" name="Shape 9"/>
          <p:cNvSpPr/>
          <p:nvPr/>
        </p:nvSpPr>
        <p:spPr>
          <a:xfrm>
            <a:off x="6995160" y="4041648"/>
            <a:ext cx="1920240" cy="594360"/>
          </a:xfrm>
          <a:prstGeom prst="roundRect">
            <a:avLst>
              <a:gd name="adj" fmla="val 9231"/>
            </a:avLst>
          </a:prstGeom>
          <a:solidFill>
            <a:srgbClr val="FEF3C7"/>
          </a:solidFill>
          <a:ln w="19050">
            <a:solidFill>
              <a:srgbClr val="F97316"/>
            </a:solidFill>
            <a:prstDash val="solid"/>
          </a:ln>
          <a:effectLst>
            <a:outerShdw sx="100000" sy="100000" kx="0" ky="0" algn="bl" rotWithShape="0" blurRad="19050" dist="12700" dir="2700000">
              <a:srgbClr val="64748B">
                <a:alpha val="12000"/>
              </a:srgbClr>
            </a:outerShdw>
          </a:effectLst>
        </p:spPr>
      </p:sp>
      <p:sp>
        <p:nvSpPr>
          <p:cNvPr id="12" name="Text 10"/>
          <p:cNvSpPr/>
          <p:nvPr/>
        </p:nvSpPr>
        <p:spPr>
          <a:xfrm>
            <a:off x="7059168" y="4219956"/>
            <a:ext cx="1792224" cy="237744"/>
          </a:xfrm>
          <a:prstGeom prst="rect">
            <a:avLst/>
          </a:prstGeom>
          <a:noFill/>
          <a:ln/>
        </p:spPr>
        <p:txBody>
          <a:bodyPr wrap="square" lIns="0" tIns="0" rIns="0" bIns="0" rtlCol="0" anchor="ctr"/>
          <a:lstStyle/>
          <a:p>
            <a:pPr algn="ctr" indent="0" marL="0">
              <a:buNone/>
            </a:pPr>
            <a:r>
              <a:rPr lang="en-US" sz="1300" b="1" dirty="0">
                <a:solidFill>
                  <a:srgbClr val="10233F"/>
                </a:solidFill>
              </a:rPr>
              <a:t>motor_node</a:t>
            </a:r>
            <a:endParaRPr lang="en-US" sz="1300" dirty="0"/>
          </a:p>
        </p:txBody>
      </p:sp>
      <p:sp>
        <p:nvSpPr>
          <p:cNvPr id="13" name="Shape 11"/>
          <p:cNvSpPr/>
          <p:nvPr/>
        </p:nvSpPr>
        <p:spPr>
          <a:xfrm>
            <a:off x="7955280" y="2157984"/>
            <a:ext cx="0" cy="603504"/>
          </a:xfrm>
          <a:prstGeom prst="line">
            <a:avLst/>
          </a:prstGeom>
          <a:noFill/>
          <a:ln w="17780">
            <a:solidFill>
              <a:srgbClr val="64748B"/>
            </a:solidFill>
            <a:prstDash val="solid"/>
            <a:headEnd type="none"/>
            <a:tailEnd type="triangle"/>
          </a:ln>
        </p:spPr>
      </p:sp>
      <p:sp>
        <p:nvSpPr>
          <p:cNvPr id="14" name="Shape 12"/>
          <p:cNvSpPr/>
          <p:nvPr/>
        </p:nvSpPr>
        <p:spPr>
          <a:xfrm>
            <a:off x="7955280" y="3401568"/>
            <a:ext cx="0" cy="603504"/>
          </a:xfrm>
          <a:prstGeom prst="line">
            <a:avLst/>
          </a:prstGeom>
          <a:noFill/>
          <a:ln w="17780">
            <a:solidFill>
              <a:srgbClr val="64748B"/>
            </a:solidFill>
            <a:prstDash val="solid"/>
            <a:headEnd type="none"/>
            <a:tailEnd type="triangle"/>
          </a:ln>
        </p:spPr>
      </p:sp>
      <p:sp>
        <p:nvSpPr>
          <p:cNvPr id="15" name="Text 13"/>
          <p:cNvSpPr/>
          <p:nvPr/>
        </p:nvSpPr>
        <p:spPr>
          <a:xfrm>
            <a:off x="9189720" y="2724912"/>
            <a:ext cx="2011680" cy="475488"/>
          </a:xfrm>
          <a:prstGeom prst="rect">
            <a:avLst/>
          </a:prstGeom>
          <a:noFill/>
          <a:ln/>
        </p:spPr>
        <p:txBody>
          <a:bodyPr wrap="square" lIns="0" tIns="0" rIns="0" bIns="0" rtlCol="0" anchor="ctr">
            <a:normAutofit/>
          </a:bodyPr>
          <a:lstStyle/>
          <a:p>
            <a:pPr indent="0" marL="0">
              <a:buNone/>
            </a:pPr>
            <a:r>
              <a:rPr lang="en-US" sz="1600" b="1" dirty="0">
                <a:solidFill>
                  <a:srgbClr val="7C3AED"/>
                </a:solidFill>
              </a:rPr>
              <a:t>ROS2 hjälper oss att bygga kedjan.</a:t>
            </a:r>
            <a:endParaRPr lang="en-US" sz="1600" dirty="0"/>
          </a:p>
        </p:txBody>
      </p:sp>
      <p:sp>
        <p:nvSpPr>
          <p:cNvPr id="16" name="Text 14"/>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7" name="Text 15"/>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563EB"/>
          </a:solidFill>
          <a:ln w="12700">
            <a:solidFill>
              <a:srgbClr val="2563EB">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Vad kör ROS2 på hos oss?</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Från elevens Windows-dator till Linuxmiljön där ROS2 körs.</a:t>
            </a:r>
            <a:endParaRPr lang="en-US" sz="1250" dirty="0"/>
          </a:p>
        </p:txBody>
      </p:sp>
      <p:sp>
        <p:nvSpPr>
          <p:cNvPr id="5" name="Shape 3"/>
          <p:cNvSpPr/>
          <p:nvPr/>
        </p:nvSpPr>
        <p:spPr>
          <a:xfrm>
            <a:off x="868680" y="2331720"/>
            <a:ext cx="1600200" cy="868680"/>
          </a:xfrm>
          <a:prstGeom prst="roundRect">
            <a:avLst>
              <a:gd name="adj" fmla="val 6316"/>
            </a:avLst>
          </a:prstGeom>
          <a:solidFill>
            <a:srgbClr val="FFFFFF"/>
          </a:solidFill>
          <a:ln w="19050">
            <a:solidFill>
              <a:srgbClr val="10233F"/>
            </a:solidFill>
            <a:prstDash val="solid"/>
          </a:ln>
          <a:effectLst>
            <a:outerShdw sx="100000" sy="100000" kx="0" ky="0" algn="bl" rotWithShape="0" blurRad="19050" dist="12700" dir="2700000">
              <a:srgbClr val="64748B">
                <a:alpha val="12000"/>
              </a:srgbClr>
            </a:outerShdw>
          </a:effectLst>
        </p:spPr>
      </p:sp>
      <p:sp>
        <p:nvSpPr>
          <p:cNvPr id="6" name="Text 4"/>
          <p:cNvSpPr/>
          <p:nvPr/>
        </p:nvSpPr>
        <p:spPr>
          <a:xfrm>
            <a:off x="932688" y="2647188"/>
            <a:ext cx="1472184" cy="237744"/>
          </a:xfrm>
          <a:prstGeom prst="rect">
            <a:avLst/>
          </a:prstGeom>
          <a:noFill/>
          <a:ln/>
        </p:spPr>
        <p:txBody>
          <a:bodyPr wrap="square" lIns="0" tIns="0" rIns="0" bIns="0" rtlCol="0" anchor="ctr"/>
          <a:lstStyle/>
          <a:p>
            <a:pPr algn="ctr" indent="0" marL="0">
              <a:buNone/>
            </a:pPr>
            <a:r>
              <a:rPr lang="en-US" sz="1400" b="1" dirty="0">
                <a:solidFill>
                  <a:srgbClr val="10233F"/>
                </a:solidFill>
              </a:rPr>
              <a:t>Windows 11</a:t>
            </a:r>
            <a:endParaRPr lang="en-US" sz="1400" dirty="0"/>
          </a:p>
        </p:txBody>
      </p:sp>
      <p:sp>
        <p:nvSpPr>
          <p:cNvPr id="7" name="Shape 5"/>
          <p:cNvSpPr/>
          <p:nvPr/>
        </p:nvSpPr>
        <p:spPr>
          <a:xfrm>
            <a:off x="2651760" y="2770632"/>
            <a:ext cx="484632" cy="0"/>
          </a:xfrm>
          <a:prstGeom prst="line">
            <a:avLst/>
          </a:prstGeom>
          <a:noFill/>
          <a:ln w="17780">
            <a:solidFill>
              <a:srgbClr val="64748B"/>
            </a:solidFill>
            <a:prstDash val="solid"/>
            <a:headEnd type="none"/>
            <a:tailEnd type="triangle"/>
          </a:ln>
        </p:spPr>
      </p:sp>
      <p:sp>
        <p:nvSpPr>
          <p:cNvPr id="8" name="Shape 6"/>
          <p:cNvSpPr/>
          <p:nvPr/>
        </p:nvSpPr>
        <p:spPr>
          <a:xfrm>
            <a:off x="3246120" y="2331720"/>
            <a:ext cx="1600200" cy="868680"/>
          </a:xfrm>
          <a:prstGeom prst="roundRect">
            <a:avLst>
              <a:gd name="adj" fmla="val 6316"/>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9" name="Text 7"/>
          <p:cNvSpPr/>
          <p:nvPr/>
        </p:nvSpPr>
        <p:spPr>
          <a:xfrm>
            <a:off x="3310128" y="2647188"/>
            <a:ext cx="1472184" cy="237744"/>
          </a:xfrm>
          <a:prstGeom prst="rect">
            <a:avLst/>
          </a:prstGeom>
          <a:noFill/>
          <a:ln/>
        </p:spPr>
        <p:txBody>
          <a:bodyPr wrap="square" lIns="0" tIns="0" rIns="0" bIns="0" rtlCol="0" anchor="ctr"/>
          <a:lstStyle/>
          <a:p>
            <a:pPr algn="ctr" indent="0" marL="0">
              <a:buNone/>
            </a:pPr>
            <a:r>
              <a:rPr lang="en-US" sz="1400" b="1" dirty="0">
                <a:solidFill>
                  <a:srgbClr val="10233F"/>
                </a:solidFill>
              </a:rPr>
              <a:t>WSL2</a:t>
            </a:r>
            <a:endParaRPr lang="en-US" sz="1400" dirty="0"/>
          </a:p>
        </p:txBody>
      </p:sp>
      <p:sp>
        <p:nvSpPr>
          <p:cNvPr id="10" name="Shape 8"/>
          <p:cNvSpPr/>
          <p:nvPr/>
        </p:nvSpPr>
        <p:spPr>
          <a:xfrm>
            <a:off x="5029200" y="2770632"/>
            <a:ext cx="484632" cy="0"/>
          </a:xfrm>
          <a:prstGeom prst="line">
            <a:avLst/>
          </a:prstGeom>
          <a:noFill/>
          <a:ln w="17780">
            <a:solidFill>
              <a:srgbClr val="64748B"/>
            </a:solidFill>
            <a:prstDash val="solid"/>
            <a:headEnd type="none"/>
            <a:tailEnd type="triangle"/>
          </a:ln>
        </p:spPr>
      </p:sp>
      <p:sp>
        <p:nvSpPr>
          <p:cNvPr id="11" name="Shape 9"/>
          <p:cNvSpPr/>
          <p:nvPr/>
        </p:nvSpPr>
        <p:spPr>
          <a:xfrm>
            <a:off x="5623560" y="2331720"/>
            <a:ext cx="1600200" cy="868680"/>
          </a:xfrm>
          <a:prstGeom prst="roundRect">
            <a:avLst>
              <a:gd name="adj" fmla="val 6316"/>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12" name="Text 10"/>
          <p:cNvSpPr/>
          <p:nvPr/>
        </p:nvSpPr>
        <p:spPr>
          <a:xfrm>
            <a:off x="5687568" y="2647188"/>
            <a:ext cx="1472184" cy="237744"/>
          </a:xfrm>
          <a:prstGeom prst="rect">
            <a:avLst/>
          </a:prstGeom>
          <a:noFill/>
          <a:ln/>
        </p:spPr>
        <p:txBody>
          <a:bodyPr wrap="square" lIns="0" tIns="0" rIns="0" bIns="0" rtlCol="0" anchor="ctr"/>
          <a:lstStyle/>
          <a:p>
            <a:pPr algn="ctr" indent="0" marL="0">
              <a:buNone/>
            </a:pPr>
            <a:r>
              <a:rPr lang="en-US" sz="1400" b="1" dirty="0">
                <a:solidFill>
                  <a:srgbClr val="10233F"/>
                </a:solidFill>
              </a:rPr>
              <a:t>Ubuntu 24.04</a:t>
            </a:r>
            <a:endParaRPr lang="en-US" sz="1400" dirty="0"/>
          </a:p>
        </p:txBody>
      </p:sp>
      <p:sp>
        <p:nvSpPr>
          <p:cNvPr id="13" name="Shape 11"/>
          <p:cNvSpPr/>
          <p:nvPr/>
        </p:nvSpPr>
        <p:spPr>
          <a:xfrm>
            <a:off x="7406640" y="2770632"/>
            <a:ext cx="484632" cy="0"/>
          </a:xfrm>
          <a:prstGeom prst="line">
            <a:avLst/>
          </a:prstGeom>
          <a:noFill/>
          <a:ln w="17780">
            <a:solidFill>
              <a:srgbClr val="64748B"/>
            </a:solidFill>
            <a:prstDash val="solid"/>
            <a:headEnd type="none"/>
            <a:tailEnd type="triangle"/>
          </a:ln>
        </p:spPr>
      </p:sp>
      <p:sp>
        <p:nvSpPr>
          <p:cNvPr id="14" name="Shape 12"/>
          <p:cNvSpPr/>
          <p:nvPr/>
        </p:nvSpPr>
        <p:spPr>
          <a:xfrm>
            <a:off x="8001000" y="2331720"/>
            <a:ext cx="1600200" cy="868680"/>
          </a:xfrm>
          <a:prstGeom prst="roundRect">
            <a:avLst>
              <a:gd name="adj" fmla="val 6316"/>
            </a:avLst>
          </a:prstGeom>
          <a:solidFill>
            <a:srgbClr val="FEF3C7"/>
          </a:solidFill>
          <a:ln w="19050">
            <a:solidFill>
              <a:srgbClr val="F97316"/>
            </a:solidFill>
            <a:prstDash val="solid"/>
          </a:ln>
          <a:effectLst>
            <a:outerShdw sx="100000" sy="100000" kx="0" ky="0" algn="bl" rotWithShape="0" blurRad="19050" dist="12700" dir="2700000">
              <a:srgbClr val="64748B">
                <a:alpha val="12000"/>
              </a:srgbClr>
            </a:outerShdw>
          </a:effectLst>
        </p:spPr>
      </p:sp>
      <p:sp>
        <p:nvSpPr>
          <p:cNvPr id="15" name="Text 13"/>
          <p:cNvSpPr/>
          <p:nvPr/>
        </p:nvSpPr>
        <p:spPr>
          <a:xfrm>
            <a:off x="8065008" y="2647188"/>
            <a:ext cx="1472184" cy="237744"/>
          </a:xfrm>
          <a:prstGeom prst="rect">
            <a:avLst/>
          </a:prstGeom>
          <a:noFill/>
          <a:ln/>
        </p:spPr>
        <p:txBody>
          <a:bodyPr wrap="square" lIns="0" tIns="0" rIns="0" bIns="0" rtlCol="0" anchor="ctr"/>
          <a:lstStyle/>
          <a:p>
            <a:pPr algn="ctr" indent="0" marL="0">
              <a:buNone/>
            </a:pPr>
            <a:r>
              <a:rPr lang="en-US" sz="1400" b="1" dirty="0">
                <a:solidFill>
                  <a:srgbClr val="10233F"/>
                </a:solidFill>
              </a:rPr>
              <a:t>ROS2 Jazzy</a:t>
            </a:r>
            <a:endParaRPr lang="en-US" sz="1400" dirty="0"/>
          </a:p>
        </p:txBody>
      </p:sp>
      <p:sp>
        <p:nvSpPr>
          <p:cNvPr id="16" name="Shape 14"/>
          <p:cNvSpPr/>
          <p:nvPr/>
        </p:nvSpPr>
        <p:spPr>
          <a:xfrm>
            <a:off x="9509760" y="2770632"/>
            <a:ext cx="484632" cy="0"/>
          </a:xfrm>
          <a:prstGeom prst="line">
            <a:avLst/>
          </a:prstGeom>
          <a:noFill/>
          <a:ln w="17780">
            <a:solidFill>
              <a:srgbClr val="64748B"/>
            </a:solidFill>
            <a:prstDash val="solid"/>
            <a:headEnd type="none"/>
            <a:tailEnd type="triangle"/>
          </a:ln>
        </p:spPr>
      </p:sp>
      <p:sp>
        <p:nvSpPr>
          <p:cNvPr id="17" name="Shape 15"/>
          <p:cNvSpPr/>
          <p:nvPr/>
        </p:nvSpPr>
        <p:spPr>
          <a:xfrm>
            <a:off x="10104120" y="2331720"/>
            <a:ext cx="1600200" cy="868680"/>
          </a:xfrm>
          <a:prstGeom prst="roundRect">
            <a:avLst>
              <a:gd name="adj" fmla="val 6316"/>
            </a:avLst>
          </a:prstGeom>
          <a:solidFill>
            <a:srgbClr val="EDE9FE"/>
          </a:solidFill>
          <a:ln w="19050">
            <a:solidFill>
              <a:srgbClr val="7C3AED"/>
            </a:solidFill>
            <a:prstDash val="solid"/>
          </a:ln>
          <a:effectLst>
            <a:outerShdw sx="100000" sy="100000" kx="0" ky="0" algn="bl" rotWithShape="0" blurRad="19050" dist="12700" dir="2700000">
              <a:srgbClr val="64748B">
                <a:alpha val="12000"/>
              </a:srgbClr>
            </a:outerShdw>
          </a:effectLst>
        </p:spPr>
      </p:sp>
      <p:sp>
        <p:nvSpPr>
          <p:cNvPr id="18" name="Text 16"/>
          <p:cNvSpPr/>
          <p:nvPr/>
        </p:nvSpPr>
        <p:spPr>
          <a:xfrm>
            <a:off x="10168128" y="2647188"/>
            <a:ext cx="1472184" cy="237744"/>
          </a:xfrm>
          <a:prstGeom prst="rect">
            <a:avLst/>
          </a:prstGeom>
          <a:noFill/>
          <a:ln/>
        </p:spPr>
        <p:txBody>
          <a:bodyPr wrap="square" lIns="0" tIns="0" rIns="0" bIns="0" rtlCol="0" anchor="ctr"/>
          <a:lstStyle/>
          <a:p>
            <a:pPr algn="ctr" indent="0" marL="0">
              <a:buNone/>
            </a:pPr>
            <a:r>
              <a:rPr lang="en-US" sz="1400" b="1" dirty="0">
                <a:solidFill>
                  <a:srgbClr val="10233F"/>
                </a:solidFill>
              </a:rPr>
              <a:t>VS Code</a:t>
            </a:r>
            <a:endParaRPr lang="en-US" sz="1400" dirty="0"/>
          </a:p>
        </p:txBody>
      </p:sp>
      <p:sp>
        <p:nvSpPr>
          <p:cNvPr id="19" name="Text 17"/>
          <p:cNvSpPr/>
          <p:nvPr/>
        </p:nvSpPr>
        <p:spPr>
          <a:xfrm>
            <a:off x="1051560" y="3977640"/>
            <a:ext cx="9966960" cy="411480"/>
          </a:xfrm>
          <a:prstGeom prst="rect">
            <a:avLst/>
          </a:prstGeom>
          <a:noFill/>
          <a:ln/>
        </p:spPr>
        <p:txBody>
          <a:bodyPr wrap="square" lIns="0" tIns="0" rIns="0" bIns="0" rtlCol="0" anchor="ctr"/>
          <a:lstStyle/>
          <a:p>
            <a:pPr algn="ctr" indent="0" marL="0">
              <a:buNone/>
            </a:pPr>
            <a:r>
              <a:rPr lang="en-US" sz="1900" b="1" dirty="0">
                <a:solidFill>
                  <a:srgbClr val="2563EB"/>
                </a:solidFill>
              </a:rPr>
              <a:t>All kod ligger i Linuxmiljön, inte i Windows Dokument-mapp.</a:t>
            </a:r>
            <a:endParaRPr lang="en-US" sz="1900" dirty="0"/>
          </a:p>
        </p:txBody>
      </p:sp>
      <p:sp>
        <p:nvSpPr>
          <p:cNvPr id="20" name="Text 18"/>
          <p:cNvSpPr/>
          <p:nvPr/>
        </p:nvSpPr>
        <p:spPr>
          <a:xfrm>
            <a:off x="1417320" y="4507992"/>
            <a:ext cx="9235440" cy="329184"/>
          </a:xfrm>
          <a:prstGeom prst="rect">
            <a:avLst/>
          </a:prstGeom>
          <a:noFill/>
          <a:ln/>
        </p:spPr>
        <p:txBody>
          <a:bodyPr wrap="square" lIns="0" tIns="0" rIns="0" bIns="0" rtlCol="0" anchor="ctr"/>
          <a:lstStyle/>
          <a:p>
            <a:pPr algn="ctr" indent="0" marL="0">
              <a:buNone/>
            </a:pPr>
            <a:r>
              <a:rPr lang="en-US" sz="1450" dirty="0">
                <a:solidFill>
                  <a:srgbClr val="172033"/>
                </a:solidFill>
              </a:rPr>
              <a:t>Det gör att alla arbetar i samma miljö och att ROS2-kommandon fungerar likadant.</a:t>
            </a:r>
            <a:endParaRPr lang="en-US" sz="1450" dirty="0"/>
          </a:p>
        </p:txBody>
      </p:sp>
      <p:sp>
        <p:nvSpPr>
          <p:cNvPr id="21" name="Text 19"/>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22" name="Text 20"/>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A34A"/>
          </a:solidFill>
          <a:ln w="12700">
            <a:solidFill>
              <a:srgbClr val="16A34A">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Fyra ord vi återkommer till hela tiden</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När de här orden sitter blir ROS2 mycket mindre mystiskt.</a:t>
            </a:r>
            <a:endParaRPr lang="en-US" sz="1250" dirty="0"/>
          </a:p>
        </p:txBody>
      </p:sp>
      <p:sp>
        <p:nvSpPr>
          <p:cNvPr id="5" name="Shape 3"/>
          <p:cNvSpPr/>
          <p:nvPr/>
        </p:nvSpPr>
        <p:spPr>
          <a:xfrm>
            <a:off x="804672" y="1417320"/>
            <a:ext cx="4983480" cy="1600200"/>
          </a:xfrm>
          <a:prstGeom prst="roundRect">
            <a:avLst>
              <a:gd name="adj" fmla="val 4571"/>
            </a:avLst>
          </a:prstGeom>
          <a:solidFill>
            <a:srgbClr val="DCFCE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6" name="Shape 4"/>
          <p:cNvSpPr/>
          <p:nvPr/>
        </p:nvSpPr>
        <p:spPr>
          <a:xfrm>
            <a:off x="804672" y="1417320"/>
            <a:ext cx="109728" cy="1600200"/>
          </a:xfrm>
          <a:prstGeom prst="rect">
            <a:avLst/>
          </a:prstGeom>
          <a:solidFill>
            <a:srgbClr val="16A34A"/>
          </a:solidFill>
          <a:ln w="12700">
            <a:solidFill>
              <a:srgbClr val="16A34A">
                <a:alpha val="0"/>
              </a:srgbClr>
            </a:solidFill>
            <a:prstDash val="solid"/>
          </a:ln>
        </p:spPr>
      </p:sp>
      <p:sp>
        <p:nvSpPr>
          <p:cNvPr id="7" name="Text 5"/>
          <p:cNvSpPr/>
          <p:nvPr/>
        </p:nvSpPr>
        <p:spPr>
          <a:xfrm>
            <a:off x="1033272" y="1581912"/>
            <a:ext cx="4572000" cy="256032"/>
          </a:xfrm>
          <a:prstGeom prst="rect">
            <a:avLst/>
          </a:prstGeom>
          <a:noFill/>
          <a:ln/>
        </p:spPr>
        <p:txBody>
          <a:bodyPr wrap="square" lIns="0" tIns="0" rIns="0" bIns="0" rtlCol="0" anchor="ctr"/>
          <a:lstStyle/>
          <a:p>
            <a:pPr indent="0" marL="0">
              <a:buNone/>
            </a:pPr>
            <a:r>
              <a:rPr lang="en-US" sz="1450" b="1" dirty="0">
                <a:solidFill>
                  <a:srgbClr val="10233F"/>
                </a:solidFill>
              </a:rPr>
              <a:t>Node</a:t>
            </a:r>
            <a:endParaRPr lang="en-US" sz="1450" dirty="0"/>
          </a:p>
        </p:txBody>
      </p:sp>
      <p:sp>
        <p:nvSpPr>
          <p:cNvPr id="8" name="Text 6"/>
          <p:cNvSpPr/>
          <p:nvPr/>
        </p:nvSpPr>
        <p:spPr>
          <a:xfrm>
            <a:off x="1033272" y="1938528"/>
            <a:ext cx="4572000" cy="97840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Ett program i robotsystemet. Exempel: sensor, styrning eller motor.</a:t>
            </a:r>
            <a:endParaRPr lang="en-US" sz="1150" dirty="0"/>
          </a:p>
        </p:txBody>
      </p:sp>
      <p:sp>
        <p:nvSpPr>
          <p:cNvPr id="9" name="Shape 7"/>
          <p:cNvSpPr/>
          <p:nvPr/>
        </p:nvSpPr>
        <p:spPr>
          <a:xfrm>
            <a:off x="6336792" y="1417320"/>
            <a:ext cx="4983480" cy="1600200"/>
          </a:xfrm>
          <a:prstGeom prst="roundRect">
            <a:avLst>
              <a:gd name="adj" fmla="val 4571"/>
            </a:avLst>
          </a:prstGeom>
          <a:solidFill>
            <a:srgbClr val="DBEA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0" name="Shape 8"/>
          <p:cNvSpPr/>
          <p:nvPr/>
        </p:nvSpPr>
        <p:spPr>
          <a:xfrm>
            <a:off x="6336792" y="1417320"/>
            <a:ext cx="109728" cy="1600200"/>
          </a:xfrm>
          <a:prstGeom prst="rect">
            <a:avLst/>
          </a:prstGeom>
          <a:solidFill>
            <a:srgbClr val="2563EB"/>
          </a:solidFill>
          <a:ln w="12700">
            <a:solidFill>
              <a:srgbClr val="2563EB">
                <a:alpha val="0"/>
              </a:srgbClr>
            </a:solidFill>
            <a:prstDash val="solid"/>
          </a:ln>
        </p:spPr>
      </p:sp>
      <p:sp>
        <p:nvSpPr>
          <p:cNvPr id="11" name="Text 9"/>
          <p:cNvSpPr/>
          <p:nvPr/>
        </p:nvSpPr>
        <p:spPr>
          <a:xfrm>
            <a:off x="6565392" y="1581912"/>
            <a:ext cx="4572000" cy="256032"/>
          </a:xfrm>
          <a:prstGeom prst="rect">
            <a:avLst/>
          </a:prstGeom>
          <a:noFill/>
          <a:ln/>
        </p:spPr>
        <p:txBody>
          <a:bodyPr wrap="square" lIns="0" tIns="0" rIns="0" bIns="0" rtlCol="0" anchor="ctr"/>
          <a:lstStyle/>
          <a:p>
            <a:pPr indent="0" marL="0">
              <a:buNone/>
            </a:pPr>
            <a:r>
              <a:rPr lang="en-US" sz="1450" b="1" dirty="0">
                <a:solidFill>
                  <a:srgbClr val="10233F"/>
                </a:solidFill>
              </a:rPr>
              <a:t>Topic</a:t>
            </a:r>
            <a:endParaRPr lang="en-US" sz="1450" dirty="0"/>
          </a:p>
        </p:txBody>
      </p:sp>
      <p:sp>
        <p:nvSpPr>
          <p:cNvPr id="12" name="Text 10"/>
          <p:cNvSpPr/>
          <p:nvPr/>
        </p:nvSpPr>
        <p:spPr>
          <a:xfrm>
            <a:off x="6565392" y="1938528"/>
            <a:ext cx="4572000" cy="97840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En namngiven kanal där data skickas mellan noder.</a:t>
            </a:r>
            <a:endParaRPr lang="en-US" sz="1150" dirty="0"/>
          </a:p>
        </p:txBody>
      </p:sp>
      <p:sp>
        <p:nvSpPr>
          <p:cNvPr id="13" name="Shape 11"/>
          <p:cNvSpPr/>
          <p:nvPr/>
        </p:nvSpPr>
        <p:spPr>
          <a:xfrm>
            <a:off x="804672" y="3566160"/>
            <a:ext cx="4983480" cy="1600200"/>
          </a:xfrm>
          <a:prstGeom prst="roundRect">
            <a:avLst>
              <a:gd name="adj" fmla="val 4571"/>
            </a:avLst>
          </a:prstGeom>
          <a:solidFill>
            <a:srgbClr val="FEF3C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4" name="Shape 12"/>
          <p:cNvSpPr/>
          <p:nvPr/>
        </p:nvSpPr>
        <p:spPr>
          <a:xfrm>
            <a:off x="804672" y="3566160"/>
            <a:ext cx="109728" cy="1600200"/>
          </a:xfrm>
          <a:prstGeom prst="rect">
            <a:avLst/>
          </a:prstGeom>
          <a:solidFill>
            <a:srgbClr val="F97316"/>
          </a:solidFill>
          <a:ln w="12700">
            <a:solidFill>
              <a:srgbClr val="F97316">
                <a:alpha val="0"/>
              </a:srgbClr>
            </a:solidFill>
            <a:prstDash val="solid"/>
          </a:ln>
        </p:spPr>
      </p:sp>
      <p:sp>
        <p:nvSpPr>
          <p:cNvPr id="15" name="Text 13"/>
          <p:cNvSpPr/>
          <p:nvPr/>
        </p:nvSpPr>
        <p:spPr>
          <a:xfrm>
            <a:off x="1033272" y="3730752"/>
            <a:ext cx="4572000" cy="256032"/>
          </a:xfrm>
          <a:prstGeom prst="rect">
            <a:avLst/>
          </a:prstGeom>
          <a:noFill/>
          <a:ln/>
        </p:spPr>
        <p:txBody>
          <a:bodyPr wrap="square" lIns="0" tIns="0" rIns="0" bIns="0" rtlCol="0" anchor="ctr"/>
          <a:lstStyle/>
          <a:p>
            <a:pPr indent="0" marL="0">
              <a:buNone/>
            </a:pPr>
            <a:r>
              <a:rPr lang="en-US" sz="1450" b="1" dirty="0">
                <a:solidFill>
                  <a:srgbClr val="10233F"/>
                </a:solidFill>
              </a:rPr>
              <a:t>Message</a:t>
            </a:r>
            <a:endParaRPr lang="en-US" sz="1450" dirty="0"/>
          </a:p>
        </p:txBody>
      </p:sp>
      <p:sp>
        <p:nvSpPr>
          <p:cNvPr id="16" name="Text 14"/>
          <p:cNvSpPr/>
          <p:nvPr/>
        </p:nvSpPr>
        <p:spPr>
          <a:xfrm>
            <a:off x="1033272" y="4087368"/>
            <a:ext cx="4572000" cy="97840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Själva datat som skickas. Exempel: hastighet eller sensorvärde.</a:t>
            </a:r>
            <a:endParaRPr lang="en-US" sz="1150" dirty="0"/>
          </a:p>
        </p:txBody>
      </p:sp>
      <p:sp>
        <p:nvSpPr>
          <p:cNvPr id="17" name="Shape 15"/>
          <p:cNvSpPr/>
          <p:nvPr/>
        </p:nvSpPr>
        <p:spPr>
          <a:xfrm>
            <a:off x="6336792" y="3566160"/>
            <a:ext cx="4983480" cy="1600200"/>
          </a:xfrm>
          <a:prstGeom prst="roundRect">
            <a:avLst>
              <a:gd name="adj" fmla="val 4571"/>
            </a:avLst>
          </a:prstGeom>
          <a:solidFill>
            <a:srgbClr val="EDE9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8" name="Shape 16"/>
          <p:cNvSpPr/>
          <p:nvPr/>
        </p:nvSpPr>
        <p:spPr>
          <a:xfrm>
            <a:off x="6336792" y="3566160"/>
            <a:ext cx="109728" cy="1600200"/>
          </a:xfrm>
          <a:prstGeom prst="rect">
            <a:avLst/>
          </a:prstGeom>
          <a:solidFill>
            <a:srgbClr val="7C3AED"/>
          </a:solidFill>
          <a:ln w="12700">
            <a:solidFill>
              <a:srgbClr val="7C3AED">
                <a:alpha val="0"/>
              </a:srgbClr>
            </a:solidFill>
            <a:prstDash val="solid"/>
          </a:ln>
        </p:spPr>
      </p:sp>
      <p:sp>
        <p:nvSpPr>
          <p:cNvPr id="19" name="Text 17"/>
          <p:cNvSpPr/>
          <p:nvPr/>
        </p:nvSpPr>
        <p:spPr>
          <a:xfrm>
            <a:off x="6565392" y="3730752"/>
            <a:ext cx="4572000" cy="256032"/>
          </a:xfrm>
          <a:prstGeom prst="rect">
            <a:avLst/>
          </a:prstGeom>
          <a:noFill/>
          <a:ln/>
        </p:spPr>
        <p:txBody>
          <a:bodyPr wrap="square" lIns="0" tIns="0" rIns="0" bIns="0" rtlCol="0" anchor="ctr"/>
          <a:lstStyle/>
          <a:p>
            <a:pPr indent="0" marL="0">
              <a:buNone/>
            </a:pPr>
            <a:r>
              <a:rPr lang="en-US" sz="1450" b="1" dirty="0">
                <a:solidFill>
                  <a:srgbClr val="10233F"/>
                </a:solidFill>
              </a:rPr>
              <a:t>Service</a:t>
            </a:r>
            <a:endParaRPr lang="en-US" sz="1450" dirty="0"/>
          </a:p>
        </p:txBody>
      </p:sp>
      <p:sp>
        <p:nvSpPr>
          <p:cNvPr id="20" name="Text 18"/>
          <p:cNvSpPr/>
          <p:nvPr/>
        </p:nvSpPr>
        <p:spPr>
          <a:xfrm>
            <a:off x="6565392" y="4087368"/>
            <a:ext cx="4572000" cy="97840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Ett engångsanrop: gör detta och svara tillbaka.</a:t>
            </a:r>
            <a:endParaRPr lang="en-US" sz="1150" dirty="0"/>
          </a:p>
        </p:txBody>
      </p:sp>
      <p:sp>
        <p:nvSpPr>
          <p:cNvPr id="21" name="Text 19"/>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22" name="Text 20"/>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97316"/>
          </a:solidFill>
          <a:ln w="12700">
            <a:solidFill>
              <a:srgbClr val="F97316">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Labbarna är en resa — inte åtta lösa uppgifter</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Varje labb lägger till en byggsten som behövs för robotmoppen.</a:t>
            </a:r>
            <a:endParaRPr lang="en-US" sz="1250" dirty="0"/>
          </a:p>
        </p:txBody>
      </p:sp>
      <p:sp>
        <p:nvSpPr>
          <p:cNvPr id="5" name="Shape 3"/>
          <p:cNvSpPr/>
          <p:nvPr/>
        </p:nvSpPr>
        <p:spPr>
          <a:xfrm>
            <a:off x="594360" y="1828800"/>
            <a:ext cx="658368" cy="658368"/>
          </a:xfrm>
          <a:prstGeom prst="roundRect">
            <a:avLst>
              <a:gd name="adj" fmla="val 8333"/>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6" name="Text 4"/>
          <p:cNvSpPr/>
          <p:nvPr/>
        </p:nvSpPr>
        <p:spPr>
          <a:xfrm>
            <a:off x="658368" y="2039112"/>
            <a:ext cx="530352" cy="237744"/>
          </a:xfrm>
          <a:prstGeom prst="rect">
            <a:avLst/>
          </a:prstGeom>
          <a:noFill/>
          <a:ln/>
        </p:spPr>
        <p:txBody>
          <a:bodyPr wrap="square" lIns="0" tIns="0" rIns="0" bIns="0" rtlCol="0" anchor="ctr"/>
          <a:lstStyle/>
          <a:p>
            <a:pPr algn="ctr" indent="0" marL="0">
              <a:buNone/>
            </a:pPr>
            <a:r>
              <a:rPr lang="en-US" sz="1600" b="1" dirty="0">
                <a:solidFill>
                  <a:srgbClr val="10233F"/>
                </a:solidFill>
              </a:rPr>
              <a:t>1</a:t>
            </a:r>
            <a:endParaRPr lang="en-US" sz="1600" dirty="0"/>
          </a:p>
        </p:txBody>
      </p:sp>
      <p:sp>
        <p:nvSpPr>
          <p:cNvPr id="7" name="Text 5"/>
          <p:cNvSpPr/>
          <p:nvPr/>
        </p:nvSpPr>
        <p:spPr>
          <a:xfrm>
            <a:off x="338328" y="2633472"/>
            <a:ext cx="1170432" cy="274320"/>
          </a:xfrm>
          <a:prstGeom prst="rect">
            <a:avLst/>
          </a:prstGeom>
          <a:noFill/>
          <a:ln/>
        </p:spPr>
        <p:txBody>
          <a:bodyPr wrap="square" lIns="0" tIns="0" rIns="0" bIns="0" rtlCol="0" anchor="ctr"/>
          <a:lstStyle/>
          <a:p>
            <a:pPr algn="ctr" indent="0" marL="0">
              <a:buNone/>
            </a:pPr>
            <a:r>
              <a:rPr lang="en-US" sz="1050" b="1" dirty="0">
                <a:solidFill>
                  <a:srgbClr val="10233F"/>
                </a:solidFill>
              </a:rPr>
              <a:t>Starta</a:t>
            </a:r>
            <a:endParaRPr lang="en-US" sz="1050" dirty="0"/>
          </a:p>
        </p:txBody>
      </p:sp>
      <p:sp>
        <p:nvSpPr>
          <p:cNvPr id="8" name="Shape 6"/>
          <p:cNvSpPr/>
          <p:nvPr/>
        </p:nvSpPr>
        <p:spPr>
          <a:xfrm>
            <a:off x="1636776" y="2157984"/>
            <a:ext cx="301752" cy="0"/>
          </a:xfrm>
          <a:prstGeom prst="line">
            <a:avLst/>
          </a:prstGeom>
          <a:noFill/>
          <a:ln w="17780">
            <a:solidFill>
              <a:srgbClr val="64748B"/>
            </a:solidFill>
            <a:prstDash val="solid"/>
            <a:headEnd type="none"/>
            <a:tailEnd type="triangle"/>
          </a:ln>
        </p:spPr>
      </p:sp>
      <p:sp>
        <p:nvSpPr>
          <p:cNvPr id="9" name="Shape 7"/>
          <p:cNvSpPr/>
          <p:nvPr/>
        </p:nvSpPr>
        <p:spPr>
          <a:xfrm>
            <a:off x="1984248" y="1828800"/>
            <a:ext cx="658368" cy="658368"/>
          </a:xfrm>
          <a:prstGeom prst="roundRect">
            <a:avLst>
              <a:gd name="adj" fmla="val 8333"/>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10" name="Text 8"/>
          <p:cNvSpPr/>
          <p:nvPr/>
        </p:nvSpPr>
        <p:spPr>
          <a:xfrm>
            <a:off x="2048256" y="2039112"/>
            <a:ext cx="530352" cy="237744"/>
          </a:xfrm>
          <a:prstGeom prst="rect">
            <a:avLst/>
          </a:prstGeom>
          <a:noFill/>
          <a:ln/>
        </p:spPr>
        <p:txBody>
          <a:bodyPr wrap="square" lIns="0" tIns="0" rIns="0" bIns="0" rtlCol="0" anchor="ctr"/>
          <a:lstStyle/>
          <a:p>
            <a:pPr algn="ctr" indent="0" marL="0">
              <a:buNone/>
            </a:pPr>
            <a:r>
              <a:rPr lang="en-US" sz="1600" b="1" dirty="0">
                <a:solidFill>
                  <a:srgbClr val="10233F"/>
                </a:solidFill>
              </a:rPr>
              <a:t>2</a:t>
            </a:r>
            <a:endParaRPr lang="en-US" sz="1600" dirty="0"/>
          </a:p>
        </p:txBody>
      </p:sp>
      <p:sp>
        <p:nvSpPr>
          <p:cNvPr id="11" name="Text 9"/>
          <p:cNvSpPr/>
          <p:nvPr/>
        </p:nvSpPr>
        <p:spPr>
          <a:xfrm>
            <a:off x="1728216" y="2633472"/>
            <a:ext cx="1170432" cy="274320"/>
          </a:xfrm>
          <a:prstGeom prst="rect">
            <a:avLst/>
          </a:prstGeom>
          <a:noFill/>
          <a:ln/>
        </p:spPr>
        <p:txBody>
          <a:bodyPr wrap="square" lIns="0" tIns="0" rIns="0" bIns="0" rtlCol="0" anchor="ctr"/>
          <a:lstStyle/>
          <a:p>
            <a:pPr algn="ctr" indent="0" marL="0">
              <a:buNone/>
            </a:pPr>
            <a:r>
              <a:rPr lang="en-US" sz="1050" b="1" dirty="0">
                <a:solidFill>
                  <a:srgbClr val="10233F"/>
                </a:solidFill>
              </a:rPr>
              <a:t>Lyssna</a:t>
            </a:r>
            <a:endParaRPr lang="en-US" sz="1050" dirty="0"/>
          </a:p>
        </p:txBody>
      </p:sp>
      <p:sp>
        <p:nvSpPr>
          <p:cNvPr id="12" name="Shape 10"/>
          <p:cNvSpPr/>
          <p:nvPr/>
        </p:nvSpPr>
        <p:spPr>
          <a:xfrm>
            <a:off x="3026664" y="2157984"/>
            <a:ext cx="301752" cy="0"/>
          </a:xfrm>
          <a:prstGeom prst="line">
            <a:avLst/>
          </a:prstGeom>
          <a:noFill/>
          <a:ln w="17780">
            <a:solidFill>
              <a:srgbClr val="64748B"/>
            </a:solidFill>
            <a:prstDash val="solid"/>
            <a:headEnd type="none"/>
            <a:tailEnd type="triangle"/>
          </a:ln>
        </p:spPr>
      </p:sp>
      <p:sp>
        <p:nvSpPr>
          <p:cNvPr id="13" name="Shape 11"/>
          <p:cNvSpPr/>
          <p:nvPr/>
        </p:nvSpPr>
        <p:spPr>
          <a:xfrm>
            <a:off x="3374136" y="1828800"/>
            <a:ext cx="658368" cy="658368"/>
          </a:xfrm>
          <a:prstGeom prst="roundRect">
            <a:avLst>
              <a:gd name="adj" fmla="val 8333"/>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14" name="Text 12"/>
          <p:cNvSpPr/>
          <p:nvPr/>
        </p:nvSpPr>
        <p:spPr>
          <a:xfrm>
            <a:off x="3438144" y="2039112"/>
            <a:ext cx="530352" cy="237744"/>
          </a:xfrm>
          <a:prstGeom prst="rect">
            <a:avLst/>
          </a:prstGeom>
          <a:noFill/>
          <a:ln/>
        </p:spPr>
        <p:txBody>
          <a:bodyPr wrap="square" lIns="0" tIns="0" rIns="0" bIns="0" rtlCol="0" anchor="ctr"/>
          <a:lstStyle/>
          <a:p>
            <a:pPr algn="ctr" indent="0" marL="0">
              <a:buNone/>
            </a:pPr>
            <a:r>
              <a:rPr lang="en-US" sz="1600" b="1" dirty="0">
                <a:solidFill>
                  <a:srgbClr val="10233F"/>
                </a:solidFill>
              </a:rPr>
              <a:t>3</a:t>
            </a:r>
            <a:endParaRPr lang="en-US" sz="1600" dirty="0"/>
          </a:p>
        </p:txBody>
      </p:sp>
      <p:sp>
        <p:nvSpPr>
          <p:cNvPr id="15" name="Text 13"/>
          <p:cNvSpPr/>
          <p:nvPr/>
        </p:nvSpPr>
        <p:spPr>
          <a:xfrm>
            <a:off x="3118104" y="2633472"/>
            <a:ext cx="1170432" cy="274320"/>
          </a:xfrm>
          <a:prstGeom prst="rect">
            <a:avLst/>
          </a:prstGeom>
          <a:noFill/>
          <a:ln/>
        </p:spPr>
        <p:txBody>
          <a:bodyPr wrap="square" lIns="0" tIns="0" rIns="0" bIns="0" rtlCol="0" anchor="ctr"/>
          <a:lstStyle/>
          <a:p>
            <a:pPr algn="ctr" indent="0" marL="0">
              <a:buNone/>
            </a:pPr>
            <a:r>
              <a:rPr lang="en-US" sz="1050" b="1" dirty="0">
                <a:solidFill>
                  <a:srgbClr val="10233F"/>
                </a:solidFill>
              </a:rPr>
              <a:t>Skicka</a:t>
            </a:r>
            <a:endParaRPr lang="en-US" sz="1050" dirty="0"/>
          </a:p>
        </p:txBody>
      </p:sp>
      <p:sp>
        <p:nvSpPr>
          <p:cNvPr id="16" name="Shape 14"/>
          <p:cNvSpPr/>
          <p:nvPr/>
        </p:nvSpPr>
        <p:spPr>
          <a:xfrm>
            <a:off x="4416552" y="2157984"/>
            <a:ext cx="301752" cy="0"/>
          </a:xfrm>
          <a:prstGeom prst="line">
            <a:avLst/>
          </a:prstGeom>
          <a:noFill/>
          <a:ln w="17780">
            <a:solidFill>
              <a:srgbClr val="64748B"/>
            </a:solidFill>
            <a:prstDash val="solid"/>
            <a:headEnd type="none"/>
            <a:tailEnd type="triangle"/>
          </a:ln>
        </p:spPr>
      </p:sp>
      <p:sp>
        <p:nvSpPr>
          <p:cNvPr id="17" name="Shape 15"/>
          <p:cNvSpPr/>
          <p:nvPr/>
        </p:nvSpPr>
        <p:spPr>
          <a:xfrm>
            <a:off x="4764024" y="1828800"/>
            <a:ext cx="658368" cy="658368"/>
          </a:xfrm>
          <a:prstGeom prst="roundRect">
            <a:avLst>
              <a:gd name="adj" fmla="val 8333"/>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18" name="Text 16"/>
          <p:cNvSpPr/>
          <p:nvPr/>
        </p:nvSpPr>
        <p:spPr>
          <a:xfrm>
            <a:off x="4828032" y="2039112"/>
            <a:ext cx="530352" cy="237744"/>
          </a:xfrm>
          <a:prstGeom prst="rect">
            <a:avLst/>
          </a:prstGeom>
          <a:noFill/>
          <a:ln/>
        </p:spPr>
        <p:txBody>
          <a:bodyPr wrap="square" lIns="0" tIns="0" rIns="0" bIns="0" rtlCol="0" anchor="ctr"/>
          <a:lstStyle/>
          <a:p>
            <a:pPr algn="ctr" indent="0" marL="0">
              <a:buNone/>
            </a:pPr>
            <a:r>
              <a:rPr lang="en-US" sz="1600" b="1" dirty="0">
                <a:solidFill>
                  <a:srgbClr val="10233F"/>
                </a:solidFill>
              </a:rPr>
              <a:t>4</a:t>
            </a:r>
            <a:endParaRPr lang="en-US" sz="1600" dirty="0"/>
          </a:p>
        </p:txBody>
      </p:sp>
      <p:sp>
        <p:nvSpPr>
          <p:cNvPr id="19" name="Text 17"/>
          <p:cNvSpPr/>
          <p:nvPr/>
        </p:nvSpPr>
        <p:spPr>
          <a:xfrm>
            <a:off x="4507992" y="2633472"/>
            <a:ext cx="1170432" cy="274320"/>
          </a:xfrm>
          <a:prstGeom prst="rect">
            <a:avLst/>
          </a:prstGeom>
          <a:noFill/>
          <a:ln/>
        </p:spPr>
        <p:txBody>
          <a:bodyPr wrap="square" lIns="0" tIns="0" rIns="0" bIns="0" rtlCol="0" anchor="ctr"/>
          <a:lstStyle/>
          <a:p>
            <a:pPr algn="ctr" indent="0" marL="0">
              <a:buNone/>
            </a:pPr>
            <a:r>
              <a:rPr lang="en-US" sz="1050" b="1" dirty="0">
                <a:solidFill>
                  <a:srgbClr val="10233F"/>
                </a:solidFill>
              </a:rPr>
              <a:t>Bygga</a:t>
            </a:r>
            <a:endParaRPr lang="en-US" sz="1050" dirty="0"/>
          </a:p>
        </p:txBody>
      </p:sp>
      <p:sp>
        <p:nvSpPr>
          <p:cNvPr id="20" name="Shape 18"/>
          <p:cNvSpPr/>
          <p:nvPr/>
        </p:nvSpPr>
        <p:spPr>
          <a:xfrm>
            <a:off x="5806440" y="2157984"/>
            <a:ext cx="301752" cy="0"/>
          </a:xfrm>
          <a:prstGeom prst="line">
            <a:avLst/>
          </a:prstGeom>
          <a:noFill/>
          <a:ln w="17780">
            <a:solidFill>
              <a:srgbClr val="64748B"/>
            </a:solidFill>
            <a:prstDash val="solid"/>
            <a:headEnd type="none"/>
            <a:tailEnd type="triangle"/>
          </a:ln>
        </p:spPr>
      </p:sp>
      <p:sp>
        <p:nvSpPr>
          <p:cNvPr id="21" name="Shape 19"/>
          <p:cNvSpPr/>
          <p:nvPr/>
        </p:nvSpPr>
        <p:spPr>
          <a:xfrm>
            <a:off x="6153912" y="1828800"/>
            <a:ext cx="658368" cy="658368"/>
          </a:xfrm>
          <a:prstGeom prst="roundRect">
            <a:avLst>
              <a:gd name="adj" fmla="val 8333"/>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22" name="Text 20"/>
          <p:cNvSpPr/>
          <p:nvPr/>
        </p:nvSpPr>
        <p:spPr>
          <a:xfrm>
            <a:off x="6217920" y="2039112"/>
            <a:ext cx="530352" cy="237744"/>
          </a:xfrm>
          <a:prstGeom prst="rect">
            <a:avLst/>
          </a:prstGeom>
          <a:noFill/>
          <a:ln/>
        </p:spPr>
        <p:txBody>
          <a:bodyPr wrap="square" lIns="0" tIns="0" rIns="0" bIns="0" rtlCol="0" anchor="ctr"/>
          <a:lstStyle/>
          <a:p>
            <a:pPr algn="ctr" indent="0" marL="0">
              <a:buNone/>
            </a:pPr>
            <a:r>
              <a:rPr lang="en-US" sz="1600" b="1" dirty="0">
                <a:solidFill>
                  <a:srgbClr val="10233F"/>
                </a:solidFill>
              </a:rPr>
              <a:t>5</a:t>
            </a:r>
            <a:endParaRPr lang="en-US" sz="1600" dirty="0"/>
          </a:p>
        </p:txBody>
      </p:sp>
      <p:sp>
        <p:nvSpPr>
          <p:cNvPr id="23" name="Text 21"/>
          <p:cNvSpPr/>
          <p:nvPr/>
        </p:nvSpPr>
        <p:spPr>
          <a:xfrm>
            <a:off x="5897880" y="2633472"/>
            <a:ext cx="1170432" cy="274320"/>
          </a:xfrm>
          <a:prstGeom prst="rect">
            <a:avLst/>
          </a:prstGeom>
          <a:noFill/>
          <a:ln/>
        </p:spPr>
        <p:txBody>
          <a:bodyPr wrap="square" lIns="0" tIns="0" rIns="0" bIns="0" rtlCol="0" anchor="ctr"/>
          <a:lstStyle/>
          <a:p>
            <a:pPr algn="ctr" indent="0" marL="0">
              <a:buNone/>
            </a:pPr>
            <a:r>
              <a:rPr lang="en-US" sz="1050" b="1" dirty="0">
                <a:solidFill>
                  <a:srgbClr val="10233F"/>
                </a:solidFill>
              </a:rPr>
              <a:t>Publisher</a:t>
            </a:r>
            <a:endParaRPr lang="en-US" sz="1050" dirty="0"/>
          </a:p>
        </p:txBody>
      </p:sp>
      <p:sp>
        <p:nvSpPr>
          <p:cNvPr id="24" name="Shape 22"/>
          <p:cNvSpPr/>
          <p:nvPr/>
        </p:nvSpPr>
        <p:spPr>
          <a:xfrm>
            <a:off x="7196328" y="2157984"/>
            <a:ext cx="301752" cy="0"/>
          </a:xfrm>
          <a:prstGeom prst="line">
            <a:avLst/>
          </a:prstGeom>
          <a:noFill/>
          <a:ln w="17780">
            <a:solidFill>
              <a:srgbClr val="64748B"/>
            </a:solidFill>
            <a:prstDash val="solid"/>
            <a:headEnd type="none"/>
            <a:tailEnd type="triangle"/>
          </a:ln>
        </p:spPr>
      </p:sp>
      <p:sp>
        <p:nvSpPr>
          <p:cNvPr id="25" name="Shape 23"/>
          <p:cNvSpPr/>
          <p:nvPr/>
        </p:nvSpPr>
        <p:spPr>
          <a:xfrm>
            <a:off x="7543800" y="1828800"/>
            <a:ext cx="658368" cy="658368"/>
          </a:xfrm>
          <a:prstGeom prst="roundRect">
            <a:avLst>
              <a:gd name="adj" fmla="val 8333"/>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26" name="Text 24"/>
          <p:cNvSpPr/>
          <p:nvPr/>
        </p:nvSpPr>
        <p:spPr>
          <a:xfrm>
            <a:off x="7607808" y="2039112"/>
            <a:ext cx="530352" cy="237744"/>
          </a:xfrm>
          <a:prstGeom prst="rect">
            <a:avLst/>
          </a:prstGeom>
          <a:noFill/>
          <a:ln/>
        </p:spPr>
        <p:txBody>
          <a:bodyPr wrap="square" lIns="0" tIns="0" rIns="0" bIns="0" rtlCol="0" anchor="ctr"/>
          <a:lstStyle/>
          <a:p>
            <a:pPr algn="ctr" indent="0" marL="0">
              <a:buNone/>
            </a:pPr>
            <a:r>
              <a:rPr lang="en-US" sz="1600" b="1" dirty="0">
                <a:solidFill>
                  <a:srgbClr val="10233F"/>
                </a:solidFill>
              </a:rPr>
              <a:t>6</a:t>
            </a:r>
            <a:endParaRPr lang="en-US" sz="1600" dirty="0"/>
          </a:p>
        </p:txBody>
      </p:sp>
      <p:sp>
        <p:nvSpPr>
          <p:cNvPr id="27" name="Text 25"/>
          <p:cNvSpPr/>
          <p:nvPr/>
        </p:nvSpPr>
        <p:spPr>
          <a:xfrm>
            <a:off x="7287768" y="2633472"/>
            <a:ext cx="1170432" cy="274320"/>
          </a:xfrm>
          <a:prstGeom prst="rect">
            <a:avLst/>
          </a:prstGeom>
          <a:noFill/>
          <a:ln/>
        </p:spPr>
        <p:txBody>
          <a:bodyPr wrap="square" lIns="0" tIns="0" rIns="0" bIns="0" rtlCol="0" anchor="ctr"/>
          <a:lstStyle/>
          <a:p>
            <a:pPr algn="ctr" indent="0" marL="0">
              <a:buNone/>
            </a:pPr>
            <a:r>
              <a:rPr lang="en-US" sz="1050" b="1" dirty="0">
                <a:solidFill>
                  <a:srgbClr val="10233F"/>
                </a:solidFill>
              </a:rPr>
              <a:t>Subscriber</a:t>
            </a:r>
            <a:endParaRPr lang="en-US" sz="1050" dirty="0"/>
          </a:p>
        </p:txBody>
      </p:sp>
      <p:sp>
        <p:nvSpPr>
          <p:cNvPr id="28" name="Shape 26"/>
          <p:cNvSpPr/>
          <p:nvPr/>
        </p:nvSpPr>
        <p:spPr>
          <a:xfrm>
            <a:off x="8586216" y="2157984"/>
            <a:ext cx="301752" cy="0"/>
          </a:xfrm>
          <a:prstGeom prst="line">
            <a:avLst/>
          </a:prstGeom>
          <a:noFill/>
          <a:ln w="17780">
            <a:solidFill>
              <a:srgbClr val="64748B"/>
            </a:solidFill>
            <a:prstDash val="solid"/>
            <a:headEnd type="none"/>
            <a:tailEnd type="triangle"/>
          </a:ln>
        </p:spPr>
      </p:sp>
      <p:sp>
        <p:nvSpPr>
          <p:cNvPr id="29" name="Shape 27"/>
          <p:cNvSpPr/>
          <p:nvPr/>
        </p:nvSpPr>
        <p:spPr>
          <a:xfrm>
            <a:off x="8933688" y="1828800"/>
            <a:ext cx="658368" cy="658368"/>
          </a:xfrm>
          <a:prstGeom prst="roundRect">
            <a:avLst>
              <a:gd name="adj" fmla="val 8333"/>
            </a:avLst>
          </a:prstGeom>
          <a:solidFill>
            <a:srgbClr val="FEF3C7"/>
          </a:solidFill>
          <a:ln w="19050">
            <a:solidFill>
              <a:srgbClr val="F97316"/>
            </a:solidFill>
            <a:prstDash val="solid"/>
          </a:ln>
          <a:effectLst>
            <a:outerShdw sx="100000" sy="100000" kx="0" ky="0" algn="bl" rotWithShape="0" blurRad="19050" dist="12700" dir="2700000">
              <a:srgbClr val="64748B">
                <a:alpha val="12000"/>
              </a:srgbClr>
            </a:outerShdw>
          </a:effectLst>
        </p:spPr>
      </p:sp>
      <p:sp>
        <p:nvSpPr>
          <p:cNvPr id="30" name="Text 28"/>
          <p:cNvSpPr/>
          <p:nvPr/>
        </p:nvSpPr>
        <p:spPr>
          <a:xfrm>
            <a:off x="8997696" y="2039112"/>
            <a:ext cx="530352" cy="237744"/>
          </a:xfrm>
          <a:prstGeom prst="rect">
            <a:avLst/>
          </a:prstGeom>
          <a:noFill/>
          <a:ln/>
        </p:spPr>
        <p:txBody>
          <a:bodyPr wrap="square" lIns="0" tIns="0" rIns="0" bIns="0" rtlCol="0" anchor="ctr"/>
          <a:lstStyle/>
          <a:p>
            <a:pPr algn="ctr" indent="0" marL="0">
              <a:buNone/>
            </a:pPr>
            <a:r>
              <a:rPr lang="en-US" sz="1600" b="1" dirty="0">
                <a:solidFill>
                  <a:srgbClr val="10233F"/>
                </a:solidFill>
              </a:rPr>
              <a:t>7</a:t>
            </a:r>
            <a:endParaRPr lang="en-US" sz="1600" dirty="0"/>
          </a:p>
        </p:txBody>
      </p:sp>
      <p:sp>
        <p:nvSpPr>
          <p:cNvPr id="31" name="Text 29"/>
          <p:cNvSpPr/>
          <p:nvPr/>
        </p:nvSpPr>
        <p:spPr>
          <a:xfrm>
            <a:off x="8677656" y="2633472"/>
            <a:ext cx="1170432" cy="274320"/>
          </a:xfrm>
          <a:prstGeom prst="rect">
            <a:avLst/>
          </a:prstGeom>
          <a:noFill/>
          <a:ln/>
        </p:spPr>
        <p:txBody>
          <a:bodyPr wrap="square" lIns="0" tIns="0" rIns="0" bIns="0" rtlCol="0" anchor="ctr"/>
          <a:lstStyle/>
          <a:p>
            <a:pPr algn="ctr" indent="0" marL="0">
              <a:buNone/>
            </a:pPr>
            <a:r>
              <a:rPr lang="en-US" sz="1050" b="1" dirty="0">
                <a:solidFill>
                  <a:srgbClr val="10233F"/>
                </a:solidFill>
              </a:rPr>
              <a:t>Säkerhet</a:t>
            </a:r>
            <a:endParaRPr lang="en-US" sz="1050" dirty="0"/>
          </a:p>
        </p:txBody>
      </p:sp>
      <p:sp>
        <p:nvSpPr>
          <p:cNvPr id="32" name="Shape 30"/>
          <p:cNvSpPr/>
          <p:nvPr/>
        </p:nvSpPr>
        <p:spPr>
          <a:xfrm>
            <a:off x="9976104" y="2157984"/>
            <a:ext cx="301752" cy="0"/>
          </a:xfrm>
          <a:prstGeom prst="line">
            <a:avLst/>
          </a:prstGeom>
          <a:noFill/>
          <a:ln w="17780">
            <a:solidFill>
              <a:srgbClr val="64748B"/>
            </a:solidFill>
            <a:prstDash val="solid"/>
            <a:headEnd type="none"/>
            <a:tailEnd type="triangle"/>
          </a:ln>
        </p:spPr>
      </p:sp>
      <p:sp>
        <p:nvSpPr>
          <p:cNvPr id="33" name="Shape 31"/>
          <p:cNvSpPr/>
          <p:nvPr/>
        </p:nvSpPr>
        <p:spPr>
          <a:xfrm>
            <a:off x="10323576" y="1828800"/>
            <a:ext cx="658368" cy="658368"/>
          </a:xfrm>
          <a:prstGeom prst="roundRect">
            <a:avLst>
              <a:gd name="adj" fmla="val 8333"/>
            </a:avLst>
          </a:prstGeom>
          <a:solidFill>
            <a:srgbClr val="FEF3C7"/>
          </a:solidFill>
          <a:ln w="19050">
            <a:solidFill>
              <a:srgbClr val="F97316"/>
            </a:solidFill>
            <a:prstDash val="solid"/>
          </a:ln>
          <a:effectLst>
            <a:outerShdw sx="100000" sy="100000" kx="0" ky="0" algn="bl" rotWithShape="0" blurRad="19050" dist="12700" dir="2700000">
              <a:srgbClr val="64748B">
                <a:alpha val="12000"/>
              </a:srgbClr>
            </a:outerShdw>
          </a:effectLst>
        </p:spPr>
      </p:sp>
      <p:sp>
        <p:nvSpPr>
          <p:cNvPr id="34" name="Text 32"/>
          <p:cNvSpPr/>
          <p:nvPr/>
        </p:nvSpPr>
        <p:spPr>
          <a:xfrm>
            <a:off x="10387584" y="2039112"/>
            <a:ext cx="530352" cy="237744"/>
          </a:xfrm>
          <a:prstGeom prst="rect">
            <a:avLst/>
          </a:prstGeom>
          <a:noFill/>
          <a:ln/>
        </p:spPr>
        <p:txBody>
          <a:bodyPr wrap="square" lIns="0" tIns="0" rIns="0" bIns="0" rtlCol="0" anchor="ctr"/>
          <a:lstStyle/>
          <a:p>
            <a:pPr algn="ctr" indent="0" marL="0">
              <a:buNone/>
            </a:pPr>
            <a:r>
              <a:rPr lang="en-US" sz="1600" b="1" dirty="0">
                <a:solidFill>
                  <a:srgbClr val="10233F"/>
                </a:solidFill>
              </a:rPr>
              <a:t>8</a:t>
            </a:r>
            <a:endParaRPr lang="en-US" sz="1600" dirty="0"/>
          </a:p>
        </p:txBody>
      </p:sp>
      <p:sp>
        <p:nvSpPr>
          <p:cNvPr id="35" name="Text 33"/>
          <p:cNvSpPr/>
          <p:nvPr/>
        </p:nvSpPr>
        <p:spPr>
          <a:xfrm>
            <a:off x="10067544" y="2633472"/>
            <a:ext cx="1170432" cy="274320"/>
          </a:xfrm>
          <a:prstGeom prst="rect">
            <a:avLst/>
          </a:prstGeom>
          <a:noFill/>
          <a:ln/>
        </p:spPr>
        <p:txBody>
          <a:bodyPr wrap="square" lIns="0" tIns="0" rIns="0" bIns="0" rtlCol="0" anchor="ctr"/>
          <a:lstStyle/>
          <a:p>
            <a:pPr algn="ctr" indent="0" marL="0">
              <a:buNone/>
            </a:pPr>
            <a:r>
              <a:rPr lang="en-US" sz="1050" b="1" dirty="0">
                <a:solidFill>
                  <a:srgbClr val="10233F"/>
                </a:solidFill>
              </a:rPr>
              <a:t>Robotmopp</a:t>
            </a:r>
            <a:endParaRPr lang="en-US" sz="1050" dirty="0"/>
          </a:p>
        </p:txBody>
      </p:sp>
      <p:sp>
        <p:nvSpPr>
          <p:cNvPr id="36" name="Shape 34"/>
          <p:cNvSpPr/>
          <p:nvPr/>
        </p:nvSpPr>
        <p:spPr>
          <a:xfrm>
            <a:off x="960120" y="3794760"/>
            <a:ext cx="3154680" cy="1280160"/>
          </a:xfrm>
          <a:prstGeom prst="roundRect">
            <a:avLst>
              <a:gd name="adj" fmla="val 5714"/>
            </a:avLst>
          </a:prstGeom>
          <a:solidFill>
            <a:srgbClr val="DCFCE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37" name="Shape 35"/>
          <p:cNvSpPr/>
          <p:nvPr/>
        </p:nvSpPr>
        <p:spPr>
          <a:xfrm>
            <a:off x="960120" y="3794760"/>
            <a:ext cx="109728" cy="1280160"/>
          </a:xfrm>
          <a:prstGeom prst="rect">
            <a:avLst/>
          </a:prstGeom>
          <a:solidFill>
            <a:srgbClr val="16A34A"/>
          </a:solidFill>
          <a:ln w="12700">
            <a:solidFill>
              <a:srgbClr val="16A34A">
                <a:alpha val="0"/>
              </a:srgbClr>
            </a:solidFill>
            <a:prstDash val="solid"/>
          </a:ln>
        </p:spPr>
      </p:sp>
      <p:sp>
        <p:nvSpPr>
          <p:cNvPr id="38" name="Text 36"/>
          <p:cNvSpPr/>
          <p:nvPr/>
        </p:nvSpPr>
        <p:spPr>
          <a:xfrm>
            <a:off x="1188720" y="3959352"/>
            <a:ext cx="2743200" cy="256032"/>
          </a:xfrm>
          <a:prstGeom prst="rect">
            <a:avLst/>
          </a:prstGeom>
          <a:noFill/>
          <a:ln/>
        </p:spPr>
        <p:txBody>
          <a:bodyPr wrap="square" lIns="0" tIns="0" rIns="0" bIns="0" rtlCol="0" anchor="ctr"/>
          <a:lstStyle/>
          <a:p>
            <a:pPr indent="0" marL="0">
              <a:buNone/>
            </a:pPr>
            <a:r>
              <a:rPr lang="en-US" sz="1450" b="1" dirty="0">
                <a:solidFill>
                  <a:srgbClr val="10233F"/>
                </a:solidFill>
              </a:rPr>
              <a:t>Labb 1–3</a:t>
            </a:r>
            <a:endParaRPr lang="en-US" sz="1450" dirty="0"/>
          </a:p>
        </p:txBody>
      </p:sp>
      <p:sp>
        <p:nvSpPr>
          <p:cNvPr id="39" name="Text 37"/>
          <p:cNvSpPr/>
          <p:nvPr/>
        </p:nvSpPr>
        <p:spPr>
          <a:xfrm>
            <a:off x="1188720" y="4315968"/>
            <a:ext cx="2743200" cy="65836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Förstå systemet utifrån: noder, topics, messages och services.</a:t>
            </a:r>
            <a:endParaRPr lang="en-US" sz="1150" dirty="0"/>
          </a:p>
        </p:txBody>
      </p:sp>
      <p:sp>
        <p:nvSpPr>
          <p:cNvPr id="40" name="Shape 38"/>
          <p:cNvSpPr/>
          <p:nvPr/>
        </p:nvSpPr>
        <p:spPr>
          <a:xfrm>
            <a:off x="4526280" y="3794760"/>
            <a:ext cx="3154680" cy="1280160"/>
          </a:xfrm>
          <a:prstGeom prst="roundRect">
            <a:avLst>
              <a:gd name="adj" fmla="val 5714"/>
            </a:avLst>
          </a:prstGeom>
          <a:solidFill>
            <a:srgbClr val="DBEA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41" name="Shape 39"/>
          <p:cNvSpPr/>
          <p:nvPr/>
        </p:nvSpPr>
        <p:spPr>
          <a:xfrm>
            <a:off x="4526280" y="3794760"/>
            <a:ext cx="109728" cy="1280160"/>
          </a:xfrm>
          <a:prstGeom prst="rect">
            <a:avLst/>
          </a:prstGeom>
          <a:solidFill>
            <a:srgbClr val="2563EB"/>
          </a:solidFill>
          <a:ln w="12700">
            <a:solidFill>
              <a:srgbClr val="2563EB">
                <a:alpha val="0"/>
              </a:srgbClr>
            </a:solidFill>
            <a:prstDash val="solid"/>
          </a:ln>
        </p:spPr>
      </p:sp>
      <p:sp>
        <p:nvSpPr>
          <p:cNvPr id="42" name="Text 40"/>
          <p:cNvSpPr/>
          <p:nvPr/>
        </p:nvSpPr>
        <p:spPr>
          <a:xfrm>
            <a:off x="4754880" y="3959352"/>
            <a:ext cx="2743200" cy="256032"/>
          </a:xfrm>
          <a:prstGeom prst="rect">
            <a:avLst/>
          </a:prstGeom>
          <a:noFill/>
          <a:ln/>
        </p:spPr>
        <p:txBody>
          <a:bodyPr wrap="square" lIns="0" tIns="0" rIns="0" bIns="0" rtlCol="0" anchor="ctr"/>
          <a:lstStyle/>
          <a:p>
            <a:pPr indent="0" marL="0">
              <a:buNone/>
            </a:pPr>
            <a:r>
              <a:rPr lang="en-US" sz="1450" b="1" dirty="0">
                <a:solidFill>
                  <a:srgbClr val="10233F"/>
                </a:solidFill>
              </a:rPr>
              <a:t>Labb 4–6</a:t>
            </a:r>
            <a:endParaRPr lang="en-US" sz="1450" dirty="0"/>
          </a:p>
        </p:txBody>
      </p:sp>
      <p:sp>
        <p:nvSpPr>
          <p:cNvPr id="43" name="Text 41"/>
          <p:cNvSpPr/>
          <p:nvPr/>
        </p:nvSpPr>
        <p:spPr>
          <a:xfrm>
            <a:off x="4754880" y="4315968"/>
            <a:ext cx="2743200" cy="65836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Skriv egna små noder i Python: publisher och subscriber.</a:t>
            </a:r>
            <a:endParaRPr lang="en-US" sz="1150" dirty="0"/>
          </a:p>
        </p:txBody>
      </p:sp>
      <p:sp>
        <p:nvSpPr>
          <p:cNvPr id="44" name="Shape 42"/>
          <p:cNvSpPr/>
          <p:nvPr/>
        </p:nvSpPr>
        <p:spPr>
          <a:xfrm>
            <a:off x="8092440" y="3794760"/>
            <a:ext cx="3154680" cy="1280160"/>
          </a:xfrm>
          <a:prstGeom prst="roundRect">
            <a:avLst>
              <a:gd name="adj" fmla="val 5714"/>
            </a:avLst>
          </a:prstGeom>
          <a:solidFill>
            <a:srgbClr val="FEF3C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45" name="Shape 43"/>
          <p:cNvSpPr/>
          <p:nvPr/>
        </p:nvSpPr>
        <p:spPr>
          <a:xfrm>
            <a:off x="8092440" y="3794760"/>
            <a:ext cx="109728" cy="1280160"/>
          </a:xfrm>
          <a:prstGeom prst="rect">
            <a:avLst/>
          </a:prstGeom>
          <a:solidFill>
            <a:srgbClr val="F97316"/>
          </a:solidFill>
          <a:ln w="12700">
            <a:solidFill>
              <a:srgbClr val="F97316">
                <a:alpha val="0"/>
              </a:srgbClr>
            </a:solidFill>
            <a:prstDash val="solid"/>
          </a:ln>
        </p:spPr>
      </p:sp>
      <p:sp>
        <p:nvSpPr>
          <p:cNvPr id="46" name="Text 44"/>
          <p:cNvSpPr/>
          <p:nvPr/>
        </p:nvSpPr>
        <p:spPr>
          <a:xfrm>
            <a:off x="8321040" y="3959352"/>
            <a:ext cx="2743200" cy="256032"/>
          </a:xfrm>
          <a:prstGeom prst="rect">
            <a:avLst/>
          </a:prstGeom>
          <a:noFill/>
          <a:ln/>
        </p:spPr>
        <p:txBody>
          <a:bodyPr wrap="square" lIns="0" tIns="0" rIns="0" bIns="0" rtlCol="0" anchor="ctr"/>
          <a:lstStyle/>
          <a:p>
            <a:pPr indent="0" marL="0">
              <a:buNone/>
            </a:pPr>
            <a:r>
              <a:rPr lang="en-US" sz="1450" b="1" dirty="0">
                <a:solidFill>
                  <a:srgbClr val="10233F"/>
                </a:solidFill>
              </a:rPr>
              <a:t>Labb 7–8</a:t>
            </a:r>
            <a:endParaRPr lang="en-US" sz="1450" dirty="0"/>
          </a:p>
        </p:txBody>
      </p:sp>
      <p:sp>
        <p:nvSpPr>
          <p:cNvPr id="47" name="Text 45"/>
          <p:cNvSpPr/>
          <p:nvPr/>
        </p:nvSpPr>
        <p:spPr>
          <a:xfrm>
            <a:off x="8321040" y="4315968"/>
            <a:ext cx="2743200" cy="65836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Bygg robotmoppens säkerhetskedja och förbered hårdvara.</a:t>
            </a:r>
            <a:endParaRPr lang="en-US" sz="1150" dirty="0"/>
          </a:p>
        </p:txBody>
      </p:sp>
      <p:sp>
        <p:nvSpPr>
          <p:cNvPr id="48" name="Text 46"/>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49" name="Text 47"/>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A34A"/>
          </a:solidFill>
          <a:ln w="12700">
            <a:solidFill>
              <a:srgbClr val="16A34A">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Labb 1–3: förstå robotens språk utan tung kod</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Vi börjar praktiskt: starta, styra, undersöka och skicka enkla kommandon.</a:t>
            </a:r>
            <a:endParaRPr lang="en-US" sz="1250" dirty="0"/>
          </a:p>
        </p:txBody>
      </p:sp>
      <p:sp>
        <p:nvSpPr>
          <p:cNvPr id="5" name="Shape 3"/>
          <p:cNvSpPr/>
          <p:nvPr/>
        </p:nvSpPr>
        <p:spPr>
          <a:xfrm>
            <a:off x="1188720" y="1828800"/>
            <a:ext cx="1554480" cy="640080"/>
          </a:xfrm>
          <a:prstGeom prst="roundRect">
            <a:avLst>
              <a:gd name="adj" fmla="val 8571"/>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6" name="Text 4"/>
          <p:cNvSpPr/>
          <p:nvPr/>
        </p:nvSpPr>
        <p:spPr>
          <a:xfrm>
            <a:off x="1252728" y="2029968"/>
            <a:ext cx="1426464" cy="237744"/>
          </a:xfrm>
          <a:prstGeom prst="rect">
            <a:avLst/>
          </a:prstGeom>
          <a:noFill/>
          <a:ln/>
        </p:spPr>
        <p:txBody>
          <a:bodyPr wrap="square" lIns="0" tIns="0" rIns="0" bIns="0" rtlCol="0" anchor="ctr"/>
          <a:lstStyle/>
          <a:p>
            <a:pPr algn="ctr" indent="0" marL="0">
              <a:buNone/>
            </a:pPr>
            <a:r>
              <a:rPr lang="en-US" sz="1300" b="1" dirty="0">
                <a:solidFill>
                  <a:srgbClr val="10233F"/>
                </a:solidFill>
              </a:rPr>
              <a:t>teleop</a:t>
            </a:r>
            <a:endParaRPr lang="en-US" sz="1300" dirty="0"/>
          </a:p>
        </p:txBody>
      </p:sp>
      <p:sp>
        <p:nvSpPr>
          <p:cNvPr id="7" name="Shape 5"/>
          <p:cNvSpPr/>
          <p:nvPr/>
        </p:nvSpPr>
        <p:spPr>
          <a:xfrm>
            <a:off x="3657600" y="1847088"/>
            <a:ext cx="1600200" cy="603504"/>
          </a:xfrm>
          <a:prstGeom prst="roundRect">
            <a:avLst>
              <a:gd name="adj" fmla="val 9091"/>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8" name="Text 6"/>
          <p:cNvSpPr/>
          <p:nvPr/>
        </p:nvSpPr>
        <p:spPr>
          <a:xfrm>
            <a:off x="3721608" y="2029968"/>
            <a:ext cx="1472184" cy="237744"/>
          </a:xfrm>
          <a:prstGeom prst="rect">
            <a:avLst/>
          </a:prstGeom>
          <a:noFill/>
          <a:ln/>
        </p:spPr>
        <p:txBody>
          <a:bodyPr wrap="square" lIns="0" tIns="0" rIns="0" bIns="0" rtlCol="0" anchor="ctr"/>
          <a:lstStyle/>
          <a:p>
            <a:pPr algn="ctr" indent="0" marL="0">
              <a:buNone/>
            </a:pPr>
            <a:r>
              <a:rPr lang="en-US" sz="1300" b="1" dirty="0">
                <a:solidFill>
                  <a:srgbClr val="10233F"/>
                </a:solidFill>
              </a:rPr>
              <a:t>/cmd_vel</a:t>
            </a:r>
            <a:endParaRPr lang="en-US" sz="1300" dirty="0"/>
          </a:p>
        </p:txBody>
      </p:sp>
      <p:sp>
        <p:nvSpPr>
          <p:cNvPr id="9" name="Shape 7"/>
          <p:cNvSpPr/>
          <p:nvPr/>
        </p:nvSpPr>
        <p:spPr>
          <a:xfrm>
            <a:off x="6217920" y="1828800"/>
            <a:ext cx="1828800" cy="640080"/>
          </a:xfrm>
          <a:prstGeom prst="roundRect">
            <a:avLst>
              <a:gd name="adj" fmla="val 8571"/>
            </a:avLst>
          </a:prstGeom>
          <a:solidFill>
            <a:srgbClr val="FEF3C7"/>
          </a:solidFill>
          <a:ln w="19050">
            <a:solidFill>
              <a:srgbClr val="F97316"/>
            </a:solidFill>
            <a:prstDash val="solid"/>
          </a:ln>
          <a:effectLst>
            <a:outerShdw sx="100000" sy="100000" kx="0" ky="0" algn="bl" rotWithShape="0" blurRad="19050" dist="12700" dir="2700000">
              <a:srgbClr val="64748B">
                <a:alpha val="12000"/>
              </a:srgbClr>
            </a:outerShdw>
          </a:effectLst>
        </p:spPr>
      </p:sp>
      <p:sp>
        <p:nvSpPr>
          <p:cNvPr id="10" name="Text 8"/>
          <p:cNvSpPr/>
          <p:nvPr/>
        </p:nvSpPr>
        <p:spPr>
          <a:xfrm>
            <a:off x="6281928" y="2029968"/>
            <a:ext cx="1700784" cy="237744"/>
          </a:xfrm>
          <a:prstGeom prst="rect">
            <a:avLst/>
          </a:prstGeom>
          <a:noFill/>
          <a:ln/>
        </p:spPr>
        <p:txBody>
          <a:bodyPr wrap="square" lIns="0" tIns="0" rIns="0" bIns="0" rtlCol="0" anchor="ctr"/>
          <a:lstStyle/>
          <a:p>
            <a:pPr algn="ctr" indent="0" marL="0">
              <a:buNone/>
            </a:pPr>
            <a:r>
              <a:rPr lang="en-US" sz="1300" b="1" dirty="0">
                <a:solidFill>
                  <a:srgbClr val="10233F"/>
                </a:solidFill>
              </a:rPr>
              <a:t>turtlesim</a:t>
            </a:r>
            <a:endParaRPr lang="en-US" sz="1300" dirty="0"/>
          </a:p>
        </p:txBody>
      </p:sp>
      <p:sp>
        <p:nvSpPr>
          <p:cNvPr id="11" name="Shape 9"/>
          <p:cNvSpPr/>
          <p:nvPr/>
        </p:nvSpPr>
        <p:spPr>
          <a:xfrm>
            <a:off x="8869680" y="1847088"/>
            <a:ext cx="1463040" cy="603504"/>
          </a:xfrm>
          <a:prstGeom prst="roundRect">
            <a:avLst>
              <a:gd name="adj" fmla="val 9091"/>
            </a:avLst>
          </a:prstGeom>
          <a:solidFill>
            <a:srgbClr val="EDE9FE"/>
          </a:solidFill>
          <a:ln w="19050">
            <a:solidFill>
              <a:srgbClr val="7C3AED"/>
            </a:solidFill>
            <a:prstDash val="solid"/>
          </a:ln>
          <a:effectLst>
            <a:outerShdw sx="100000" sy="100000" kx="0" ky="0" algn="bl" rotWithShape="0" blurRad="19050" dist="12700" dir="2700000">
              <a:srgbClr val="64748B">
                <a:alpha val="12000"/>
              </a:srgbClr>
            </a:outerShdw>
          </a:effectLst>
        </p:spPr>
      </p:sp>
      <p:sp>
        <p:nvSpPr>
          <p:cNvPr id="12" name="Text 10"/>
          <p:cNvSpPr/>
          <p:nvPr/>
        </p:nvSpPr>
        <p:spPr>
          <a:xfrm>
            <a:off x="8933688" y="2029968"/>
            <a:ext cx="1335024" cy="237744"/>
          </a:xfrm>
          <a:prstGeom prst="rect">
            <a:avLst/>
          </a:prstGeom>
          <a:noFill/>
          <a:ln/>
        </p:spPr>
        <p:txBody>
          <a:bodyPr wrap="square" lIns="0" tIns="0" rIns="0" bIns="0" rtlCol="0" anchor="ctr"/>
          <a:lstStyle/>
          <a:p>
            <a:pPr algn="ctr" indent="0" marL="0">
              <a:buNone/>
            </a:pPr>
            <a:r>
              <a:rPr lang="en-US" sz="1300" b="1" dirty="0">
                <a:solidFill>
                  <a:srgbClr val="10233F"/>
                </a:solidFill>
              </a:rPr>
              <a:t>/pose</a:t>
            </a:r>
            <a:endParaRPr lang="en-US" sz="1300" dirty="0"/>
          </a:p>
        </p:txBody>
      </p:sp>
      <p:sp>
        <p:nvSpPr>
          <p:cNvPr id="13" name="Shape 11"/>
          <p:cNvSpPr/>
          <p:nvPr/>
        </p:nvSpPr>
        <p:spPr>
          <a:xfrm>
            <a:off x="2788920" y="2148840"/>
            <a:ext cx="822960" cy="0"/>
          </a:xfrm>
          <a:prstGeom prst="line">
            <a:avLst/>
          </a:prstGeom>
          <a:noFill/>
          <a:ln w="17780">
            <a:solidFill>
              <a:srgbClr val="64748B"/>
            </a:solidFill>
            <a:prstDash val="solid"/>
            <a:headEnd type="none"/>
            <a:tailEnd type="triangle"/>
          </a:ln>
        </p:spPr>
      </p:sp>
      <p:sp>
        <p:nvSpPr>
          <p:cNvPr id="14" name="Shape 12"/>
          <p:cNvSpPr/>
          <p:nvPr/>
        </p:nvSpPr>
        <p:spPr>
          <a:xfrm>
            <a:off x="5303520" y="2148840"/>
            <a:ext cx="868680" cy="0"/>
          </a:xfrm>
          <a:prstGeom prst="line">
            <a:avLst/>
          </a:prstGeom>
          <a:noFill/>
          <a:ln w="17780">
            <a:solidFill>
              <a:srgbClr val="64748B"/>
            </a:solidFill>
            <a:prstDash val="solid"/>
            <a:headEnd type="none"/>
            <a:tailEnd type="triangle"/>
          </a:ln>
        </p:spPr>
      </p:sp>
      <p:sp>
        <p:nvSpPr>
          <p:cNvPr id="15" name="Shape 13"/>
          <p:cNvSpPr/>
          <p:nvPr/>
        </p:nvSpPr>
        <p:spPr>
          <a:xfrm>
            <a:off x="8092440" y="2148840"/>
            <a:ext cx="731520" cy="0"/>
          </a:xfrm>
          <a:prstGeom prst="line">
            <a:avLst/>
          </a:prstGeom>
          <a:noFill/>
          <a:ln w="17780">
            <a:solidFill>
              <a:srgbClr val="64748B"/>
            </a:solidFill>
            <a:prstDash val="solid"/>
            <a:headEnd type="none"/>
            <a:tailEnd type="triangle"/>
          </a:ln>
        </p:spPr>
      </p:sp>
      <p:sp>
        <p:nvSpPr>
          <p:cNvPr id="16" name="Text 14"/>
          <p:cNvSpPr/>
          <p:nvPr/>
        </p:nvSpPr>
        <p:spPr>
          <a:xfrm>
            <a:off x="1051560" y="3657600"/>
            <a:ext cx="10058400" cy="1417320"/>
          </a:xfrm>
          <a:prstGeom prst="rect">
            <a:avLst/>
          </a:prstGeom>
          <a:noFill/>
          <a:ln/>
        </p:spPr>
        <p:txBody>
          <a:bodyPr wrap="square" lIns="635" tIns="635" rIns="635" bIns="635" rtlCol="0" anchor="ctr">
            <a:normAutofit/>
          </a:bodyPr>
          <a:lstStyle/>
          <a:p>
            <a:r>
              <a:rPr lang="en-US" sz="1600" dirty="0">
                <a:solidFill>
                  <a:srgbClr val="172033"/>
                </a:solidFill>
              </a:rPr>
              <a:t>Eleven ser noder som körs.</a:t>
            </a:r>
            <a:endParaRPr lang="en-US" sz="1600" dirty="0"/>
          </a:p>
          <a:p>
            <a:r>
              <a:rPr lang="en-US" sz="1600" dirty="0">
                <a:solidFill>
                  <a:srgbClr val="172033"/>
                </a:solidFill>
              </a:rPr>
              <a:t>Eleven ser topics och meddelanden.</a:t>
            </a:r>
            <a:endParaRPr lang="en-US" sz="1600" dirty="0"/>
          </a:p>
          <a:p>
            <a:r>
              <a:rPr lang="en-US" sz="1600" dirty="0">
                <a:solidFill>
                  <a:srgbClr val="172033"/>
                </a:solidFill>
              </a:rPr>
              <a:t>Eleven skickar ett styrkommando från terminalen.</a:t>
            </a:r>
            <a:endParaRPr lang="en-US" sz="1600" dirty="0"/>
          </a:p>
          <a:p>
            <a:r>
              <a:rPr lang="en-US" sz="1600" dirty="0">
                <a:solidFill>
                  <a:srgbClr val="172033"/>
                </a:solidFill>
              </a:rPr>
              <a:t>Eleven lär sig att felsöka med ROS2-kommandon.</a:t>
            </a:r>
            <a:endParaRPr lang="en-US" sz="1600" dirty="0"/>
          </a:p>
        </p:txBody>
      </p:sp>
      <p:sp>
        <p:nvSpPr>
          <p:cNvPr id="17" name="Text 15"/>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8" name="Text 16"/>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563EB"/>
          </a:solidFill>
          <a:ln w="12700">
            <a:solidFill>
              <a:srgbClr val="2563EB">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Labb 4–6: Python kommer in när vi behöver det</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Vi lär inte Python som en separat tung kurs — vi använder den för att bygga robotnoder.</a:t>
            </a:r>
            <a:endParaRPr lang="en-US" sz="1250" dirty="0"/>
          </a:p>
        </p:txBody>
      </p:sp>
      <p:sp>
        <p:nvSpPr>
          <p:cNvPr id="5" name="Shape 3"/>
          <p:cNvSpPr/>
          <p:nvPr/>
        </p:nvSpPr>
        <p:spPr>
          <a:xfrm>
            <a:off x="777240" y="1371600"/>
            <a:ext cx="3429000" cy="3383280"/>
          </a:xfrm>
          <a:prstGeom prst="roundRect">
            <a:avLst>
              <a:gd name="adj" fmla="val 2162"/>
            </a:avLst>
          </a:prstGeom>
          <a:solidFill>
            <a:srgbClr val="DBEA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6" name="Shape 4"/>
          <p:cNvSpPr/>
          <p:nvPr/>
        </p:nvSpPr>
        <p:spPr>
          <a:xfrm>
            <a:off x="777240" y="1371600"/>
            <a:ext cx="109728" cy="3383280"/>
          </a:xfrm>
          <a:prstGeom prst="rect">
            <a:avLst/>
          </a:prstGeom>
          <a:solidFill>
            <a:srgbClr val="2563EB"/>
          </a:solidFill>
          <a:ln w="12700">
            <a:solidFill>
              <a:srgbClr val="2563EB">
                <a:alpha val="0"/>
              </a:srgbClr>
            </a:solidFill>
            <a:prstDash val="solid"/>
          </a:ln>
        </p:spPr>
      </p:sp>
      <p:sp>
        <p:nvSpPr>
          <p:cNvPr id="7" name="Text 5"/>
          <p:cNvSpPr/>
          <p:nvPr/>
        </p:nvSpPr>
        <p:spPr>
          <a:xfrm>
            <a:off x="1005840" y="1536192"/>
            <a:ext cx="3017520" cy="256032"/>
          </a:xfrm>
          <a:prstGeom prst="rect">
            <a:avLst/>
          </a:prstGeom>
          <a:noFill/>
          <a:ln/>
        </p:spPr>
        <p:txBody>
          <a:bodyPr wrap="square" lIns="0" tIns="0" rIns="0" bIns="0" rtlCol="0" anchor="ctr"/>
          <a:lstStyle/>
          <a:p>
            <a:pPr indent="0" marL="0">
              <a:buNone/>
            </a:pPr>
            <a:r>
              <a:rPr lang="en-US" sz="1450" b="1" dirty="0">
                <a:solidFill>
                  <a:srgbClr val="10233F"/>
                </a:solidFill>
              </a:rPr>
              <a:t>Labb 4: package</a:t>
            </a:r>
            <a:endParaRPr lang="en-US" sz="1450" dirty="0"/>
          </a:p>
        </p:txBody>
      </p:sp>
      <p:sp>
        <p:nvSpPr>
          <p:cNvPr id="8" name="Text 6"/>
          <p:cNvSpPr/>
          <p:nvPr/>
        </p:nvSpPr>
        <p:spPr>
          <a:xfrm>
            <a:off x="1005840" y="1892808"/>
            <a:ext cx="3017520" cy="276148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Skapa workspace och package. Eleven lär sig var ROS2-koden bor och hur den byggs.</a:t>
            </a:r>
            <a:endParaRPr lang="en-US" sz="1150" dirty="0"/>
          </a:p>
        </p:txBody>
      </p:sp>
      <p:sp>
        <p:nvSpPr>
          <p:cNvPr id="9" name="Shape 7"/>
          <p:cNvSpPr/>
          <p:nvPr/>
        </p:nvSpPr>
        <p:spPr>
          <a:xfrm>
            <a:off x="4370832" y="1371600"/>
            <a:ext cx="3429000" cy="3383280"/>
          </a:xfrm>
          <a:prstGeom prst="roundRect">
            <a:avLst>
              <a:gd name="adj" fmla="val 2162"/>
            </a:avLst>
          </a:prstGeom>
          <a:solidFill>
            <a:srgbClr val="DCFCE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0" name="Shape 8"/>
          <p:cNvSpPr/>
          <p:nvPr/>
        </p:nvSpPr>
        <p:spPr>
          <a:xfrm>
            <a:off x="4370832" y="1371600"/>
            <a:ext cx="109728" cy="3383280"/>
          </a:xfrm>
          <a:prstGeom prst="rect">
            <a:avLst/>
          </a:prstGeom>
          <a:solidFill>
            <a:srgbClr val="16A34A"/>
          </a:solidFill>
          <a:ln w="12700">
            <a:solidFill>
              <a:srgbClr val="16A34A">
                <a:alpha val="0"/>
              </a:srgbClr>
            </a:solidFill>
            <a:prstDash val="solid"/>
          </a:ln>
        </p:spPr>
      </p:sp>
      <p:sp>
        <p:nvSpPr>
          <p:cNvPr id="11" name="Text 9"/>
          <p:cNvSpPr/>
          <p:nvPr/>
        </p:nvSpPr>
        <p:spPr>
          <a:xfrm>
            <a:off x="4599432" y="1536192"/>
            <a:ext cx="3017520" cy="256032"/>
          </a:xfrm>
          <a:prstGeom prst="rect">
            <a:avLst/>
          </a:prstGeom>
          <a:noFill/>
          <a:ln/>
        </p:spPr>
        <p:txBody>
          <a:bodyPr wrap="square" lIns="0" tIns="0" rIns="0" bIns="0" rtlCol="0" anchor="ctr"/>
          <a:lstStyle/>
          <a:p>
            <a:pPr indent="0" marL="0">
              <a:buNone/>
            </a:pPr>
            <a:r>
              <a:rPr lang="en-US" sz="1450" b="1" dirty="0">
                <a:solidFill>
                  <a:srgbClr val="10233F"/>
                </a:solidFill>
              </a:rPr>
              <a:t>Labb 5: publisher</a:t>
            </a:r>
            <a:endParaRPr lang="en-US" sz="1450" dirty="0"/>
          </a:p>
        </p:txBody>
      </p:sp>
      <p:sp>
        <p:nvSpPr>
          <p:cNvPr id="12" name="Text 10"/>
          <p:cNvSpPr/>
          <p:nvPr/>
        </p:nvSpPr>
        <p:spPr>
          <a:xfrm>
            <a:off x="4599432" y="1892808"/>
            <a:ext cx="3017520" cy="276148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En Python-nod skickar rörelsekommandon. Fokus: timer, variabler och Twist.</a:t>
            </a:r>
            <a:endParaRPr lang="en-US" sz="1150" dirty="0"/>
          </a:p>
        </p:txBody>
      </p:sp>
      <p:sp>
        <p:nvSpPr>
          <p:cNvPr id="13" name="Shape 11"/>
          <p:cNvSpPr/>
          <p:nvPr/>
        </p:nvSpPr>
        <p:spPr>
          <a:xfrm>
            <a:off x="7973568" y="1371600"/>
            <a:ext cx="3429000" cy="3383280"/>
          </a:xfrm>
          <a:prstGeom prst="roundRect">
            <a:avLst>
              <a:gd name="adj" fmla="val 2162"/>
            </a:avLst>
          </a:prstGeom>
          <a:solidFill>
            <a:srgbClr val="FEF3C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4" name="Shape 12"/>
          <p:cNvSpPr/>
          <p:nvPr/>
        </p:nvSpPr>
        <p:spPr>
          <a:xfrm>
            <a:off x="7973568" y="1371600"/>
            <a:ext cx="109728" cy="3383280"/>
          </a:xfrm>
          <a:prstGeom prst="rect">
            <a:avLst/>
          </a:prstGeom>
          <a:solidFill>
            <a:srgbClr val="F97316"/>
          </a:solidFill>
          <a:ln w="12700">
            <a:solidFill>
              <a:srgbClr val="F97316">
                <a:alpha val="0"/>
              </a:srgbClr>
            </a:solidFill>
            <a:prstDash val="solid"/>
          </a:ln>
        </p:spPr>
      </p:sp>
      <p:sp>
        <p:nvSpPr>
          <p:cNvPr id="15" name="Text 13"/>
          <p:cNvSpPr/>
          <p:nvPr/>
        </p:nvSpPr>
        <p:spPr>
          <a:xfrm>
            <a:off x="8202168" y="1536192"/>
            <a:ext cx="3017520" cy="256032"/>
          </a:xfrm>
          <a:prstGeom prst="rect">
            <a:avLst/>
          </a:prstGeom>
          <a:noFill/>
          <a:ln/>
        </p:spPr>
        <p:txBody>
          <a:bodyPr wrap="square" lIns="0" tIns="0" rIns="0" bIns="0" rtlCol="0" anchor="ctr"/>
          <a:lstStyle/>
          <a:p>
            <a:pPr indent="0" marL="0">
              <a:buNone/>
            </a:pPr>
            <a:r>
              <a:rPr lang="en-US" sz="1450" b="1" dirty="0">
                <a:solidFill>
                  <a:srgbClr val="10233F"/>
                </a:solidFill>
              </a:rPr>
              <a:t>Labb 6: subscriber</a:t>
            </a:r>
            <a:endParaRPr lang="en-US" sz="1450" dirty="0"/>
          </a:p>
        </p:txBody>
      </p:sp>
      <p:sp>
        <p:nvSpPr>
          <p:cNvPr id="16" name="Text 14"/>
          <p:cNvSpPr/>
          <p:nvPr/>
        </p:nvSpPr>
        <p:spPr>
          <a:xfrm>
            <a:off x="8202168" y="1892808"/>
            <a:ext cx="3017520" cy="276148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En Python-nod läser sensorvärden och gör ett enkelt beslut med if-sats.</a:t>
            </a:r>
            <a:endParaRPr lang="en-US" sz="1150" dirty="0"/>
          </a:p>
        </p:txBody>
      </p:sp>
      <p:sp>
        <p:nvSpPr>
          <p:cNvPr id="17" name="Text 15"/>
          <p:cNvSpPr/>
          <p:nvPr/>
        </p:nvSpPr>
        <p:spPr>
          <a:xfrm>
            <a:off x="1005840" y="5486400"/>
            <a:ext cx="10058400" cy="329184"/>
          </a:xfrm>
          <a:prstGeom prst="rect">
            <a:avLst/>
          </a:prstGeom>
          <a:noFill/>
          <a:ln/>
        </p:spPr>
        <p:txBody>
          <a:bodyPr wrap="square" lIns="0" tIns="0" rIns="0" bIns="0" rtlCol="0" anchor="ctr"/>
          <a:lstStyle/>
          <a:p>
            <a:pPr algn="ctr" indent="0" marL="0">
              <a:buNone/>
            </a:pPr>
            <a:r>
              <a:rPr lang="en-US" sz="1700" b="1" dirty="0">
                <a:solidFill>
                  <a:srgbClr val="2563EB"/>
                </a:solidFill>
              </a:rPr>
              <a:t>Python används som verktyg för roboten — inte som ett stort sidospår.</a:t>
            </a:r>
            <a:endParaRPr lang="en-US" sz="1700" dirty="0"/>
          </a:p>
        </p:txBody>
      </p:sp>
      <p:sp>
        <p:nvSpPr>
          <p:cNvPr id="18" name="Text 16"/>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9" name="Text 17"/>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97316"/>
          </a:solidFill>
          <a:ln w="12700">
            <a:solidFill>
              <a:srgbClr val="F97316">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Labb 7: robotmoppens säkerhetskedja i simulator</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Nu börjar labbarna se ut som den riktiga roboten.</a:t>
            </a:r>
            <a:endParaRPr lang="en-US" sz="1250" dirty="0"/>
          </a:p>
        </p:txBody>
      </p:sp>
      <p:sp>
        <p:nvSpPr>
          <p:cNvPr id="5" name="Shape 3"/>
          <p:cNvSpPr/>
          <p:nvPr/>
        </p:nvSpPr>
        <p:spPr>
          <a:xfrm>
            <a:off x="2286000" y="2148840"/>
            <a:ext cx="1005840" cy="0"/>
          </a:xfrm>
          <a:prstGeom prst="line">
            <a:avLst/>
          </a:prstGeom>
          <a:noFill/>
          <a:ln w="17780">
            <a:solidFill>
              <a:srgbClr val="64748B"/>
            </a:solidFill>
            <a:prstDash val="solid"/>
            <a:headEnd type="none"/>
            <a:tailEnd type="triangle"/>
          </a:ln>
        </p:spPr>
      </p:sp>
      <p:sp>
        <p:nvSpPr>
          <p:cNvPr id="6" name="Shape 4"/>
          <p:cNvSpPr/>
          <p:nvPr/>
        </p:nvSpPr>
        <p:spPr>
          <a:xfrm>
            <a:off x="5806440" y="2148840"/>
            <a:ext cx="1508760" cy="0"/>
          </a:xfrm>
          <a:prstGeom prst="line">
            <a:avLst/>
          </a:prstGeom>
          <a:noFill/>
          <a:ln w="17780">
            <a:solidFill>
              <a:srgbClr val="64748B"/>
            </a:solidFill>
            <a:prstDash val="solid"/>
            <a:headEnd type="none"/>
            <a:tailEnd type="triangle"/>
          </a:ln>
        </p:spPr>
      </p:sp>
      <p:sp>
        <p:nvSpPr>
          <p:cNvPr id="7" name="Shape 5"/>
          <p:cNvSpPr/>
          <p:nvPr/>
        </p:nvSpPr>
        <p:spPr>
          <a:xfrm>
            <a:off x="5303520" y="4434840"/>
            <a:ext cx="0" cy="-1618488"/>
          </a:xfrm>
          <a:prstGeom prst="line">
            <a:avLst/>
          </a:prstGeom>
          <a:noFill/>
          <a:ln w="17780">
            <a:solidFill>
              <a:srgbClr val="64748B"/>
            </a:solidFill>
            <a:prstDash val="solid"/>
            <a:headEnd type="none"/>
            <a:tailEnd type="triangle"/>
          </a:ln>
        </p:spPr>
      </p:sp>
      <p:sp>
        <p:nvSpPr>
          <p:cNvPr id="8" name="Shape 6"/>
          <p:cNvSpPr/>
          <p:nvPr/>
        </p:nvSpPr>
        <p:spPr>
          <a:xfrm>
            <a:off x="868680" y="1783080"/>
            <a:ext cx="1417320" cy="713232"/>
          </a:xfrm>
          <a:prstGeom prst="roundRect">
            <a:avLst>
              <a:gd name="adj" fmla="val 7692"/>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9" name="Text 7"/>
          <p:cNvSpPr/>
          <p:nvPr/>
        </p:nvSpPr>
        <p:spPr>
          <a:xfrm>
            <a:off x="932688" y="2020824"/>
            <a:ext cx="1289304" cy="237744"/>
          </a:xfrm>
          <a:prstGeom prst="rect">
            <a:avLst/>
          </a:prstGeom>
          <a:noFill/>
          <a:ln/>
        </p:spPr>
        <p:txBody>
          <a:bodyPr wrap="square" lIns="0" tIns="0" rIns="0" bIns="0" rtlCol="0" anchor="ctr"/>
          <a:lstStyle/>
          <a:p>
            <a:pPr algn="ctr" indent="0" marL="0">
              <a:buNone/>
            </a:pPr>
            <a:r>
              <a:rPr lang="en-US" sz="1300" b="1" dirty="0">
                <a:solidFill>
                  <a:srgbClr val="10233F"/>
                </a:solidFill>
              </a:rPr>
              <a:t>styrning</a:t>
            </a:r>
            <a:endParaRPr lang="en-US" sz="1300" dirty="0"/>
          </a:p>
        </p:txBody>
      </p:sp>
      <p:sp>
        <p:nvSpPr>
          <p:cNvPr id="10" name="Shape 8"/>
          <p:cNvSpPr/>
          <p:nvPr/>
        </p:nvSpPr>
        <p:spPr>
          <a:xfrm>
            <a:off x="2606040" y="1865376"/>
            <a:ext cx="1554480" cy="530352"/>
          </a:xfrm>
          <a:prstGeom prst="roundRect">
            <a:avLst>
              <a:gd name="adj" fmla="val 10345"/>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11" name="Text 9"/>
          <p:cNvSpPr/>
          <p:nvPr/>
        </p:nvSpPr>
        <p:spPr>
          <a:xfrm>
            <a:off x="2670048" y="2011680"/>
            <a:ext cx="1426464" cy="237744"/>
          </a:xfrm>
          <a:prstGeom prst="rect">
            <a:avLst/>
          </a:prstGeom>
          <a:noFill/>
          <a:ln/>
        </p:spPr>
        <p:txBody>
          <a:bodyPr wrap="square" lIns="0" tIns="0" rIns="0" bIns="0" rtlCol="0" anchor="ctr"/>
          <a:lstStyle/>
          <a:p>
            <a:pPr algn="ctr" indent="0" marL="0">
              <a:buNone/>
            </a:pPr>
            <a:r>
              <a:rPr lang="en-US" sz="1150" b="1" dirty="0">
                <a:solidFill>
                  <a:srgbClr val="10233F"/>
                </a:solidFill>
              </a:rPr>
              <a:t>/cmd_vel_raw</a:t>
            </a:r>
            <a:endParaRPr lang="en-US" sz="1150" dirty="0"/>
          </a:p>
        </p:txBody>
      </p:sp>
      <p:sp>
        <p:nvSpPr>
          <p:cNvPr id="12" name="Shape 10"/>
          <p:cNvSpPr/>
          <p:nvPr/>
        </p:nvSpPr>
        <p:spPr>
          <a:xfrm>
            <a:off x="4434840" y="1700784"/>
            <a:ext cx="1737360" cy="868680"/>
          </a:xfrm>
          <a:prstGeom prst="roundRect">
            <a:avLst>
              <a:gd name="adj" fmla="val 6316"/>
            </a:avLst>
          </a:prstGeom>
          <a:solidFill>
            <a:srgbClr val="FEF3C7"/>
          </a:solidFill>
          <a:ln w="19050">
            <a:solidFill>
              <a:srgbClr val="F97316"/>
            </a:solidFill>
            <a:prstDash val="solid"/>
          </a:ln>
          <a:effectLst>
            <a:outerShdw sx="100000" sy="100000" kx="0" ky="0" algn="bl" rotWithShape="0" blurRad="19050" dist="12700" dir="2700000">
              <a:srgbClr val="64748B">
                <a:alpha val="12000"/>
              </a:srgbClr>
            </a:outerShdw>
          </a:effectLst>
        </p:spPr>
      </p:sp>
      <p:sp>
        <p:nvSpPr>
          <p:cNvPr id="13" name="Text 11"/>
          <p:cNvSpPr/>
          <p:nvPr/>
        </p:nvSpPr>
        <p:spPr>
          <a:xfrm>
            <a:off x="4498848" y="2016252"/>
            <a:ext cx="1609344" cy="237744"/>
          </a:xfrm>
          <a:prstGeom prst="rect">
            <a:avLst/>
          </a:prstGeom>
          <a:noFill/>
          <a:ln/>
        </p:spPr>
        <p:txBody>
          <a:bodyPr wrap="square" lIns="0" tIns="0" rIns="0" bIns="0" rtlCol="0" anchor="ctr"/>
          <a:lstStyle/>
          <a:p>
            <a:pPr algn="ctr" indent="0" marL="0">
              <a:buNone/>
            </a:pPr>
            <a:r>
              <a:rPr lang="en-US" sz="1300" b="1" dirty="0">
                <a:solidFill>
                  <a:srgbClr val="10233F"/>
                </a:solidFill>
              </a:rPr>
              <a:t>safety_node</a:t>
            </a:r>
            <a:endParaRPr lang="en-US" sz="1300" dirty="0"/>
          </a:p>
        </p:txBody>
      </p:sp>
      <p:sp>
        <p:nvSpPr>
          <p:cNvPr id="14" name="Shape 12"/>
          <p:cNvSpPr/>
          <p:nvPr/>
        </p:nvSpPr>
        <p:spPr>
          <a:xfrm>
            <a:off x="6473952" y="1865376"/>
            <a:ext cx="1371600" cy="530352"/>
          </a:xfrm>
          <a:prstGeom prst="roundRect">
            <a:avLst>
              <a:gd name="adj" fmla="val 10345"/>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15" name="Text 13"/>
          <p:cNvSpPr/>
          <p:nvPr/>
        </p:nvSpPr>
        <p:spPr>
          <a:xfrm>
            <a:off x="6537960" y="2011680"/>
            <a:ext cx="1243584" cy="237744"/>
          </a:xfrm>
          <a:prstGeom prst="rect">
            <a:avLst/>
          </a:prstGeom>
          <a:noFill/>
          <a:ln/>
        </p:spPr>
        <p:txBody>
          <a:bodyPr wrap="square" lIns="0" tIns="0" rIns="0" bIns="0" rtlCol="0" anchor="ctr"/>
          <a:lstStyle/>
          <a:p>
            <a:pPr algn="ctr" indent="0" marL="0">
              <a:buNone/>
            </a:pPr>
            <a:r>
              <a:rPr lang="en-US" sz="1150" b="1" dirty="0">
                <a:solidFill>
                  <a:srgbClr val="10233F"/>
                </a:solidFill>
              </a:rPr>
              <a:t>/cmd_vel</a:t>
            </a:r>
            <a:endParaRPr lang="en-US" sz="1150" dirty="0"/>
          </a:p>
        </p:txBody>
      </p:sp>
      <p:sp>
        <p:nvSpPr>
          <p:cNvPr id="16" name="Shape 14"/>
          <p:cNvSpPr/>
          <p:nvPr/>
        </p:nvSpPr>
        <p:spPr>
          <a:xfrm>
            <a:off x="8211312" y="1783080"/>
            <a:ext cx="1645920" cy="713232"/>
          </a:xfrm>
          <a:prstGeom prst="roundRect">
            <a:avLst>
              <a:gd name="adj" fmla="val 7692"/>
            </a:avLst>
          </a:prstGeom>
          <a:solidFill>
            <a:srgbClr val="EDE9FE"/>
          </a:solidFill>
          <a:ln w="19050">
            <a:solidFill>
              <a:srgbClr val="7C3AED"/>
            </a:solidFill>
            <a:prstDash val="solid"/>
          </a:ln>
          <a:effectLst>
            <a:outerShdw sx="100000" sy="100000" kx="0" ky="0" algn="bl" rotWithShape="0" blurRad="19050" dist="12700" dir="2700000">
              <a:srgbClr val="64748B">
                <a:alpha val="12000"/>
              </a:srgbClr>
            </a:outerShdw>
          </a:effectLst>
        </p:spPr>
      </p:sp>
      <p:sp>
        <p:nvSpPr>
          <p:cNvPr id="17" name="Text 15"/>
          <p:cNvSpPr/>
          <p:nvPr/>
        </p:nvSpPr>
        <p:spPr>
          <a:xfrm>
            <a:off x="8275320" y="2020824"/>
            <a:ext cx="1517904" cy="237744"/>
          </a:xfrm>
          <a:prstGeom prst="rect">
            <a:avLst/>
          </a:prstGeom>
          <a:noFill/>
          <a:ln/>
        </p:spPr>
        <p:txBody>
          <a:bodyPr wrap="square" lIns="0" tIns="0" rIns="0" bIns="0" rtlCol="0" anchor="ctr"/>
          <a:lstStyle/>
          <a:p>
            <a:pPr algn="ctr" indent="0" marL="0">
              <a:buNone/>
            </a:pPr>
            <a:r>
              <a:rPr lang="en-US" sz="1300" b="1" dirty="0">
                <a:solidFill>
                  <a:srgbClr val="10233F"/>
                </a:solidFill>
              </a:rPr>
              <a:t>turtlesim</a:t>
            </a:r>
            <a:endParaRPr lang="en-US" sz="1300" dirty="0"/>
          </a:p>
        </p:txBody>
      </p:sp>
      <p:sp>
        <p:nvSpPr>
          <p:cNvPr id="18" name="Shape 16"/>
          <p:cNvSpPr/>
          <p:nvPr/>
        </p:nvSpPr>
        <p:spPr>
          <a:xfrm>
            <a:off x="4434840" y="4480560"/>
            <a:ext cx="1737360" cy="713232"/>
          </a:xfrm>
          <a:prstGeom prst="roundRect">
            <a:avLst>
              <a:gd name="adj" fmla="val 7692"/>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19" name="Text 17"/>
          <p:cNvSpPr/>
          <p:nvPr/>
        </p:nvSpPr>
        <p:spPr>
          <a:xfrm>
            <a:off x="4498848" y="4718304"/>
            <a:ext cx="1609344" cy="237744"/>
          </a:xfrm>
          <a:prstGeom prst="rect">
            <a:avLst/>
          </a:prstGeom>
          <a:noFill/>
          <a:ln/>
        </p:spPr>
        <p:txBody>
          <a:bodyPr wrap="square" lIns="0" tIns="0" rIns="0" bIns="0" rtlCol="0" anchor="ctr"/>
          <a:lstStyle/>
          <a:p>
            <a:pPr algn="ctr" indent="0" marL="0">
              <a:buNone/>
            </a:pPr>
            <a:r>
              <a:rPr lang="en-US" sz="1200" b="1" dirty="0">
                <a:solidFill>
                  <a:srgbClr val="10233F"/>
                </a:solidFill>
              </a:rPr>
              <a:t>virtuell sensor</a:t>
            </a:r>
            <a:endParaRPr lang="en-US" sz="1200" dirty="0"/>
          </a:p>
        </p:txBody>
      </p:sp>
      <p:sp>
        <p:nvSpPr>
          <p:cNvPr id="20" name="Text 18"/>
          <p:cNvSpPr/>
          <p:nvPr/>
        </p:nvSpPr>
        <p:spPr>
          <a:xfrm>
            <a:off x="1143000" y="5440680"/>
            <a:ext cx="9875520" cy="329184"/>
          </a:xfrm>
          <a:prstGeom prst="rect">
            <a:avLst/>
          </a:prstGeom>
          <a:noFill/>
          <a:ln/>
        </p:spPr>
        <p:txBody>
          <a:bodyPr wrap="square" lIns="0" tIns="0" rIns="0" bIns="0" rtlCol="0" anchor="ctr"/>
          <a:lstStyle/>
          <a:p>
            <a:pPr algn="ctr" indent="0" marL="0">
              <a:buNone/>
            </a:pPr>
            <a:r>
              <a:rPr lang="en-US" sz="1700" b="1" dirty="0">
                <a:solidFill>
                  <a:srgbClr val="F97316"/>
                </a:solidFill>
              </a:rPr>
              <a:t>Safety Node släpper igenom körkommandot bara när det är säkert.</a:t>
            </a:r>
            <a:endParaRPr lang="en-US" sz="1700" dirty="0"/>
          </a:p>
        </p:txBody>
      </p:sp>
      <p:sp>
        <p:nvSpPr>
          <p:cNvPr id="21" name="Text 19"/>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22" name="Text 20"/>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Labb 8: från simulator till robotmopp</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Vi byter ut simulatorns delar mot riktiga delar — men behåller samma gränssnitt.</a:t>
            </a:r>
            <a:endParaRPr lang="en-US" sz="1250" dirty="0"/>
          </a:p>
        </p:txBody>
      </p:sp>
      <p:sp>
        <p:nvSpPr>
          <p:cNvPr id="5" name="Text 3"/>
          <p:cNvSpPr/>
          <p:nvPr/>
        </p:nvSpPr>
        <p:spPr>
          <a:xfrm>
            <a:off x="1097280" y="1417320"/>
            <a:ext cx="4023360" cy="320040"/>
          </a:xfrm>
          <a:prstGeom prst="rect">
            <a:avLst/>
          </a:prstGeom>
          <a:noFill/>
          <a:ln/>
        </p:spPr>
        <p:txBody>
          <a:bodyPr wrap="square" lIns="0" tIns="0" rIns="0" bIns="0" rtlCol="0" anchor="ctr"/>
          <a:lstStyle/>
          <a:p>
            <a:pPr algn="ctr" indent="0" marL="0">
              <a:buNone/>
            </a:pPr>
            <a:r>
              <a:rPr lang="en-US" sz="1800" b="1" dirty="0">
                <a:solidFill>
                  <a:srgbClr val="10233F"/>
                </a:solidFill>
              </a:rPr>
              <a:t>I simulatorn</a:t>
            </a:r>
            <a:endParaRPr lang="en-US" sz="1800" dirty="0"/>
          </a:p>
        </p:txBody>
      </p:sp>
      <p:sp>
        <p:nvSpPr>
          <p:cNvPr id="6" name="Shape 4"/>
          <p:cNvSpPr/>
          <p:nvPr/>
        </p:nvSpPr>
        <p:spPr>
          <a:xfrm>
            <a:off x="1554480" y="2148840"/>
            <a:ext cx="2103120" cy="594360"/>
          </a:xfrm>
          <a:prstGeom prst="roundRect">
            <a:avLst>
              <a:gd name="adj" fmla="val 9231"/>
            </a:avLst>
          </a:prstGeom>
          <a:solidFill>
            <a:srgbClr val="EDE9FE"/>
          </a:solidFill>
          <a:ln w="19050">
            <a:solidFill>
              <a:srgbClr val="7C3AED"/>
            </a:solidFill>
            <a:prstDash val="solid"/>
          </a:ln>
          <a:effectLst>
            <a:outerShdw sx="100000" sy="100000" kx="0" ky="0" algn="bl" rotWithShape="0" blurRad="19050" dist="12700" dir="2700000">
              <a:srgbClr val="64748B">
                <a:alpha val="12000"/>
              </a:srgbClr>
            </a:outerShdw>
          </a:effectLst>
        </p:spPr>
      </p:sp>
      <p:sp>
        <p:nvSpPr>
          <p:cNvPr id="7" name="Text 5"/>
          <p:cNvSpPr/>
          <p:nvPr/>
        </p:nvSpPr>
        <p:spPr>
          <a:xfrm>
            <a:off x="1618488" y="2327148"/>
            <a:ext cx="1975104" cy="237744"/>
          </a:xfrm>
          <a:prstGeom prst="rect">
            <a:avLst/>
          </a:prstGeom>
          <a:noFill/>
          <a:ln/>
        </p:spPr>
        <p:txBody>
          <a:bodyPr wrap="square" lIns="0" tIns="0" rIns="0" bIns="0" rtlCol="0" anchor="ctr"/>
          <a:lstStyle/>
          <a:p>
            <a:pPr algn="ctr" indent="0" marL="0">
              <a:buNone/>
            </a:pPr>
            <a:r>
              <a:rPr lang="en-US" sz="1300" b="1" dirty="0">
                <a:solidFill>
                  <a:srgbClr val="10233F"/>
                </a:solidFill>
              </a:rPr>
              <a:t>/turtle1/pose</a:t>
            </a:r>
            <a:endParaRPr lang="en-US" sz="1300" dirty="0"/>
          </a:p>
        </p:txBody>
      </p:sp>
      <p:sp>
        <p:nvSpPr>
          <p:cNvPr id="8" name="Shape 6"/>
          <p:cNvSpPr/>
          <p:nvPr/>
        </p:nvSpPr>
        <p:spPr>
          <a:xfrm>
            <a:off x="1417320" y="3154680"/>
            <a:ext cx="2377440" cy="594360"/>
          </a:xfrm>
          <a:prstGeom prst="roundRect">
            <a:avLst>
              <a:gd name="adj" fmla="val 9231"/>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9" name="Text 7"/>
          <p:cNvSpPr/>
          <p:nvPr/>
        </p:nvSpPr>
        <p:spPr>
          <a:xfrm>
            <a:off x="1481328" y="3332988"/>
            <a:ext cx="2249424" cy="237744"/>
          </a:xfrm>
          <a:prstGeom prst="rect">
            <a:avLst/>
          </a:prstGeom>
          <a:noFill/>
          <a:ln/>
        </p:spPr>
        <p:txBody>
          <a:bodyPr wrap="square" lIns="0" tIns="0" rIns="0" bIns="0" rtlCol="0" anchor="ctr"/>
          <a:lstStyle/>
          <a:p>
            <a:pPr algn="ctr" indent="0" marL="0">
              <a:buNone/>
            </a:pPr>
            <a:r>
              <a:rPr lang="en-US" sz="1300" b="1" dirty="0">
                <a:solidFill>
                  <a:srgbClr val="10233F"/>
                </a:solidFill>
              </a:rPr>
              <a:t>virtuell sensor</a:t>
            </a:r>
            <a:endParaRPr lang="en-US" sz="1300" dirty="0"/>
          </a:p>
        </p:txBody>
      </p:sp>
      <p:sp>
        <p:nvSpPr>
          <p:cNvPr id="10" name="Shape 8"/>
          <p:cNvSpPr/>
          <p:nvPr/>
        </p:nvSpPr>
        <p:spPr>
          <a:xfrm>
            <a:off x="2606040" y="2761488"/>
            <a:ext cx="0" cy="365760"/>
          </a:xfrm>
          <a:prstGeom prst="line">
            <a:avLst/>
          </a:prstGeom>
          <a:noFill/>
          <a:ln w="17780">
            <a:solidFill>
              <a:srgbClr val="64748B"/>
            </a:solidFill>
            <a:prstDash val="solid"/>
            <a:headEnd type="none"/>
            <a:tailEnd type="triangle"/>
          </a:ln>
        </p:spPr>
      </p:sp>
      <p:sp>
        <p:nvSpPr>
          <p:cNvPr id="11" name="Text 9"/>
          <p:cNvSpPr/>
          <p:nvPr/>
        </p:nvSpPr>
        <p:spPr>
          <a:xfrm>
            <a:off x="6720840" y="1417320"/>
            <a:ext cx="4023360" cy="320040"/>
          </a:xfrm>
          <a:prstGeom prst="rect">
            <a:avLst/>
          </a:prstGeom>
          <a:noFill/>
          <a:ln/>
        </p:spPr>
        <p:txBody>
          <a:bodyPr wrap="square" lIns="0" tIns="0" rIns="0" bIns="0" rtlCol="0" anchor="ctr"/>
          <a:lstStyle/>
          <a:p>
            <a:pPr algn="ctr" indent="0" marL="0">
              <a:buNone/>
            </a:pPr>
            <a:r>
              <a:rPr lang="en-US" sz="1800" b="1" dirty="0">
                <a:solidFill>
                  <a:srgbClr val="10233F"/>
                </a:solidFill>
              </a:rPr>
              <a:t>På robotmoppen</a:t>
            </a:r>
            <a:endParaRPr lang="en-US" sz="1800" dirty="0"/>
          </a:p>
        </p:txBody>
      </p:sp>
      <p:sp>
        <p:nvSpPr>
          <p:cNvPr id="12" name="Shape 10"/>
          <p:cNvSpPr/>
          <p:nvPr/>
        </p:nvSpPr>
        <p:spPr>
          <a:xfrm>
            <a:off x="7315200" y="2148840"/>
            <a:ext cx="2103120" cy="594360"/>
          </a:xfrm>
          <a:prstGeom prst="roundRect">
            <a:avLst>
              <a:gd name="adj" fmla="val 9231"/>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13" name="Text 11"/>
          <p:cNvSpPr/>
          <p:nvPr/>
        </p:nvSpPr>
        <p:spPr>
          <a:xfrm>
            <a:off x="7379208" y="2327148"/>
            <a:ext cx="1975104" cy="237744"/>
          </a:xfrm>
          <a:prstGeom prst="rect">
            <a:avLst/>
          </a:prstGeom>
          <a:noFill/>
          <a:ln/>
        </p:spPr>
        <p:txBody>
          <a:bodyPr wrap="square" lIns="0" tIns="0" rIns="0" bIns="0" rtlCol="0" anchor="ctr"/>
          <a:lstStyle/>
          <a:p>
            <a:pPr algn="ctr" indent="0" marL="0">
              <a:buNone/>
            </a:pPr>
            <a:r>
              <a:rPr lang="en-US" sz="1300" b="1" dirty="0">
                <a:solidFill>
                  <a:srgbClr val="10233F"/>
                </a:solidFill>
              </a:rPr>
              <a:t>riktig sensor</a:t>
            </a:r>
            <a:endParaRPr lang="en-US" sz="1300" dirty="0"/>
          </a:p>
        </p:txBody>
      </p:sp>
      <p:sp>
        <p:nvSpPr>
          <p:cNvPr id="14" name="Shape 12"/>
          <p:cNvSpPr/>
          <p:nvPr/>
        </p:nvSpPr>
        <p:spPr>
          <a:xfrm>
            <a:off x="7178040" y="3154680"/>
            <a:ext cx="2377440" cy="594360"/>
          </a:xfrm>
          <a:prstGeom prst="roundRect">
            <a:avLst>
              <a:gd name="adj" fmla="val 9231"/>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15" name="Text 13"/>
          <p:cNvSpPr/>
          <p:nvPr/>
        </p:nvSpPr>
        <p:spPr>
          <a:xfrm>
            <a:off x="7242048" y="3332988"/>
            <a:ext cx="2249424" cy="237744"/>
          </a:xfrm>
          <a:prstGeom prst="rect">
            <a:avLst/>
          </a:prstGeom>
          <a:noFill/>
          <a:ln/>
        </p:spPr>
        <p:txBody>
          <a:bodyPr wrap="square" lIns="0" tIns="0" rIns="0" bIns="0" rtlCol="0" anchor="ctr"/>
          <a:lstStyle/>
          <a:p>
            <a:pPr algn="ctr" indent="0" marL="0">
              <a:buNone/>
            </a:pPr>
            <a:r>
              <a:rPr lang="en-US" sz="1300" b="1" dirty="0">
                <a:solidFill>
                  <a:srgbClr val="10233F"/>
                </a:solidFill>
              </a:rPr>
              <a:t>sensor_node</a:t>
            </a:r>
            <a:endParaRPr lang="en-US" sz="1300" dirty="0"/>
          </a:p>
        </p:txBody>
      </p:sp>
      <p:sp>
        <p:nvSpPr>
          <p:cNvPr id="16" name="Shape 14"/>
          <p:cNvSpPr/>
          <p:nvPr/>
        </p:nvSpPr>
        <p:spPr>
          <a:xfrm>
            <a:off x="8366760" y="2761488"/>
            <a:ext cx="0" cy="365760"/>
          </a:xfrm>
          <a:prstGeom prst="line">
            <a:avLst/>
          </a:prstGeom>
          <a:noFill/>
          <a:ln w="17780">
            <a:solidFill>
              <a:srgbClr val="64748B"/>
            </a:solidFill>
            <a:prstDash val="solid"/>
            <a:headEnd type="none"/>
            <a:tailEnd type="triangle"/>
          </a:ln>
        </p:spPr>
      </p:sp>
      <p:sp>
        <p:nvSpPr>
          <p:cNvPr id="17" name="Shape 15"/>
          <p:cNvSpPr/>
          <p:nvPr/>
        </p:nvSpPr>
        <p:spPr>
          <a:xfrm>
            <a:off x="4251960" y="4709160"/>
            <a:ext cx="3291840" cy="640080"/>
          </a:xfrm>
          <a:prstGeom prst="roundRect">
            <a:avLst>
              <a:gd name="adj" fmla="val 8571"/>
            </a:avLst>
          </a:prstGeom>
          <a:solidFill>
            <a:srgbClr val="FEF3C7"/>
          </a:solidFill>
          <a:ln w="19050">
            <a:solidFill>
              <a:srgbClr val="F97316"/>
            </a:solidFill>
            <a:prstDash val="solid"/>
          </a:ln>
          <a:effectLst>
            <a:outerShdw sx="100000" sy="100000" kx="0" ky="0" algn="bl" rotWithShape="0" blurRad="19050" dist="12700" dir="2700000">
              <a:srgbClr val="64748B">
                <a:alpha val="12000"/>
              </a:srgbClr>
            </a:outerShdw>
          </a:effectLst>
        </p:spPr>
      </p:sp>
      <p:sp>
        <p:nvSpPr>
          <p:cNvPr id="18" name="Text 16"/>
          <p:cNvSpPr/>
          <p:nvPr/>
        </p:nvSpPr>
        <p:spPr>
          <a:xfrm>
            <a:off x="4315968" y="4910328"/>
            <a:ext cx="3163824" cy="237744"/>
          </a:xfrm>
          <a:prstGeom prst="rect">
            <a:avLst/>
          </a:prstGeom>
          <a:noFill/>
          <a:ln/>
        </p:spPr>
        <p:txBody>
          <a:bodyPr wrap="square" lIns="0" tIns="0" rIns="0" bIns="0" rtlCol="0" anchor="ctr"/>
          <a:lstStyle/>
          <a:p>
            <a:pPr algn="ctr" indent="0" marL="0">
              <a:buNone/>
            </a:pPr>
            <a:r>
              <a:rPr lang="en-US" sz="1250" b="1" dirty="0">
                <a:solidFill>
                  <a:srgbClr val="10233F"/>
                </a:solidFill>
              </a:rPr>
              <a:t>/robotmopp/safety_stop</a:t>
            </a:r>
            <a:endParaRPr lang="en-US" sz="1250" dirty="0"/>
          </a:p>
        </p:txBody>
      </p:sp>
      <p:sp>
        <p:nvSpPr>
          <p:cNvPr id="19" name="Shape 17"/>
          <p:cNvSpPr/>
          <p:nvPr/>
        </p:nvSpPr>
        <p:spPr>
          <a:xfrm>
            <a:off x="2606040" y="3767328"/>
            <a:ext cx="2057400" cy="923544"/>
          </a:xfrm>
          <a:prstGeom prst="line">
            <a:avLst/>
          </a:prstGeom>
          <a:noFill/>
          <a:ln w="17780">
            <a:solidFill>
              <a:srgbClr val="64748B"/>
            </a:solidFill>
            <a:prstDash val="solid"/>
            <a:headEnd type="none"/>
            <a:tailEnd type="triangle"/>
          </a:ln>
        </p:spPr>
      </p:sp>
      <p:sp>
        <p:nvSpPr>
          <p:cNvPr id="20" name="Shape 18"/>
          <p:cNvSpPr/>
          <p:nvPr/>
        </p:nvSpPr>
        <p:spPr>
          <a:xfrm>
            <a:off x="8366760" y="3767328"/>
            <a:ext cx="-1188720" cy="923544"/>
          </a:xfrm>
          <a:prstGeom prst="line">
            <a:avLst/>
          </a:prstGeom>
          <a:noFill/>
          <a:ln w="17780">
            <a:solidFill>
              <a:srgbClr val="64748B"/>
            </a:solidFill>
            <a:prstDash val="solid"/>
            <a:headEnd type="none"/>
            <a:tailEnd type="triangle"/>
          </a:ln>
        </p:spPr>
      </p:sp>
      <p:sp>
        <p:nvSpPr>
          <p:cNvPr id="21" name="Text 19"/>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22" name="Text 20"/>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563EB"/>
          </a:solidFill>
          <a:ln w="12700">
            <a:solidFill>
              <a:srgbClr val="2563EB">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Hur simulerar vi utan att göra det för svårt?</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Vi simulerar kommunikationen och säkerhetslogiken — inte hela fysiken.</a:t>
            </a:r>
            <a:endParaRPr lang="en-US" sz="1250" dirty="0"/>
          </a:p>
        </p:txBody>
      </p:sp>
      <p:sp>
        <p:nvSpPr>
          <p:cNvPr id="5" name="Text 3"/>
          <p:cNvSpPr/>
          <p:nvPr/>
        </p:nvSpPr>
        <p:spPr>
          <a:xfrm>
            <a:off x="868680" y="1417320"/>
            <a:ext cx="5257800" cy="3566160"/>
          </a:xfrm>
          <a:prstGeom prst="rect">
            <a:avLst/>
          </a:prstGeom>
          <a:noFill/>
          <a:ln/>
        </p:spPr>
        <p:txBody>
          <a:bodyPr wrap="square" lIns="635" tIns="635" rIns="635" bIns="635" rtlCol="0" anchor="ctr">
            <a:normAutofit/>
          </a:bodyPr>
          <a:lstStyle/>
          <a:p>
            <a:r>
              <a:rPr lang="en-US" sz="1700" dirty="0">
                <a:solidFill>
                  <a:srgbClr val="172033"/>
                </a:solidFill>
              </a:rPr>
              <a:t>Turtlesim får representera robotmoppen.</a:t>
            </a:r>
            <a:endParaRPr lang="en-US" sz="1700" dirty="0"/>
          </a:p>
          <a:p>
            <a:r>
              <a:rPr lang="en-US" sz="1700" dirty="0">
                <a:solidFill>
                  <a:srgbClr val="172033"/>
                </a:solidFill>
              </a:rPr>
              <a:t>En virtuell sensor säger “risk” eller “säkert”.</a:t>
            </a:r>
            <a:endParaRPr lang="en-US" sz="1700" dirty="0"/>
          </a:p>
          <a:p>
            <a:r>
              <a:rPr lang="en-US" sz="1700" dirty="0">
                <a:solidFill>
                  <a:srgbClr val="172033"/>
                </a:solidFill>
              </a:rPr>
              <a:t>Safety Node stoppar farliga kommandon.</a:t>
            </a:r>
            <a:endParaRPr lang="en-US" sz="1700" dirty="0"/>
          </a:p>
          <a:p>
            <a:r>
              <a:rPr lang="en-US" sz="1700" dirty="0">
                <a:solidFill>
                  <a:srgbClr val="172033"/>
                </a:solidFill>
              </a:rPr>
              <a:t>När hårdvaran är klar byts den virtuella sensorn mot en riktig sensor.</a:t>
            </a:r>
            <a:endParaRPr lang="en-US" sz="1700" dirty="0"/>
          </a:p>
        </p:txBody>
      </p:sp>
      <p:sp>
        <p:nvSpPr>
          <p:cNvPr id="6" name="Shape 4"/>
          <p:cNvSpPr/>
          <p:nvPr/>
        </p:nvSpPr>
        <p:spPr>
          <a:xfrm>
            <a:off x="6675120" y="1508760"/>
            <a:ext cx="4297680" cy="3337560"/>
          </a:xfrm>
          <a:prstGeom prst="roundRect">
            <a:avLst>
              <a:gd name="adj" fmla="val 2192"/>
            </a:avLst>
          </a:prstGeom>
          <a:solidFill>
            <a:srgbClr val="DBEA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7" name="Shape 5"/>
          <p:cNvSpPr/>
          <p:nvPr/>
        </p:nvSpPr>
        <p:spPr>
          <a:xfrm>
            <a:off x="6675120" y="1508760"/>
            <a:ext cx="109728" cy="3337560"/>
          </a:xfrm>
          <a:prstGeom prst="rect">
            <a:avLst/>
          </a:prstGeom>
          <a:solidFill>
            <a:srgbClr val="2563EB"/>
          </a:solidFill>
          <a:ln w="12700">
            <a:solidFill>
              <a:srgbClr val="2563EB">
                <a:alpha val="0"/>
              </a:srgbClr>
            </a:solidFill>
            <a:prstDash val="solid"/>
          </a:ln>
        </p:spPr>
      </p:sp>
      <p:sp>
        <p:nvSpPr>
          <p:cNvPr id="8" name="Text 6"/>
          <p:cNvSpPr/>
          <p:nvPr/>
        </p:nvSpPr>
        <p:spPr>
          <a:xfrm>
            <a:off x="6903720" y="1673352"/>
            <a:ext cx="3886200" cy="256032"/>
          </a:xfrm>
          <a:prstGeom prst="rect">
            <a:avLst/>
          </a:prstGeom>
          <a:noFill/>
          <a:ln/>
        </p:spPr>
        <p:txBody>
          <a:bodyPr wrap="square" lIns="0" tIns="0" rIns="0" bIns="0" rtlCol="0" anchor="ctr"/>
          <a:lstStyle/>
          <a:p>
            <a:pPr indent="0" marL="0">
              <a:buNone/>
            </a:pPr>
            <a:r>
              <a:rPr lang="en-US" sz="1450" b="1" dirty="0">
                <a:solidFill>
                  <a:srgbClr val="10233F"/>
                </a:solidFill>
              </a:rPr>
              <a:t>Vi simulerar inte allt</a:t>
            </a:r>
            <a:endParaRPr lang="en-US" sz="1450" dirty="0"/>
          </a:p>
        </p:txBody>
      </p:sp>
      <p:sp>
        <p:nvSpPr>
          <p:cNvPr id="9" name="Text 7"/>
          <p:cNvSpPr/>
          <p:nvPr/>
        </p:nvSpPr>
        <p:spPr>
          <a:xfrm>
            <a:off x="6903720" y="2029968"/>
            <a:ext cx="3886200" cy="271576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Vi simulerar inte friktion, batteri, hjulslirning eller ett helt rum. Det hade gjort projektet onödigt tungt. Vi fokuserar på systemkedjan.</a:t>
            </a:r>
            <a:endParaRPr lang="en-US" sz="1150" dirty="0"/>
          </a:p>
        </p:txBody>
      </p:sp>
      <p:sp>
        <p:nvSpPr>
          <p:cNvPr id="10" name="Text 8"/>
          <p:cNvSpPr/>
          <p:nvPr/>
        </p:nvSpPr>
        <p:spPr>
          <a:xfrm>
            <a:off x="1920240" y="5486400"/>
            <a:ext cx="8412480" cy="329184"/>
          </a:xfrm>
          <a:prstGeom prst="rect">
            <a:avLst/>
          </a:prstGeom>
          <a:noFill/>
          <a:ln/>
        </p:spPr>
        <p:txBody>
          <a:bodyPr wrap="square" lIns="0" tIns="0" rIns="0" bIns="0" rtlCol="0" anchor="ctr"/>
          <a:lstStyle/>
          <a:p>
            <a:pPr algn="ctr" indent="0" marL="0">
              <a:buNone/>
            </a:pPr>
            <a:r>
              <a:rPr lang="en-US" sz="2200" b="1" dirty="0">
                <a:solidFill>
                  <a:srgbClr val="2563EB"/>
                </a:solidFill>
              </a:rPr>
              <a:t>styrning → sensor → säkerhet → motor</a:t>
            </a:r>
            <a:endParaRPr lang="en-US" sz="2200" dirty="0"/>
          </a:p>
        </p:txBody>
      </p:sp>
      <p:sp>
        <p:nvSpPr>
          <p:cNvPr id="11" name="Text 9"/>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2" name="Text 10"/>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A34A"/>
          </a:solidFill>
          <a:ln w="12700">
            <a:solidFill>
              <a:srgbClr val="16A34A">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Det här ska eleverna kunna säga efter labbarna</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Bedömningen handlar inte om mest kod — utan om förståelse, test och förklaring.</a:t>
            </a:r>
            <a:endParaRPr lang="en-US" sz="1250" dirty="0"/>
          </a:p>
        </p:txBody>
      </p:sp>
      <p:sp>
        <p:nvSpPr>
          <p:cNvPr id="5" name="Shape 3"/>
          <p:cNvSpPr/>
          <p:nvPr/>
        </p:nvSpPr>
        <p:spPr>
          <a:xfrm>
            <a:off x="731520" y="1417320"/>
            <a:ext cx="3337560" cy="1417320"/>
          </a:xfrm>
          <a:prstGeom prst="roundRect">
            <a:avLst>
              <a:gd name="adj" fmla="val 5161"/>
            </a:avLst>
          </a:prstGeom>
          <a:solidFill>
            <a:srgbClr val="DCFCE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6" name="Shape 4"/>
          <p:cNvSpPr/>
          <p:nvPr/>
        </p:nvSpPr>
        <p:spPr>
          <a:xfrm>
            <a:off x="731520" y="1417320"/>
            <a:ext cx="109728" cy="1417320"/>
          </a:xfrm>
          <a:prstGeom prst="rect">
            <a:avLst/>
          </a:prstGeom>
          <a:solidFill>
            <a:srgbClr val="16A34A"/>
          </a:solidFill>
          <a:ln w="12700">
            <a:solidFill>
              <a:srgbClr val="16A34A">
                <a:alpha val="0"/>
              </a:srgbClr>
            </a:solidFill>
            <a:prstDash val="solid"/>
          </a:ln>
        </p:spPr>
      </p:sp>
      <p:sp>
        <p:nvSpPr>
          <p:cNvPr id="7" name="Text 5"/>
          <p:cNvSpPr/>
          <p:nvPr/>
        </p:nvSpPr>
        <p:spPr>
          <a:xfrm>
            <a:off x="960120" y="1581912"/>
            <a:ext cx="2926080" cy="256032"/>
          </a:xfrm>
          <a:prstGeom prst="rect">
            <a:avLst/>
          </a:prstGeom>
          <a:noFill/>
          <a:ln/>
        </p:spPr>
        <p:txBody>
          <a:bodyPr wrap="square" lIns="0" tIns="0" rIns="0" bIns="0" rtlCol="0" anchor="ctr"/>
          <a:lstStyle/>
          <a:p>
            <a:pPr indent="0" marL="0">
              <a:buNone/>
            </a:pPr>
            <a:r>
              <a:rPr lang="en-US" sz="1450" b="1" dirty="0">
                <a:solidFill>
                  <a:srgbClr val="10233F"/>
                </a:solidFill>
              </a:rPr>
              <a:t>Var går datan?</a:t>
            </a:r>
            <a:endParaRPr lang="en-US" sz="1450" dirty="0"/>
          </a:p>
        </p:txBody>
      </p:sp>
      <p:sp>
        <p:nvSpPr>
          <p:cNvPr id="8" name="Text 6"/>
          <p:cNvSpPr/>
          <p:nvPr/>
        </p:nvSpPr>
        <p:spPr>
          <a:xfrm>
            <a:off x="960120" y="1938528"/>
            <a:ext cx="2926080" cy="79552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Peka ut topics mellan noder.</a:t>
            </a:r>
            <a:endParaRPr lang="en-US" sz="1150" dirty="0"/>
          </a:p>
        </p:txBody>
      </p:sp>
      <p:sp>
        <p:nvSpPr>
          <p:cNvPr id="9" name="Shape 7"/>
          <p:cNvSpPr/>
          <p:nvPr/>
        </p:nvSpPr>
        <p:spPr>
          <a:xfrm>
            <a:off x="4526280" y="1417320"/>
            <a:ext cx="3337560" cy="1417320"/>
          </a:xfrm>
          <a:prstGeom prst="roundRect">
            <a:avLst>
              <a:gd name="adj" fmla="val 5161"/>
            </a:avLst>
          </a:prstGeom>
          <a:solidFill>
            <a:srgbClr val="DCFCE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0" name="Shape 8"/>
          <p:cNvSpPr/>
          <p:nvPr/>
        </p:nvSpPr>
        <p:spPr>
          <a:xfrm>
            <a:off x="4526280" y="1417320"/>
            <a:ext cx="109728" cy="1417320"/>
          </a:xfrm>
          <a:prstGeom prst="rect">
            <a:avLst/>
          </a:prstGeom>
          <a:solidFill>
            <a:srgbClr val="16A34A"/>
          </a:solidFill>
          <a:ln w="12700">
            <a:solidFill>
              <a:srgbClr val="16A34A">
                <a:alpha val="0"/>
              </a:srgbClr>
            </a:solidFill>
            <a:prstDash val="solid"/>
          </a:ln>
        </p:spPr>
      </p:sp>
      <p:sp>
        <p:nvSpPr>
          <p:cNvPr id="11" name="Text 9"/>
          <p:cNvSpPr/>
          <p:nvPr/>
        </p:nvSpPr>
        <p:spPr>
          <a:xfrm>
            <a:off x="4754880" y="1581912"/>
            <a:ext cx="2926080" cy="256032"/>
          </a:xfrm>
          <a:prstGeom prst="rect">
            <a:avLst/>
          </a:prstGeom>
          <a:noFill/>
          <a:ln/>
        </p:spPr>
        <p:txBody>
          <a:bodyPr wrap="square" lIns="0" tIns="0" rIns="0" bIns="0" rtlCol="0" anchor="ctr"/>
          <a:lstStyle/>
          <a:p>
            <a:pPr indent="0" marL="0">
              <a:buNone/>
            </a:pPr>
            <a:r>
              <a:rPr lang="en-US" sz="1450" b="1" dirty="0">
                <a:solidFill>
                  <a:srgbClr val="10233F"/>
                </a:solidFill>
              </a:rPr>
              <a:t>Vem skickar?</a:t>
            </a:r>
            <a:endParaRPr lang="en-US" sz="1450" dirty="0"/>
          </a:p>
        </p:txBody>
      </p:sp>
      <p:sp>
        <p:nvSpPr>
          <p:cNvPr id="12" name="Text 10"/>
          <p:cNvSpPr/>
          <p:nvPr/>
        </p:nvSpPr>
        <p:spPr>
          <a:xfrm>
            <a:off x="4754880" y="1938528"/>
            <a:ext cx="2926080" cy="79552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Identifiera publishers.</a:t>
            </a:r>
            <a:endParaRPr lang="en-US" sz="1150" dirty="0"/>
          </a:p>
        </p:txBody>
      </p:sp>
      <p:sp>
        <p:nvSpPr>
          <p:cNvPr id="13" name="Shape 11"/>
          <p:cNvSpPr/>
          <p:nvPr/>
        </p:nvSpPr>
        <p:spPr>
          <a:xfrm>
            <a:off x="8321040" y="1417320"/>
            <a:ext cx="3337560" cy="1417320"/>
          </a:xfrm>
          <a:prstGeom prst="roundRect">
            <a:avLst>
              <a:gd name="adj" fmla="val 5161"/>
            </a:avLst>
          </a:prstGeom>
          <a:solidFill>
            <a:srgbClr val="DCFCE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4" name="Shape 12"/>
          <p:cNvSpPr/>
          <p:nvPr/>
        </p:nvSpPr>
        <p:spPr>
          <a:xfrm>
            <a:off x="8321040" y="1417320"/>
            <a:ext cx="109728" cy="1417320"/>
          </a:xfrm>
          <a:prstGeom prst="rect">
            <a:avLst/>
          </a:prstGeom>
          <a:solidFill>
            <a:srgbClr val="16A34A"/>
          </a:solidFill>
          <a:ln w="12700">
            <a:solidFill>
              <a:srgbClr val="16A34A">
                <a:alpha val="0"/>
              </a:srgbClr>
            </a:solidFill>
            <a:prstDash val="solid"/>
          </a:ln>
        </p:spPr>
      </p:sp>
      <p:sp>
        <p:nvSpPr>
          <p:cNvPr id="15" name="Text 13"/>
          <p:cNvSpPr/>
          <p:nvPr/>
        </p:nvSpPr>
        <p:spPr>
          <a:xfrm>
            <a:off x="8549640" y="1581912"/>
            <a:ext cx="2926080" cy="256032"/>
          </a:xfrm>
          <a:prstGeom prst="rect">
            <a:avLst/>
          </a:prstGeom>
          <a:noFill/>
          <a:ln/>
        </p:spPr>
        <p:txBody>
          <a:bodyPr wrap="square" lIns="0" tIns="0" rIns="0" bIns="0" rtlCol="0" anchor="ctr"/>
          <a:lstStyle/>
          <a:p>
            <a:pPr indent="0" marL="0">
              <a:buNone/>
            </a:pPr>
            <a:r>
              <a:rPr lang="en-US" sz="1450" b="1" dirty="0">
                <a:solidFill>
                  <a:srgbClr val="10233F"/>
                </a:solidFill>
              </a:rPr>
              <a:t>Vem lyssnar?</a:t>
            </a:r>
            <a:endParaRPr lang="en-US" sz="1450" dirty="0"/>
          </a:p>
        </p:txBody>
      </p:sp>
      <p:sp>
        <p:nvSpPr>
          <p:cNvPr id="16" name="Text 14"/>
          <p:cNvSpPr/>
          <p:nvPr/>
        </p:nvSpPr>
        <p:spPr>
          <a:xfrm>
            <a:off x="8549640" y="1938528"/>
            <a:ext cx="2926080" cy="79552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Identifiera subscribers.</a:t>
            </a:r>
            <a:endParaRPr lang="en-US" sz="1150" dirty="0"/>
          </a:p>
        </p:txBody>
      </p:sp>
      <p:sp>
        <p:nvSpPr>
          <p:cNvPr id="17" name="Shape 15"/>
          <p:cNvSpPr/>
          <p:nvPr/>
        </p:nvSpPr>
        <p:spPr>
          <a:xfrm>
            <a:off x="731520" y="3337560"/>
            <a:ext cx="3337560" cy="1417320"/>
          </a:xfrm>
          <a:prstGeom prst="roundRect">
            <a:avLst>
              <a:gd name="adj" fmla="val 5161"/>
            </a:avLst>
          </a:prstGeom>
          <a:solidFill>
            <a:srgbClr val="DBEA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8" name="Shape 16"/>
          <p:cNvSpPr/>
          <p:nvPr/>
        </p:nvSpPr>
        <p:spPr>
          <a:xfrm>
            <a:off x="731520" y="3337560"/>
            <a:ext cx="109728" cy="1417320"/>
          </a:xfrm>
          <a:prstGeom prst="rect">
            <a:avLst/>
          </a:prstGeom>
          <a:solidFill>
            <a:srgbClr val="2563EB"/>
          </a:solidFill>
          <a:ln w="12700">
            <a:solidFill>
              <a:srgbClr val="2563EB">
                <a:alpha val="0"/>
              </a:srgbClr>
            </a:solidFill>
            <a:prstDash val="solid"/>
          </a:ln>
        </p:spPr>
      </p:sp>
      <p:sp>
        <p:nvSpPr>
          <p:cNvPr id="19" name="Text 17"/>
          <p:cNvSpPr/>
          <p:nvPr/>
        </p:nvSpPr>
        <p:spPr>
          <a:xfrm>
            <a:off x="960120" y="3502152"/>
            <a:ext cx="2926080" cy="256032"/>
          </a:xfrm>
          <a:prstGeom prst="rect">
            <a:avLst/>
          </a:prstGeom>
          <a:noFill/>
          <a:ln/>
        </p:spPr>
        <p:txBody>
          <a:bodyPr wrap="square" lIns="0" tIns="0" rIns="0" bIns="0" rtlCol="0" anchor="ctr"/>
          <a:lstStyle/>
          <a:p>
            <a:pPr indent="0" marL="0">
              <a:buNone/>
            </a:pPr>
            <a:r>
              <a:rPr lang="en-US" sz="1450" b="1" dirty="0">
                <a:solidFill>
                  <a:srgbClr val="10233F"/>
                </a:solidFill>
              </a:rPr>
              <a:t>Vad händer vid risk?</a:t>
            </a:r>
            <a:endParaRPr lang="en-US" sz="1450" dirty="0"/>
          </a:p>
        </p:txBody>
      </p:sp>
      <p:sp>
        <p:nvSpPr>
          <p:cNvPr id="20" name="Text 18"/>
          <p:cNvSpPr/>
          <p:nvPr/>
        </p:nvSpPr>
        <p:spPr>
          <a:xfrm>
            <a:off x="960120" y="3858768"/>
            <a:ext cx="2926080" cy="79552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Visa att safety_node stoppar kommandon.</a:t>
            </a:r>
            <a:endParaRPr lang="en-US" sz="1150" dirty="0"/>
          </a:p>
        </p:txBody>
      </p:sp>
      <p:sp>
        <p:nvSpPr>
          <p:cNvPr id="21" name="Shape 19"/>
          <p:cNvSpPr/>
          <p:nvPr/>
        </p:nvSpPr>
        <p:spPr>
          <a:xfrm>
            <a:off x="4526280" y="3337560"/>
            <a:ext cx="3337560" cy="1417320"/>
          </a:xfrm>
          <a:prstGeom prst="roundRect">
            <a:avLst>
              <a:gd name="adj" fmla="val 5161"/>
            </a:avLst>
          </a:prstGeom>
          <a:solidFill>
            <a:srgbClr val="DBEA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22" name="Shape 20"/>
          <p:cNvSpPr/>
          <p:nvPr/>
        </p:nvSpPr>
        <p:spPr>
          <a:xfrm>
            <a:off x="4526280" y="3337560"/>
            <a:ext cx="109728" cy="1417320"/>
          </a:xfrm>
          <a:prstGeom prst="rect">
            <a:avLst/>
          </a:prstGeom>
          <a:solidFill>
            <a:srgbClr val="2563EB"/>
          </a:solidFill>
          <a:ln w="12700">
            <a:solidFill>
              <a:srgbClr val="2563EB">
                <a:alpha val="0"/>
              </a:srgbClr>
            </a:solidFill>
            <a:prstDash val="solid"/>
          </a:ln>
        </p:spPr>
      </p:sp>
      <p:sp>
        <p:nvSpPr>
          <p:cNvPr id="23" name="Text 21"/>
          <p:cNvSpPr/>
          <p:nvPr/>
        </p:nvSpPr>
        <p:spPr>
          <a:xfrm>
            <a:off x="4754880" y="3502152"/>
            <a:ext cx="2926080" cy="256032"/>
          </a:xfrm>
          <a:prstGeom prst="rect">
            <a:avLst/>
          </a:prstGeom>
          <a:noFill/>
          <a:ln/>
        </p:spPr>
        <p:txBody>
          <a:bodyPr wrap="square" lIns="0" tIns="0" rIns="0" bIns="0" rtlCol="0" anchor="ctr"/>
          <a:lstStyle/>
          <a:p>
            <a:pPr indent="0" marL="0">
              <a:buNone/>
            </a:pPr>
            <a:r>
              <a:rPr lang="en-US" sz="1450" b="1" dirty="0">
                <a:solidFill>
                  <a:srgbClr val="10233F"/>
                </a:solidFill>
              </a:rPr>
              <a:t>Hur testar vi?</a:t>
            </a:r>
            <a:endParaRPr lang="en-US" sz="1450" dirty="0"/>
          </a:p>
        </p:txBody>
      </p:sp>
      <p:sp>
        <p:nvSpPr>
          <p:cNvPr id="24" name="Text 22"/>
          <p:cNvSpPr/>
          <p:nvPr/>
        </p:nvSpPr>
        <p:spPr>
          <a:xfrm>
            <a:off x="4754880" y="3858768"/>
            <a:ext cx="2926080" cy="79552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Använd ros2 topic echo/pub/list.</a:t>
            </a:r>
            <a:endParaRPr lang="en-US" sz="1150" dirty="0"/>
          </a:p>
        </p:txBody>
      </p:sp>
      <p:sp>
        <p:nvSpPr>
          <p:cNvPr id="25" name="Shape 23"/>
          <p:cNvSpPr/>
          <p:nvPr/>
        </p:nvSpPr>
        <p:spPr>
          <a:xfrm>
            <a:off x="8321040" y="3337560"/>
            <a:ext cx="3337560" cy="1417320"/>
          </a:xfrm>
          <a:prstGeom prst="roundRect">
            <a:avLst>
              <a:gd name="adj" fmla="val 5161"/>
            </a:avLst>
          </a:prstGeom>
          <a:solidFill>
            <a:srgbClr val="DBEA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26" name="Shape 24"/>
          <p:cNvSpPr/>
          <p:nvPr/>
        </p:nvSpPr>
        <p:spPr>
          <a:xfrm>
            <a:off x="8321040" y="3337560"/>
            <a:ext cx="109728" cy="1417320"/>
          </a:xfrm>
          <a:prstGeom prst="rect">
            <a:avLst/>
          </a:prstGeom>
          <a:solidFill>
            <a:srgbClr val="2563EB"/>
          </a:solidFill>
          <a:ln w="12700">
            <a:solidFill>
              <a:srgbClr val="2563EB">
                <a:alpha val="0"/>
              </a:srgbClr>
            </a:solidFill>
            <a:prstDash val="solid"/>
          </a:ln>
        </p:spPr>
      </p:sp>
      <p:sp>
        <p:nvSpPr>
          <p:cNvPr id="27" name="Text 25"/>
          <p:cNvSpPr/>
          <p:nvPr/>
        </p:nvSpPr>
        <p:spPr>
          <a:xfrm>
            <a:off x="8549640" y="3502152"/>
            <a:ext cx="2926080" cy="256032"/>
          </a:xfrm>
          <a:prstGeom prst="rect">
            <a:avLst/>
          </a:prstGeom>
          <a:noFill/>
          <a:ln/>
        </p:spPr>
        <p:txBody>
          <a:bodyPr wrap="square" lIns="0" tIns="0" rIns="0" bIns="0" rtlCol="0" anchor="ctr"/>
          <a:lstStyle/>
          <a:p>
            <a:pPr indent="0" marL="0">
              <a:buNone/>
            </a:pPr>
            <a:r>
              <a:rPr lang="en-US" sz="1450" b="1" dirty="0">
                <a:solidFill>
                  <a:srgbClr val="10233F"/>
                </a:solidFill>
              </a:rPr>
              <a:t>Hur blir det fysisk robot?</a:t>
            </a:r>
            <a:endParaRPr lang="en-US" sz="1450" dirty="0"/>
          </a:p>
        </p:txBody>
      </p:sp>
      <p:sp>
        <p:nvSpPr>
          <p:cNvPr id="28" name="Text 26"/>
          <p:cNvSpPr/>
          <p:nvPr/>
        </p:nvSpPr>
        <p:spPr>
          <a:xfrm>
            <a:off x="8549640" y="3858768"/>
            <a:ext cx="2926080" cy="79552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Byt simulator mot sensor och motor.</a:t>
            </a:r>
            <a:endParaRPr lang="en-US" sz="1150" dirty="0"/>
          </a:p>
        </p:txBody>
      </p:sp>
      <p:sp>
        <p:nvSpPr>
          <p:cNvPr id="29" name="Text 27"/>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30" name="Text 28"/>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97316"/>
          </a:solidFill>
          <a:ln w="12700">
            <a:solidFill>
              <a:srgbClr val="F97316">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Hur vi undviker “för mycket AI-känsla”</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Grundspåret handlar om robust teknik, inte avancerad autonomi.</a:t>
            </a:r>
            <a:endParaRPr lang="en-US" sz="1250" dirty="0"/>
          </a:p>
        </p:txBody>
      </p:sp>
      <p:sp>
        <p:nvSpPr>
          <p:cNvPr id="5" name="Shape 3"/>
          <p:cNvSpPr/>
          <p:nvPr/>
        </p:nvSpPr>
        <p:spPr>
          <a:xfrm>
            <a:off x="868680" y="1417320"/>
            <a:ext cx="5074920" cy="3063240"/>
          </a:xfrm>
          <a:prstGeom prst="roundRect">
            <a:avLst>
              <a:gd name="adj" fmla="val 2388"/>
            </a:avLst>
          </a:prstGeom>
          <a:solidFill>
            <a:srgbClr val="DCFCE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6" name="Shape 4"/>
          <p:cNvSpPr/>
          <p:nvPr/>
        </p:nvSpPr>
        <p:spPr>
          <a:xfrm>
            <a:off x="868680" y="1417320"/>
            <a:ext cx="109728" cy="3063240"/>
          </a:xfrm>
          <a:prstGeom prst="rect">
            <a:avLst/>
          </a:prstGeom>
          <a:solidFill>
            <a:srgbClr val="16A34A"/>
          </a:solidFill>
          <a:ln w="12700">
            <a:solidFill>
              <a:srgbClr val="16A34A">
                <a:alpha val="0"/>
              </a:srgbClr>
            </a:solidFill>
            <a:prstDash val="solid"/>
          </a:ln>
        </p:spPr>
      </p:sp>
      <p:sp>
        <p:nvSpPr>
          <p:cNvPr id="7" name="Text 5"/>
          <p:cNvSpPr/>
          <p:nvPr/>
        </p:nvSpPr>
        <p:spPr>
          <a:xfrm>
            <a:off x="1097280" y="1581912"/>
            <a:ext cx="4663440" cy="256032"/>
          </a:xfrm>
          <a:prstGeom prst="rect">
            <a:avLst/>
          </a:prstGeom>
          <a:noFill/>
          <a:ln/>
        </p:spPr>
        <p:txBody>
          <a:bodyPr wrap="square" lIns="0" tIns="0" rIns="0" bIns="0" rtlCol="0" anchor="ctr"/>
          <a:lstStyle/>
          <a:p>
            <a:pPr indent="0" marL="0">
              <a:buNone/>
            </a:pPr>
            <a:r>
              <a:rPr lang="en-US" sz="1450" b="1" dirty="0">
                <a:solidFill>
                  <a:srgbClr val="10233F"/>
                </a:solidFill>
              </a:rPr>
              <a:t>GRUND</a:t>
            </a:r>
            <a:endParaRPr lang="en-US" sz="1450" dirty="0"/>
          </a:p>
        </p:txBody>
      </p:sp>
      <p:sp>
        <p:nvSpPr>
          <p:cNvPr id="8" name="Text 6"/>
          <p:cNvSpPr/>
          <p:nvPr/>
        </p:nvSpPr>
        <p:spPr>
          <a:xfrm>
            <a:off x="1097280" y="1938528"/>
            <a:ext cx="4663440" cy="244144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Manuell styrning, ROS2-topics, sensordata, säkerhetsstopp, motorstyrning och testprotokoll.</a:t>
            </a:r>
            <a:endParaRPr lang="en-US" sz="1150" dirty="0"/>
          </a:p>
        </p:txBody>
      </p:sp>
      <p:sp>
        <p:nvSpPr>
          <p:cNvPr id="9" name="Shape 7"/>
          <p:cNvSpPr/>
          <p:nvPr/>
        </p:nvSpPr>
        <p:spPr>
          <a:xfrm>
            <a:off x="6263640" y="1417320"/>
            <a:ext cx="5074920" cy="3063240"/>
          </a:xfrm>
          <a:prstGeom prst="roundRect">
            <a:avLst>
              <a:gd name="adj" fmla="val 2388"/>
            </a:avLst>
          </a:prstGeom>
          <a:solidFill>
            <a:srgbClr val="FEF3C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0" name="Shape 8"/>
          <p:cNvSpPr/>
          <p:nvPr/>
        </p:nvSpPr>
        <p:spPr>
          <a:xfrm>
            <a:off x="6263640" y="1417320"/>
            <a:ext cx="109728" cy="3063240"/>
          </a:xfrm>
          <a:prstGeom prst="rect">
            <a:avLst/>
          </a:prstGeom>
          <a:solidFill>
            <a:srgbClr val="F97316"/>
          </a:solidFill>
          <a:ln w="12700">
            <a:solidFill>
              <a:srgbClr val="F97316">
                <a:alpha val="0"/>
              </a:srgbClr>
            </a:solidFill>
            <a:prstDash val="solid"/>
          </a:ln>
        </p:spPr>
      </p:sp>
      <p:sp>
        <p:nvSpPr>
          <p:cNvPr id="11" name="Text 9"/>
          <p:cNvSpPr/>
          <p:nvPr/>
        </p:nvSpPr>
        <p:spPr>
          <a:xfrm>
            <a:off x="6492240" y="1581912"/>
            <a:ext cx="4663440" cy="256032"/>
          </a:xfrm>
          <a:prstGeom prst="rect">
            <a:avLst/>
          </a:prstGeom>
          <a:noFill/>
          <a:ln/>
        </p:spPr>
        <p:txBody>
          <a:bodyPr wrap="square" lIns="0" tIns="0" rIns="0" bIns="0" rtlCol="0" anchor="ctr"/>
          <a:lstStyle/>
          <a:p>
            <a:pPr indent="0" marL="0">
              <a:buNone/>
            </a:pPr>
            <a:r>
              <a:rPr lang="en-US" sz="1450" b="1" dirty="0">
                <a:solidFill>
                  <a:srgbClr val="10233F"/>
                </a:solidFill>
              </a:rPr>
              <a:t>FÖRDJUPNING</a:t>
            </a:r>
            <a:endParaRPr lang="en-US" sz="1450" dirty="0"/>
          </a:p>
        </p:txBody>
      </p:sp>
      <p:sp>
        <p:nvSpPr>
          <p:cNvPr id="12" name="Text 10"/>
          <p:cNvSpPr/>
          <p:nvPr/>
        </p:nvSpPr>
        <p:spPr>
          <a:xfrm>
            <a:off x="6492240" y="1938528"/>
            <a:ext cx="4663440" cy="244144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Väggundvikning, måljakt, städmönster och annan autonom funktion — först när grundsystemet fungerar.</a:t>
            </a:r>
            <a:endParaRPr lang="en-US" sz="1150" dirty="0"/>
          </a:p>
        </p:txBody>
      </p:sp>
      <p:sp>
        <p:nvSpPr>
          <p:cNvPr id="13" name="Text 11"/>
          <p:cNvSpPr/>
          <p:nvPr/>
        </p:nvSpPr>
        <p:spPr>
          <a:xfrm>
            <a:off x="1005840" y="5257800"/>
            <a:ext cx="10149840" cy="384048"/>
          </a:xfrm>
          <a:prstGeom prst="rect">
            <a:avLst/>
          </a:prstGeom>
          <a:noFill/>
          <a:ln/>
        </p:spPr>
        <p:txBody>
          <a:bodyPr wrap="square" lIns="0" tIns="0" rIns="0" bIns="0" rtlCol="0" anchor="ctr"/>
          <a:lstStyle/>
          <a:p>
            <a:pPr algn="ctr" indent="0" marL="0">
              <a:buNone/>
            </a:pPr>
            <a:r>
              <a:rPr lang="en-US" sz="1800" b="1" dirty="0">
                <a:solidFill>
                  <a:srgbClr val="F97316"/>
                </a:solidFill>
              </a:rPr>
              <a:t>Vi bygger först en säker robot. Smartare beteenden kommer senare, om gruppen hinner.</a:t>
            </a:r>
            <a:endParaRPr lang="en-US" sz="1800" dirty="0"/>
          </a:p>
        </p:txBody>
      </p:sp>
      <p:sp>
        <p:nvSpPr>
          <p:cNvPr id="14" name="Text 12"/>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5" name="Text 13"/>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Arbetssätt under labbarna</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Vi jobbar som tekniker: testa en sak i taget och förklara vad som händer.</a:t>
            </a:r>
            <a:endParaRPr lang="en-US" sz="1250" dirty="0"/>
          </a:p>
        </p:txBody>
      </p:sp>
      <p:sp>
        <p:nvSpPr>
          <p:cNvPr id="5" name="Text 3"/>
          <p:cNvSpPr/>
          <p:nvPr/>
        </p:nvSpPr>
        <p:spPr>
          <a:xfrm>
            <a:off x="960120" y="1417320"/>
            <a:ext cx="5669280" cy="3886200"/>
          </a:xfrm>
          <a:prstGeom prst="rect">
            <a:avLst/>
          </a:prstGeom>
          <a:noFill/>
          <a:ln/>
        </p:spPr>
        <p:txBody>
          <a:bodyPr wrap="square" lIns="635" tIns="635" rIns="635" bIns="635" rtlCol="0" anchor="ctr">
            <a:normAutofit/>
          </a:bodyPr>
          <a:lstStyle/>
          <a:p>
            <a:r>
              <a:rPr lang="en-US" sz="1600" dirty="0">
                <a:solidFill>
                  <a:srgbClr val="172033"/>
                </a:solidFill>
              </a:rPr>
              <a:t>Kör först färdig kod och se att den fungerar.</a:t>
            </a:r>
            <a:endParaRPr lang="en-US" sz="1600" dirty="0"/>
          </a:p>
          <a:p>
            <a:r>
              <a:rPr lang="en-US" sz="1600" dirty="0">
                <a:solidFill>
                  <a:srgbClr val="172033"/>
                </a:solidFill>
              </a:rPr>
              <a:t>Ändra en liten sak och testa igen.</a:t>
            </a:r>
            <a:endParaRPr lang="en-US" sz="1600" dirty="0"/>
          </a:p>
          <a:p>
            <a:r>
              <a:rPr lang="en-US" sz="1600" dirty="0">
                <a:solidFill>
                  <a:srgbClr val="172033"/>
                </a:solidFill>
              </a:rPr>
              <a:t>Använd terminalverktyg för att se topics och data.</a:t>
            </a:r>
            <a:endParaRPr lang="en-US" sz="1600" dirty="0"/>
          </a:p>
          <a:p>
            <a:r>
              <a:rPr lang="en-US" sz="1600" dirty="0">
                <a:solidFill>
                  <a:srgbClr val="172033"/>
                </a:solidFill>
              </a:rPr>
              <a:t>Dokumentera skärmdump, observation och kort förklaring.</a:t>
            </a:r>
            <a:endParaRPr lang="en-US" sz="1600" dirty="0"/>
          </a:p>
          <a:p>
            <a:r>
              <a:rPr lang="en-US" sz="1600" dirty="0">
                <a:solidFill>
                  <a:srgbClr val="172033"/>
                </a:solidFill>
              </a:rPr>
              <a:t>Fråga: “vilken nod gör vad?” innan ni frågar efter ny kod.</a:t>
            </a:r>
            <a:endParaRPr lang="en-US" sz="1600" dirty="0"/>
          </a:p>
        </p:txBody>
      </p:sp>
      <p:sp>
        <p:nvSpPr>
          <p:cNvPr id="6" name="Shape 4"/>
          <p:cNvSpPr/>
          <p:nvPr/>
        </p:nvSpPr>
        <p:spPr>
          <a:xfrm>
            <a:off x="7406640" y="1554480"/>
            <a:ext cx="1554480" cy="658368"/>
          </a:xfrm>
          <a:prstGeom prst="roundRect">
            <a:avLst>
              <a:gd name="adj" fmla="val 8333"/>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7" name="Text 5"/>
          <p:cNvSpPr/>
          <p:nvPr/>
        </p:nvSpPr>
        <p:spPr>
          <a:xfrm>
            <a:off x="7470648" y="1764792"/>
            <a:ext cx="1426464" cy="237744"/>
          </a:xfrm>
          <a:prstGeom prst="rect">
            <a:avLst/>
          </a:prstGeom>
          <a:noFill/>
          <a:ln/>
        </p:spPr>
        <p:txBody>
          <a:bodyPr wrap="square" lIns="0" tIns="0" rIns="0" bIns="0" rtlCol="0" anchor="ctr"/>
          <a:lstStyle/>
          <a:p>
            <a:pPr algn="ctr" indent="0" marL="0">
              <a:buNone/>
            </a:pPr>
            <a:r>
              <a:rPr lang="en-US" sz="1400" b="1" dirty="0">
                <a:solidFill>
                  <a:srgbClr val="10233F"/>
                </a:solidFill>
              </a:rPr>
              <a:t>kör</a:t>
            </a:r>
            <a:endParaRPr lang="en-US" sz="1400" dirty="0"/>
          </a:p>
        </p:txBody>
      </p:sp>
      <p:sp>
        <p:nvSpPr>
          <p:cNvPr id="8" name="Shape 6"/>
          <p:cNvSpPr/>
          <p:nvPr/>
        </p:nvSpPr>
        <p:spPr>
          <a:xfrm>
            <a:off x="7406640" y="2514600"/>
            <a:ext cx="1554480" cy="658368"/>
          </a:xfrm>
          <a:prstGeom prst="roundRect">
            <a:avLst>
              <a:gd name="adj" fmla="val 8333"/>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9" name="Text 7"/>
          <p:cNvSpPr/>
          <p:nvPr/>
        </p:nvSpPr>
        <p:spPr>
          <a:xfrm>
            <a:off x="7470648" y="2724912"/>
            <a:ext cx="1426464" cy="237744"/>
          </a:xfrm>
          <a:prstGeom prst="rect">
            <a:avLst/>
          </a:prstGeom>
          <a:noFill/>
          <a:ln/>
        </p:spPr>
        <p:txBody>
          <a:bodyPr wrap="square" lIns="0" tIns="0" rIns="0" bIns="0" rtlCol="0" anchor="ctr"/>
          <a:lstStyle/>
          <a:p>
            <a:pPr algn="ctr" indent="0" marL="0">
              <a:buNone/>
            </a:pPr>
            <a:r>
              <a:rPr lang="en-US" sz="1400" b="1" dirty="0">
                <a:solidFill>
                  <a:srgbClr val="10233F"/>
                </a:solidFill>
              </a:rPr>
              <a:t>ändra</a:t>
            </a:r>
            <a:endParaRPr lang="en-US" sz="1400" dirty="0"/>
          </a:p>
        </p:txBody>
      </p:sp>
      <p:sp>
        <p:nvSpPr>
          <p:cNvPr id="10" name="Shape 8"/>
          <p:cNvSpPr/>
          <p:nvPr/>
        </p:nvSpPr>
        <p:spPr>
          <a:xfrm>
            <a:off x="7406640" y="3474720"/>
            <a:ext cx="1554480" cy="658368"/>
          </a:xfrm>
          <a:prstGeom prst="roundRect">
            <a:avLst>
              <a:gd name="adj" fmla="val 8333"/>
            </a:avLst>
          </a:prstGeom>
          <a:solidFill>
            <a:srgbClr val="FEF3C7"/>
          </a:solidFill>
          <a:ln w="19050">
            <a:solidFill>
              <a:srgbClr val="F97316"/>
            </a:solidFill>
            <a:prstDash val="solid"/>
          </a:ln>
          <a:effectLst>
            <a:outerShdw sx="100000" sy="100000" kx="0" ky="0" algn="bl" rotWithShape="0" blurRad="19050" dist="12700" dir="2700000">
              <a:srgbClr val="64748B">
                <a:alpha val="12000"/>
              </a:srgbClr>
            </a:outerShdw>
          </a:effectLst>
        </p:spPr>
      </p:sp>
      <p:sp>
        <p:nvSpPr>
          <p:cNvPr id="11" name="Text 9"/>
          <p:cNvSpPr/>
          <p:nvPr/>
        </p:nvSpPr>
        <p:spPr>
          <a:xfrm>
            <a:off x="7470648" y="3685032"/>
            <a:ext cx="1426464" cy="237744"/>
          </a:xfrm>
          <a:prstGeom prst="rect">
            <a:avLst/>
          </a:prstGeom>
          <a:noFill/>
          <a:ln/>
        </p:spPr>
        <p:txBody>
          <a:bodyPr wrap="square" lIns="0" tIns="0" rIns="0" bIns="0" rtlCol="0" anchor="ctr"/>
          <a:lstStyle/>
          <a:p>
            <a:pPr algn="ctr" indent="0" marL="0">
              <a:buNone/>
            </a:pPr>
            <a:r>
              <a:rPr lang="en-US" sz="1400" b="1" dirty="0">
                <a:solidFill>
                  <a:srgbClr val="10233F"/>
                </a:solidFill>
              </a:rPr>
              <a:t>testa</a:t>
            </a:r>
            <a:endParaRPr lang="en-US" sz="1400" dirty="0"/>
          </a:p>
        </p:txBody>
      </p:sp>
      <p:sp>
        <p:nvSpPr>
          <p:cNvPr id="12" name="Shape 10"/>
          <p:cNvSpPr/>
          <p:nvPr/>
        </p:nvSpPr>
        <p:spPr>
          <a:xfrm>
            <a:off x="7406640" y="4434840"/>
            <a:ext cx="1554480" cy="658368"/>
          </a:xfrm>
          <a:prstGeom prst="roundRect">
            <a:avLst>
              <a:gd name="adj" fmla="val 8333"/>
            </a:avLst>
          </a:prstGeom>
          <a:solidFill>
            <a:srgbClr val="EDE9FE"/>
          </a:solidFill>
          <a:ln w="19050">
            <a:solidFill>
              <a:srgbClr val="7C3AED"/>
            </a:solidFill>
            <a:prstDash val="solid"/>
          </a:ln>
          <a:effectLst>
            <a:outerShdw sx="100000" sy="100000" kx="0" ky="0" algn="bl" rotWithShape="0" blurRad="19050" dist="12700" dir="2700000">
              <a:srgbClr val="64748B">
                <a:alpha val="12000"/>
              </a:srgbClr>
            </a:outerShdw>
          </a:effectLst>
        </p:spPr>
      </p:sp>
      <p:sp>
        <p:nvSpPr>
          <p:cNvPr id="13" name="Text 11"/>
          <p:cNvSpPr/>
          <p:nvPr/>
        </p:nvSpPr>
        <p:spPr>
          <a:xfrm>
            <a:off x="7470648" y="4645152"/>
            <a:ext cx="1426464" cy="237744"/>
          </a:xfrm>
          <a:prstGeom prst="rect">
            <a:avLst/>
          </a:prstGeom>
          <a:noFill/>
          <a:ln/>
        </p:spPr>
        <p:txBody>
          <a:bodyPr wrap="square" lIns="0" tIns="0" rIns="0" bIns="0" rtlCol="0" anchor="ctr"/>
          <a:lstStyle/>
          <a:p>
            <a:pPr algn="ctr" indent="0" marL="0">
              <a:buNone/>
            </a:pPr>
            <a:r>
              <a:rPr lang="en-US" sz="1400" b="1" dirty="0">
                <a:solidFill>
                  <a:srgbClr val="10233F"/>
                </a:solidFill>
              </a:rPr>
              <a:t>förklara</a:t>
            </a:r>
            <a:endParaRPr lang="en-US" sz="1400" dirty="0"/>
          </a:p>
        </p:txBody>
      </p:sp>
      <p:sp>
        <p:nvSpPr>
          <p:cNvPr id="14" name="Shape 12"/>
          <p:cNvSpPr/>
          <p:nvPr/>
        </p:nvSpPr>
        <p:spPr>
          <a:xfrm>
            <a:off x="8183880" y="2221992"/>
            <a:ext cx="0" cy="265176"/>
          </a:xfrm>
          <a:prstGeom prst="line">
            <a:avLst/>
          </a:prstGeom>
          <a:noFill/>
          <a:ln w="17780">
            <a:solidFill>
              <a:srgbClr val="64748B"/>
            </a:solidFill>
            <a:prstDash val="solid"/>
            <a:headEnd type="none"/>
            <a:tailEnd type="triangle"/>
          </a:ln>
        </p:spPr>
      </p:sp>
      <p:sp>
        <p:nvSpPr>
          <p:cNvPr id="15" name="Shape 13"/>
          <p:cNvSpPr/>
          <p:nvPr/>
        </p:nvSpPr>
        <p:spPr>
          <a:xfrm>
            <a:off x="8183880" y="3182112"/>
            <a:ext cx="0" cy="265176"/>
          </a:xfrm>
          <a:prstGeom prst="line">
            <a:avLst/>
          </a:prstGeom>
          <a:noFill/>
          <a:ln w="17780">
            <a:solidFill>
              <a:srgbClr val="64748B"/>
            </a:solidFill>
            <a:prstDash val="solid"/>
            <a:headEnd type="none"/>
            <a:tailEnd type="triangle"/>
          </a:ln>
        </p:spPr>
      </p:sp>
      <p:sp>
        <p:nvSpPr>
          <p:cNvPr id="16" name="Shape 14"/>
          <p:cNvSpPr/>
          <p:nvPr/>
        </p:nvSpPr>
        <p:spPr>
          <a:xfrm>
            <a:off x="8183880" y="4142232"/>
            <a:ext cx="0" cy="265176"/>
          </a:xfrm>
          <a:prstGeom prst="line">
            <a:avLst/>
          </a:prstGeom>
          <a:noFill/>
          <a:ln w="17780">
            <a:solidFill>
              <a:srgbClr val="64748B"/>
            </a:solidFill>
            <a:prstDash val="solid"/>
            <a:headEnd type="none"/>
            <a:tailEnd type="triangle"/>
          </a:ln>
        </p:spPr>
      </p:sp>
      <p:sp>
        <p:nvSpPr>
          <p:cNvPr id="17" name="Text 15"/>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8" name="Text 16"/>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563EB"/>
          </a:solidFill>
          <a:ln w="12700">
            <a:solidFill>
              <a:srgbClr val="2563EB">
                <a:alpha val="0"/>
              </a:srgbClr>
            </a:solidFill>
            <a:prstDash val="solid"/>
          </a:ln>
        </p:spPr>
      </p:sp>
      <p:sp>
        <p:nvSpPr>
          <p:cNvPr id="3" name="Text 1"/>
          <p:cNvSpPr/>
          <p:nvPr/>
        </p:nvSpPr>
        <p:spPr>
          <a:xfrm>
            <a:off x="594360" y="329184"/>
            <a:ext cx="10789920" cy="475488"/>
          </a:xfrm>
          <a:prstGeom prst="rect">
            <a:avLst/>
          </a:prstGeom>
          <a:noFill/>
          <a:ln/>
        </p:spPr>
        <p:txBody>
          <a:bodyPr wrap="square" lIns="0" tIns="0" rIns="0" bIns="0" rtlCol="0" anchor="ctr"/>
          <a:lstStyle/>
          <a:p>
            <a:pPr indent="0" marL="0">
              <a:buNone/>
            </a:pPr>
            <a:r>
              <a:rPr lang="en-US" sz="2700" b="1" dirty="0">
                <a:solidFill>
                  <a:srgbClr val="10233F"/>
                </a:solidFill>
                <a:latin typeface="Aptos Display" pitchFamily="34" charset="0"/>
                <a:ea typeface="Aptos Display" pitchFamily="34" charset="-122"/>
                <a:cs typeface="Aptos Display" pitchFamily="34" charset="-120"/>
              </a:rPr>
              <a:t>Första lektionen: dagens startuppgift</a:t>
            </a:r>
            <a:endParaRPr lang="en-US" sz="2700" dirty="0"/>
          </a:p>
        </p:txBody>
      </p:sp>
      <p:sp>
        <p:nvSpPr>
          <p:cNvPr id="4" name="Text 2"/>
          <p:cNvSpPr/>
          <p:nvPr/>
        </p:nvSpPr>
        <p:spPr>
          <a:xfrm>
            <a:off x="621792" y="822960"/>
            <a:ext cx="9784080" cy="320040"/>
          </a:xfrm>
          <a:prstGeom prst="rect">
            <a:avLst/>
          </a:prstGeom>
          <a:noFill/>
          <a:ln/>
        </p:spPr>
        <p:txBody>
          <a:bodyPr wrap="square" lIns="0" tIns="0" rIns="0" bIns="0" rtlCol="0" anchor="ctr"/>
          <a:lstStyle/>
          <a:p>
            <a:pPr indent="0" marL="0">
              <a:buNone/>
            </a:pPr>
            <a:r>
              <a:rPr lang="en-US" sz="1250" dirty="0">
                <a:solidFill>
                  <a:srgbClr val="64748B"/>
                </a:solidFill>
              </a:rPr>
              <a:t>Innan vi programmerar mycket ska vi förstå systemet.</a:t>
            </a:r>
            <a:endParaRPr lang="en-US" sz="1250" dirty="0"/>
          </a:p>
        </p:txBody>
      </p:sp>
      <p:sp>
        <p:nvSpPr>
          <p:cNvPr id="5" name="Shape 3"/>
          <p:cNvSpPr/>
          <p:nvPr/>
        </p:nvSpPr>
        <p:spPr>
          <a:xfrm>
            <a:off x="822960" y="1325880"/>
            <a:ext cx="3337560" cy="3977640"/>
          </a:xfrm>
          <a:prstGeom prst="roundRect">
            <a:avLst>
              <a:gd name="adj" fmla="val 2192"/>
            </a:avLst>
          </a:prstGeom>
          <a:solidFill>
            <a:srgbClr val="DCFCE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6" name="Shape 4"/>
          <p:cNvSpPr/>
          <p:nvPr/>
        </p:nvSpPr>
        <p:spPr>
          <a:xfrm>
            <a:off x="822960" y="1325880"/>
            <a:ext cx="109728" cy="3977640"/>
          </a:xfrm>
          <a:prstGeom prst="rect">
            <a:avLst/>
          </a:prstGeom>
          <a:solidFill>
            <a:srgbClr val="16A34A"/>
          </a:solidFill>
          <a:ln w="12700">
            <a:solidFill>
              <a:srgbClr val="16A34A">
                <a:alpha val="0"/>
              </a:srgbClr>
            </a:solidFill>
            <a:prstDash val="solid"/>
          </a:ln>
        </p:spPr>
      </p:sp>
      <p:sp>
        <p:nvSpPr>
          <p:cNvPr id="7" name="Text 5"/>
          <p:cNvSpPr/>
          <p:nvPr/>
        </p:nvSpPr>
        <p:spPr>
          <a:xfrm>
            <a:off x="1051560" y="1490472"/>
            <a:ext cx="2926080" cy="256032"/>
          </a:xfrm>
          <a:prstGeom prst="rect">
            <a:avLst/>
          </a:prstGeom>
          <a:noFill/>
          <a:ln/>
        </p:spPr>
        <p:txBody>
          <a:bodyPr wrap="square" lIns="0" tIns="0" rIns="0" bIns="0" rtlCol="0" anchor="ctr"/>
          <a:lstStyle/>
          <a:p>
            <a:pPr indent="0" marL="0">
              <a:buNone/>
            </a:pPr>
            <a:r>
              <a:rPr lang="en-US" sz="1450" b="1" dirty="0">
                <a:solidFill>
                  <a:srgbClr val="10233F"/>
                </a:solidFill>
              </a:rPr>
              <a:t>1. Rita systemet</a:t>
            </a:r>
            <a:endParaRPr lang="en-US" sz="1450" dirty="0"/>
          </a:p>
        </p:txBody>
      </p:sp>
      <p:sp>
        <p:nvSpPr>
          <p:cNvPr id="8" name="Text 6"/>
          <p:cNvSpPr/>
          <p:nvPr/>
        </p:nvSpPr>
        <p:spPr>
          <a:xfrm>
            <a:off x="1051560" y="1847088"/>
            <a:ext cx="2926080" cy="335584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Rita en robotmopp med fyra delar: styrning, sensor, säkerhetsnod och motor.</a:t>
            </a:r>
            <a:endParaRPr lang="en-US" sz="1150" dirty="0"/>
          </a:p>
        </p:txBody>
      </p:sp>
      <p:sp>
        <p:nvSpPr>
          <p:cNvPr id="9" name="Shape 7"/>
          <p:cNvSpPr/>
          <p:nvPr/>
        </p:nvSpPr>
        <p:spPr>
          <a:xfrm>
            <a:off x="4434840" y="1325880"/>
            <a:ext cx="3337560" cy="3977640"/>
          </a:xfrm>
          <a:prstGeom prst="roundRect">
            <a:avLst>
              <a:gd name="adj" fmla="val 2192"/>
            </a:avLst>
          </a:prstGeom>
          <a:solidFill>
            <a:srgbClr val="DBEAFE"/>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0" name="Shape 8"/>
          <p:cNvSpPr/>
          <p:nvPr/>
        </p:nvSpPr>
        <p:spPr>
          <a:xfrm>
            <a:off x="4434840" y="1325880"/>
            <a:ext cx="109728" cy="3977640"/>
          </a:xfrm>
          <a:prstGeom prst="rect">
            <a:avLst/>
          </a:prstGeom>
          <a:solidFill>
            <a:srgbClr val="2563EB"/>
          </a:solidFill>
          <a:ln w="12700">
            <a:solidFill>
              <a:srgbClr val="2563EB">
                <a:alpha val="0"/>
              </a:srgbClr>
            </a:solidFill>
            <a:prstDash val="solid"/>
          </a:ln>
        </p:spPr>
      </p:sp>
      <p:sp>
        <p:nvSpPr>
          <p:cNvPr id="11" name="Text 9"/>
          <p:cNvSpPr/>
          <p:nvPr/>
        </p:nvSpPr>
        <p:spPr>
          <a:xfrm>
            <a:off x="4663440" y="1490472"/>
            <a:ext cx="2926080" cy="256032"/>
          </a:xfrm>
          <a:prstGeom prst="rect">
            <a:avLst/>
          </a:prstGeom>
          <a:noFill/>
          <a:ln/>
        </p:spPr>
        <p:txBody>
          <a:bodyPr wrap="square" lIns="0" tIns="0" rIns="0" bIns="0" rtlCol="0" anchor="ctr"/>
          <a:lstStyle/>
          <a:p>
            <a:pPr indent="0" marL="0">
              <a:buNone/>
            </a:pPr>
            <a:r>
              <a:rPr lang="en-US" sz="1450" b="1" dirty="0">
                <a:solidFill>
                  <a:srgbClr val="10233F"/>
                </a:solidFill>
              </a:rPr>
              <a:t>2. Sätt namn på data</a:t>
            </a:r>
            <a:endParaRPr lang="en-US" sz="1450" dirty="0"/>
          </a:p>
        </p:txBody>
      </p:sp>
      <p:sp>
        <p:nvSpPr>
          <p:cNvPr id="12" name="Text 10"/>
          <p:cNvSpPr/>
          <p:nvPr/>
        </p:nvSpPr>
        <p:spPr>
          <a:xfrm>
            <a:off x="4663440" y="1847088"/>
            <a:ext cx="2926080" cy="335584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Vilka topics behövs? Vad skickas mellan delarna?</a:t>
            </a:r>
            <a:endParaRPr lang="en-US" sz="1150" dirty="0"/>
          </a:p>
        </p:txBody>
      </p:sp>
      <p:sp>
        <p:nvSpPr>
          <p:cNvPr id="13" name="Shape 11"/>
          <p:cNvSpPr/>
          <p:nvPr/>
        </p:nvSpPr>
        <p:spPr>
          <a:xfrm>
            <a:off x="8046720" y="1325880"/>
            <a:ext cx="3337560" cy="3977640"/>
          </a:xfrm>
          <a:prstGeom prst="roundRect">
            <a:avLst>
              <a:gd name="adj" fmla="val 2192"/>
            </a:avLst>
          </a:prstGeom>
          <a:solidFill>
            <a:srgbClr val="FEF3C7"/>
          </a:solidFill>
          <a:ln w="12700">
            <a:solidFill>
              <a:srgbClr val="E2E8F0"/>
            </a:solidFill>
            <a:prstDash val="solid"/>
          </a:ln>
          <a:effectLst>
            <a:outerShdw sx="100000" sy="100000" kx="0" ky="0" algn="bl" rotWithShape="0" blurRad="25400" dist="12700" dir="2700000">
              <a:srgbClr val="94A3B8">
                <a:alpha val="15000"/>
              </a:srgbClr>
            </a:outerShdw>
          </a:effectLst>
        </p:spPr>
      </p:sp>
      <p:sp>
        <p:nvSpPr>
          <p:cNvPr id="14" name="Shape 12"/>
          <p:cNvSpPr/>
          <p:nvPr/>
        </p:nvSpPr>
        <p:spPr>
          <a:xfrm>
            <a:off x="8046720" y="1325880"/>
            <a:ext cx="109728" cy="3977640"/>
          </a:xfrm>
          <a:prstGeom prst="rect">
            <a:avLst/>
          </a:prstGeom>
          <a:solidFill>
            <a:srgbClr val="F97316"/>
          </a:solidFill>
          <a:ln w="12700">
            <a:solidFill>
              <a:srgbClr val="F97316">
                <a:alpha val="0"/>
              </a:srgbClr>
            </a:solidFill>
            <a:prstDash val="solid"/>
          </a:ln>
        </p:spPr>
      </p:sp>
      <p:sp>
        <p:nvSpPr>
          <p:cNvPr id="15" name="Text 13"/>
          <p:cNvSpPr/>
          <p:nvPr/>
        </p:nvSpPr>
        <p:spPr>
          <a:xfrm>
            <a:off x="8275320" y="1490472"/>
            <a:ext cx="2926080" cy="256032"/>
          </a:xfrm>
          <a:prstGeom prst="rect">
            <a:avLst/>
          </a:prstGeom>
          <a:noFill/>
          <a:ln/>
        </p:spPr>
        <p:txBody>
          <a:bodyPr wrap="square" lIns="0" tIns="0" rIns="0" bIns="0" rtlCol="0" anchor="ctr"/>
          <a:lstStyle/>
          <a:p>
            <a:pPr indent="0" marL="0">
              <a:buNone/>
            </a:pPr>
            <a:r>
              <a:rPr lang="en-US" sz="1450" b="1" dirty="0">
                <a:solidFill>
                  <a:srgbClr val="10233F"/>
                </a:solidFill>
              </a:rPr>
              <a:t>3. Riskfall</a:t>
            </a:r>
            <a:endParaRPr lang="en-US" sz="1450" dirty="0"/>
          </a:p>
        </p:txBody>
      </p:sp>
      <p:sp>
        <p:nvSpPr>
          <p:cNvPr id="16" name="Text 14"/>
          <p:cNvSpPr/>
          <p:nvPr/>
        </p:nvSpPr>
        <p:spPr>
          <a:xfrm>
            <a:off x="8275320" y="1847088"/>
            <a:ext cx="2926080" cy="3355848"/>
          </a:xfrm>
          <a:prstGeom prst="rect">
            <a:avLst/>
          </a:prstGeom>
          <a:noFill/>
          <a:ln/>
        </p:spPr>
        <p:txBody>
          <a:bodyPr wrap="square" lIns="254" tIns="254" rIns="254" bIns="254" rtlCol="0" anchor="ctr">
            <a:normAutofit/>
          </a:bodyPr>
          <a:lstStyle/>
          <a:p>
            <a:pPr indent="0" marL="0">
              <a:buNone/>
            </a:pPr>
            <a:r>
              <a:rPr lang="en-US" sz="1150" dirty="0">
                <a:solidFill>
                  <a:srgbClr val="172033"/>
                </a:solidFill>
              </a:rPr>
              <a:t>Vad ska roboten göra om sensorn säger risk? Vem tar beslutet?</a:t>
            </a:r>
            <a:endParaRPr lang="en-US" sz="1150" dirty="0"/>
          </a:p>
        </p:txBody>
      </p:sp>
      <p:sp>
        <p:nvSpPr>
          <p:cNvPr id="17" name="Text 15"/>
          <p:cNvSpPr/>
          <p:nvPr/>
        </p:nvSpPr>
        <p:spPr>
          <a:xfrm>
            <a:off x="960120" y="5733288"/>
            <a:ext cx="10241280" cy="320040"/>
          </a:xfrm>
          <a:prstGeom prst="rect">
            <a:avLst/>
          </a:prstGeom>
          <a:noFill/>
          <a:ln/>
        </p:spPr>
        <p:txBody>
          <a:bodyPr wrap="square" lIns="0" tIns="0" rIns="0" bIns="0" rtlCol="0" anchor="ctr"/>
          <a:lstStyle/>
          <a:p>
            <a:pPr algn="ctr" indent="0" marL="0">
              <a:buNone/>
            </a:pPr>
            <a:r>
              <a:rPr lang="en-US" sz="1650" b="1" dirty="0">
                <a:solidFill>
                  <a:srgbClr val="2563EB"/>
                </a:solidFill>
              </a:rPr>
              <a:t>Målet är att alla grupper kan förklara robotens dataflöde innan vi börjar bygga det.</a:t>
            </a:r>
            <a:endParaRPr lang="en-US" sz="1650" dirty="0"/>
          </a:p>
        </p:txBody>
      </p:sp>
      <p:sp>
        <p:nvSpPr>
          <p:cNvPr id="18" name="Text 16"/>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9" name="Text 17"/>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A34A"/>
          </a:solidFill>
          <a:ln w="12700">
            <a:solidFill>
              <a:srgbClr val="16A34A">
                <a:alpha val="0"/>
              </a:srgbClr>
            </a:solidFill>
            <a:prstDash val="solid"/>
          </a:ln>
        </p:spPr>
      </p:sp>
      <p:sp>
        <p:nvSpPr>
          <p:cNvPr id="3" name="Text 1"/>
          <p:cNvSpPr/>
          <p:nvPr/>
        </p:nvSpPr>
        <p:spPr>
          <a:xfrm>
            <a:off x="777240" y="1051560"/>
            <a:ext cx="9875520" cy="594360"/>
          </a:xfrm>
          <a:prstGeom prst="rect">
            <a:avLst/>
          </a:prstGeom>
          <a:noFill/>
          <a:ln/>
        </p:spPr>
        <p:txBody>
          <a:bodyPr wrap="square" lIns="0" tIns="0" rIns="0" bIns="0" rtlCol="0" anchor="ctr"/>
          <a:lstStyle/>
          <a:p>
            <a:pPr indent="0" marL="0">
              <a:buNone/>
            </a:pPr>
            <a:r>
              <a:rPr lang="en-US" sz="3600" b="1" dirty="0">
                <a:solidFill>
                  <a:srgbClr val="10233F"/>
                </a:solidFill>
                <a:latin typeface="Aptos Display" pitchFamily="34" charset="0"/>
                <a:ea typeface="Aptos Display" pitchFamily="34" charset="-122"/>
                <a:cs typeface="Aptos Display" pitchFamily="34" charset="-120"/>
              </a:rPr>
              <a:t>Från simulator till riktig robot</a:t>
            </a:r>
            <a:endParaRPr lang="en-US" sz="3600" dirty="0"/>
          </a:p>
        </p:txBody>
      </p:sp>
      <p:sp>
        <p:nvSpPr>
          <p:cNvPr id="4" name="Text 2"/>
          <p:cNvSpPr/>
          <p:nvPr/>
        </p:nvSpPr>
        <p:spPr>
          <a:xfrm>
            <a:off x="804672" y="1874520"/>
            <a:ext cx="9875520" cy="685800"/>
          </a:xfrm>
          <a:prstGeom prst="rect">
            <a:avLst/>
          </a:prstGeom>
          <a:noFill/>
          <a:ln/>
        </p:spPr>
        <p:txBody>
          <a:bodyPr wrap="square" lIns="0" tIns="0" rIns="0" bIns="0" rtlCol="0" anchor="ctr">
            <a:normAutofit/>
          </a:bodyPr>
          <a:lstStyle/>
          <a:p>
            <a:pPr indent="0" marL="0">
              <a:buNone/>
            </a:pPr>
            <a:r>
              <a:rPr lang="en-US" sz="1900" dirty="0">
                <a:solidFill>
                  <a:srgbClr val="172033"/>
                </a:solidFill>
              </a:rPr>
              <a:t>Vi börjar med en sköldpadda på skärmen. Vi slutar med en robotmopp som kan styras, läsa en sensor och stoppa säkert.</a:t>
            </a:r>
            <a:endParaRPr lang="en-US" sz="1900" dirty="0"/>
          </a:p>
        </p:txBody>
      </p:sp>
      <p:sp>
        <p:nvSpPr>
          <p:cNvPr id="5" name="Shape 3"/>
          <p:cNvSpPr/>
          <p:nvPr/>
        </p:nvSpPr>
        <p:spPr>
          <a:xfrm>
            <a:off x="1234440" y="3657600"/>
            <a:ext cx="1645920" cy="713232"/>
          </a:xfrm>
          <a:prstGeom prst="roundRect">
            <a:avLst>
              <a:gd name="adj" fmla="val 7692"/>
            </a:avLst>
          </a:prstGeom>
          <a:solidFill>
            <a:srgbClr val="DCFCE7"/>
          </a:solidFill>
          <a:ln w="19050">
            <a:solidFill>
              <a:srgbClr val="16A34A"/>
            </a:solidFill>
            <a:prstDash val="solid"/>
          </a:ln>
          <a:effectLst>
            <a:outerShdw sx="100000" sy="100000" kx="0" ky="0" algn="bl" rotWithShape="0" blurRad="19050" dist="12700" dir="2700000">
              <a:srgbClr val="64748B">
                <a:alpha val="12000"/>
              </a:srgbClr>
            </a:outerShdw>
          </a:effectLst>
        </p:spPr>
      </p:sp>
      <p:sp>
        <p:nvSpPr>
          <p:cNvPr id="6" name="Text 4"/>
          <p:cNvSpPr/>
          <p:nvPr/>
        </p:nvSpPr>
        <p:spPr>
          <a:xfrm>
            <a:off x="1298448" y="3895344"/>
            <a:ext cx="1517904" cy="237744"/>
          </a:xfrm>
          <a:prstGeom prst="rect">
            <a:avLst/>
          </a:prstGeom>
          <a:noFill/>
          <a:ln/>
        </p:spPr>
        <p:txBody>
          <a:bodyPr wrap="square" lIns="0" tIns="0" rIns="0" bIns="0" rtlCol="0" anchor="ctr"/>
          <a:lstStyle/>
          <a:p>
            <a:pPr algn="ctr" indent="0" marL="0">
              <a:buNone/>
            </a:pPr>
            <a:r>
              <a:rPr lang="en-US" sz="1500" b="1" dirty="0">
                <a:solidFill>
                  <a:srgbClr val="10233F"/>
                </a:solidFill>
              </a:rPr>
              <a:t>förstå</a:t>
            </a:r>
            <a:endParaRPr lang="en-US" sz="1500" dirty="0"/>
          </a:p>
        </p:txBody>
      </p:sp>
      <p:sp>
        <p:nvSpPr>
          <p:cNvPr id="7" name="Shape 5"/>
          <p:cNvSpPr/>
          <p:nvPr/>
        </p:nvSpPr>
        <p:spPr>
          <a:xfrm>
            <a:off x="3474720" y="3657600"/>
            <a:ext cx="2057400" cy="713232"/>
          </a:xfrm>
          <a:prstGeom prst="roundRect">
            <a:avLst>
              <a:gd name="adj" fmla="val 7692"/>
            </a:avLst>
          </a:prstGeom>
          <a:solidFill>
            <a:srgbClr val="DBEAFE"/>
          </a:solidFill>
          <a:ln w="19050">
            <a:solidFill>
              <a:srgbClr val="2563EB"/>
            </a:solidFill>
            <a:prstDash val="solid"/>
          </a:ln>
          <a:effectLst>
            <a:outerShdw sx="100000" sy="100000" kx="0" ky="0" algn="bl" rotWithShape="0" blurRad="19050" dist="12700" dir="2700000">
              <a:srgbClr val="64748B">
                <a:alpha val="12000"/>
              </a:srgbClr>
            </a:outerShdw>
          </a:effectLst>
        </p:spPr>
      </p:sp>
      <p:sp>
        <p:nvSpPr>
          <p:cNvPr id="8" name="Text 6"/>
          <p:cNvSpPr/>
          <p:nvPr/>
        </p:nvSpPr>
        <p:spPr>
          <a:xfrm>
            <a:off x="3538728" y="3895344"/>
            <a:ext cx="1929384" cy="237744"/>
          </a:xfrm>
          <a:prstGeom prst="rect">
            <a:avLst/>
          </a:prstGeom>
          <a:noFill/>
          <a:ln/>
        </p:spPr>
        <p:txBody>
          <a:bodyPr wrap="square" lIns="0" tIns="0" rIns="0" bIns="0" rtlCol="0" anchor="ctr"/>
          <a:lstStyle/>
          <a:p>
            <a:pPr algn="ctr" indent="0" marL="0">
              <a:buNone/>
            </a:pPr>
            <a:r>
              <a:rPr lang="en-US" sz="1500" b="1" dirty="0">
                <a:solidFill>
                  <a:srgbClr val="10233F"/>
                </a:solidFill>
              </a:rPr>
              <a:t>programmera</a:t>
            </a:r>
            <a:endParaRPr lang="en-US" sz="1500" dirty="0"/>
          </a:p>
        </p:txBody>
      </p:sp>
      <p:sp>
        <p:nvSpPr>
          <p:cNvPr id="9" name="Shape 7"/>
          <p:cNvSpPr/>
          <p:nvPr/>
        </p:nvSpPr>
        <p:spPr>
          <a:xfrm>
            <a:off x="6126480" y="3657600"/>
            <a:ext cx="1508760" cy="713232"/>
          </a:xfrm>
          <a:prstGeom prst="roundRect">
            <a:avLst>
              <a:gd name="adj" fmla="val 7692"/>
            </a:avLst>
          </a:prstGeom>
          <a:solidFill>
            <a:srgbClr val="FEF3C7"/>
          </a:solidFill>
          <a:ln w="19050">
            <a:solidFill>
              <a:srgbClr val="F97316"/>
            </a:solidFill>
            <a:prstDash val="solid"/>
          </a:ln>
          <a:effectLst>
            <a:outerShdw sx="100000" sy="100000" kx="0" ky="0" algn="bl" rotWithShape="0" blurRad="19050" dist="12700" dir="2700000">
              <a:srgbClr val="64748B">
                <a:alpha val="12000"/>
              </a:srgbClr>
            </a:outerShdw>
          </a:effectLst>
        </p:spPr>
      </p:sp>
      <p:sp>
        <p:nvSpPr>
          <p:cNvPr id="10" name="Text 8"/>
          <p:cNvSpPr/>
          <p:nvPr/>
        </p:nvSpPr>
        <p:spPr>
          <a:xfrm>
            <a:off x="6190488" y="3895344"/>
            <a:ext cx="1380744" cy="237744"/>
          </a:xfrm>
          <a:prstGeom prst="rect">
            <a:avLst/>
          </a:prstGeom>
          <a:noFill/>
          <a:ln/>
        </p:spPr>
        <p:txBody>
          <a:bodyPr wrap="square" lIns="0" tIns="0" rIns="0" bIns="0" rtlCol="0" anchor="ctr"/>
          <a:lstStyle/>
          <a:p>
            <a:pPr algn="ctr" indent="0" marL="0">
              <a:buNone/>
            </a:pPr>
            <a:r>
              <a:rPr lang="en-US" sz="1500" b="1" dirty="0">
                <a:solidFill>
                  <a:srgbClr val="10233F"/>
                </a:solidFill>
              </a:rPr>
              <a:t>testa</a:t>
            </a:r>
            <a:endParaRPr lang="en-US" sz="1500" dirty="0"/>
          </a:p>
        </p:txBody>
      </p:sp>
      <p:sp>
        <p:nvSpPr>
          <p:cNvPr id="11" name="Shape 9"/>
          <p:cNvSpPr/>
          <p:nvPr/>
        </p:nvSpPr>
        <p:spPr>
          <a:xfrm>
            <a:off x="8229600" y="3657600"/>
            <a:ext cx="1600200" cy="713232"/>
          </a:xfrm>
          <a:prstGeom prst="roundRect">
            <a:avLst>
              <a:gd name="adj" fmla="val 7692"/>
            </a:avLst>
          </a:prstGeom>
          <a:solidFill>
            <a:srgbClr val="EDE9FE"/>
          </a:solidFill>
          <a:ln w="19050">
            <a:solidFill>
              <a:srgbClr val="7C3AED"/>
            </a:solidFill>
            <a:prstDash val="solid"/>
          </a:ln>
          <a:effectLst>
            <a:outerShdw sx="100000" sy="100000" kx="0" ky="0" algn="bl" rotWithShape="0" blurRad="19050" dist="12700" dir="2700000">
              <a:srgbClr val="64748B">
                <a:alpha val="12000"/>
              </a:srgbClr>
            </a:outerShdw>
          </a:effectLst>
        </p:spPr>
      </p:sp>
      <p:sp>
        <p:nvSpPr>
          <p:cNvPr id="12" name="Text 10"/>
          <p:cNvSpPr/>
          <p:nvPr/>
        </p:nvSpPr>
        <p:spPr>
          <a:xfrm>
            <a:off x="8293608" y="3895344"/>
            <a:ext cx="1472184" cy="237744"/>
          </a:xfrm>
          <a:prstGeom prst="rect">
            <a:avLst/>
          </a:prstGeom>
          <a:noFill/>
          <a:ln/>
        </p:spPr>
        <p:txBody>
          <a:bodyPr wrap="square" lIns="0" tIns="0" rIns="0" bIns="0" rtlCol="0" anchor="ctr"/>
          <a:lstStyle/>
          <a:p>
            <a:pPr algn="ctr" indent="0" marL="0">
              <a:buNone/>
            </a:pPr>
            <a:r>
              <a:rPr lang="en-US" sz="1500" b="1" dirty="0">
                <a:solidFill>
                  <a:srgbClr val="10233F"/>
                </a:solidFill>
              </a:rPr>
              <a:t>bygga</a:t>
            </a:r>
            <a:endParaRPr lang="en-US" sz="1500" dirty="0"/>
          </a:p>
        </p:txBody>
      </p:sp>
      <p:sp>
        <p:nvSpPr>
          <p:cNvPr id="13" name="Shape 11"/>
          <p:cNvSpPr/>
          <p:nvPr/>
        </p:nvSpPr>
        <p:spPr>
          <a:xfrm>
            <a:off x="2907792" y="4014216"/>
            <a:ext cx="521208" cy="0"/>
          </a:xfrm>
          <a:prstGeom prst="line">
            <a:avLst/>
          </a:prstGeom>
          <a:noFill/>
          <a:ln w="17780">
            <a:solidFill>
              <a:srgbClr val="64748B"/>
            </a:solidFill>
            <a:prstDash val="solid"/>
            <a:headEnd type="none"/>
            <a:tailEnd type="triangle"/>
          </a:ln>
        </p:spPr>
      </p:sp>
      <p:sp>
        <p:nvSpPr>
          <p:cNvPr id="14" name="Shape 12"/>
          <p:cNvSpPr/>
          <p:nvPr/>
        </p:nvSpPr>
        <p:spPr>
          <a:xfrm>
            <a:off x="5559552" y="4014216"/>
            <a:ext cx="521208" cy="0"/>
          </a:xfrm>
          <a:prstGeom prst="line">
            <a:avLst/>
          </a:prstGeom>
          <a:noFill/>
          <a:ln w="17780">
            <a:solidFill>
              <a:srgbClr val="64748B"/>
            </a:solidFill>
            <a:prstDash val="solid"/>
            <a:headEnd type="none"/>
            <a:tailEnd type="triangle"/>
          </a:ln>
        </p:spPr>
      </p:sp>
      <p:sp>
        <p:nvSpPr>
          <p:cNvPr id="15" name="Shape 13"/>
          <p:cNvSpPr/>
          <p:nvPr/>
        </p:nvSpPr>
        <p:spPr>
          <a:xfrm>
            <a:off x="7662672" y="4014216"/>
            <a:ext cx="521208" cy="0"/>
          </a:xfrm>
          <a:prstGeom prst="line">
            <a:avLst/>
          </a:prstGeom>
          <a:noFill/>
          <a:ln w="17780">
            <a:solidFill>
              <a:srgbClr val="64748B"/>
            </a:solidFill>
            <a:prstDash val="solid"/>
            <a:headEnd type="none"/>
            <a:tailEnd type="triangle"/>
          </a:ln>
        </p:spPr>
      </p:sp>
      <p:sp>
        <p:nvSpPr>
          <p:cNvPr id="16" name="Text 14"/>
          <p:cNvSpPr/>
          <p:nvPr/>
        </p:nvSpPr>
        <p:spPr>
          <a:xfrm>
            <a:off x="1645920" y="5166360"/>
            <a:ext cx="8869680" cy="411480"/>
          </a:xfrm>
          <a:prstGeom prst="rect">
            <a:avLst/>
          </a:prstGeom>
          <a:noFill/>
          <a:ln/>
        </p:spPr>
        <p:txBody>
          <a:bodyPr wrap="square" lIns="0" tIns="0" rIns="0" bIns="0" rtlCol="0" anchor="ctr"/>
          <a:lstStyle/>
          <a:p>
            <a:pPr algn="ctr" indent="0" marL="0">
              <a:buNone/>
            </a:pPr>
            <a:r>
              <a:rPr lang="en-US" sz="2100" b="1" dirty="0">
                <a:solidFill>
                  <a:srgbClr val="16A34A"/>
                </a:solidFill>
              </a:rPr>
              <a:t>ROS2 är bron mellan mjukvara och fysisk konstruktion.</a:t>
            </a:r>
            <a:endParaRPr lang="en-US" sz="2100" dirty="0"/>
          </a:p>
        </p:txBody>
      </p:sp>
      <p:sp>
        <p:nvSpPr>
          <p:cNvPr id="17" name="Text 15"/>
          <p:cNvSpPr/>
          <p:nvPr/>
        </p:nvSpPr>
        <p:spPr>
          <a:xfrm>
            <a:off x="603504" y="6446520"/>
            <a:ext cx="4754880" cy="201168"/>
          </a:xfrm>
          <a:prstGeom prst="rect">
            <a:avLst/>
          </a:prstGeom>
          <a:noFill/>
          <a:ln/>
        </p:spPr>
        <p:txBody>
          <a:bodyPr wrap="square" lIns="0" tIns="0" rIns="0" bIns="0" rtlCol="0" anchor="ctr"/>
          <a:lstStyle/>
          <a:p>
            <a:pPr indent="0" marL="0">
              <a:buNone/>
            </a:pPr>
            <a:r>
              <a:rPr lang="en-US" sz="850" dirty="0">
                <a:solidFill>
                  <a:srgbClr val="64748B"/>
                </a:solidFill>
              </a:rPr>
              <a:t>ROS2-labbarna → robotmoppen</a:t>
            </a:r>
            <a:endParaRPr lang="en-US" sz="850" dirty="0"/>
          </a:p>
        </p:txBody>
      </p:sp>
      <p:sp>
        <p:nvSpPr>
          <p:cNvPr id="18" name="Text 16"/>
          <p:cNvSpPr/>
          <p:nvPr/>
        </p:nvSpPr>
        <p:spPr>
          <a:xfrm>
            <a:off x="11475720" y="6437376"/>
            <a:ext cx="320040" cy="201168"/>
          </a:xfrm>
          <a:prstGeom prst="rect">
            <a:avLst/>
          </a:prstGeom>
          <a:noFill/>
          <a:ln/>
        </p:spPr>
        <p:txBody>
          <a:bodyPr wrap="square" lIns="0" tIns="0" rIns="0" bIns="0" rtlCol="0" anchor="ctr"/>
          <a:lstStyle/>
          <a:p>
            <a:pPr algn="r" indent="0" marL="0">
              <a:buNone/>
            </a:pPr>
            <a:r>
              <a:rPr lang="en-US" sz="850" dirty="0">
                <a:solidFill>
                  <a:srgbClr val="64748B"/>
                </a:solidFill>
              </a:rPr>
              <a:t>16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Hitachigymnasiet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ROS2-labbarna – varför, vad och hur</dc:title>
  <dc:subject>ROS2-labbarna</dc:subject>
  <dc:creator>ChatGPT</dc:creator>
  <cp:lastModifiedBy>ChatGPT</cp:lastModifiedBy>
  <cp:revision>1</cp:revision>
  <dcterms:created xsi:type="dcterms:W3CDTF">2026-08-18T08:25:59Z</dcterms:created>
  <dcterms:modified xsi:type="dcterms:W3CDTF">2026-08-18T08:25:59Z</dcterms:modified>
</cp:coreProperties>
</file>